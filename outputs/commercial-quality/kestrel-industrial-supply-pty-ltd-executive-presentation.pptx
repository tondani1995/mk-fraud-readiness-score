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2015669c1a47f9" /><Relationship Type="http://schemas.openxmlformats.org/officeDocument/2006/relationships/extended-properties" Target="/docProps/app.xml" Id="Ra354ec9a9e054d9c" /><Relationship Type="http://schemas.openxmlformats.org/officeDocument/2006/relationships/officeDocument" Target="/ppt/presentation.xml" Id="R30abe958177a4713" /></Relationships>
</file>

<file path=ppt/presentation.xml><?xml version="1.0" encoding="utf-8"?>
<p:presentation xmlns:p="http://schemas.openxmlformats.org/presentationml/2006/main">
  <p:sldMasterIdLst>
    <p:sldMasterId xmlns:r="http://schemas.openxmlformats.org/officeDocument/2006/relationships" id="2147483648" r:id="R91b7cb21ade14ed6"/>
  </p:sldMasterIdLst>
  <p:notesMasterIdLst>
    <p:notesMasterId xmlns:r="http://schemas.openxmlformats.org/officeDocument/2006/relationships" r:id="R5692cb9ab4284b22"/>
  </p:notesMasterIdLst>
  <p:sldIdLst>
    <p:sldId xmlns:r="http://schemas.openxmlformats.org/officeDocument/2006/relationships" id="256" r:id="R4f4511f05a8943b8"/>
    <p:sldId xmlns:r="http://schemas.openxmlformats.org/officeDocument/2006/relationships" id="257" r:id="R361ea5a187f24518"/>
    <p:sldId xmlns:r="http://schemas.openxmlformats.org/officeDocument/2006/relationships" id="258" r:id="R580912c7239f410f"/>
    <p:sldId xmlns:r="http://schemas.openxmlformats.org/officeDocument/2006/relationships" id="259" r:id="R7b66369502234262"/>
    <p:sldId xmlns:r="http://schemas.openxmlformats.org/officeDocument/2006/relationships" id="260" r:id="Rd3307c46b96d4b6a"/>
    <p:sldId xmlns:r="http://schemas.openxmlformats.org/officeDocument/2006/relationships" id="261" r:id="Rda3d0085bd324e4b"/>
    <p:sldId xmlns:r="http://schemas.openxmlformats.org/officeDocument/2006/relationships" id="262" r:id="R5d2b58f612854ec4"/>
    <p:sldId xmlns:r="http://schemas.openxmlformats.org/officeDocument/2006/relationships" id="263" r:id="R5b8bcf3156ab4ff6"/>
    <p:sldId xmlns:r="http://schemas.openxmlformats.org/officeDocument/2006/relationships" id="264" r:id="R46fae3a4c01440b7"/>
    <p:sldId xmlns:r="http://schemas.openxmlformats.org/officeDocument/2006/relationships" id="265" r:id="R353da95aaad749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f001123c5de41d6" /><Relationship Type="http://schemas.openxmlformats.org/officeDocument/2006/relationships/slideMaster" Target="/ppt/slideMasters/slideMaster1.xml" Id="R91b7cb21ade14ed6" /><Relationship Type="http://schemas.openxmlformats.org/officeDocument/2006/relationships/notesMaster" Target="/ppt/notesMasters/notesMaster1.xml" Id="R5692cb9ab4284b22" /><Relationship Type="http://schemas.openxmlformats.org/officeDocument/2006/relationships/presProps" Target="/ppt/presProps.xml" Id="R6419adaf44f6421d" /><Relationship Type="http://schemas.openxmlformats.org/officeDocument/2006/relationships/tableStyles" Target="/ppt/tableStyles.xml" Id="R46cee0e8d12e4f26" /><Relationship Type="http://schemas.openxmlformats.org/officeDocument/2006/relationships/slide" Target="/ppt/slides/slide1.xml" Id="R4f4511f05a8943b8" /><Relationship Type="http://schemas.openxmlformats.org/officeDocument/2006/relationships/slide" Target="/ppt/slides/slide2.xml" Id="R361ea5a187f24518" /><Relationship Type="http://schemas.openxmlformats.org/officeDocument/2006/relationships/slide" Target="/ppt/slides/slide3.xml" Id="R580912c7239f410f" /><Relationship Type="http://schemas.openxmlformats.org/officeDocument/2006/relationships/slide" Target="/ppt/slides/slide4.xml" Id="R7b66369502234262" /><Relationship Type="http://schemas.openxmlformats.org/officeDocument/2006/relationships/slide" Target="/ppt/slides/slide5.xml" Id="Rd3307c46b96d4b6a" /><Relationship Type="http://schemas.openxmlformats.org/officeDocument/2006/relationships/slide" Target="/ppt/slides/slide6.xml" Id="Rda3d0085bd324e4b" /><Relationship Type="http://schemas.openxmlformats.org/officeDocument/2006/relationships/slide" Target="/ppt/slides/slide7.xml" Id="R5d2b58f612854ec4" /><Relationship Type="http://schemas.openxmlformats.org/officeDocument/2006/relationships/slide" Target="/ppt/slides/slide8.xml" Id="R5b8bcf3156ab4ff6" /><Relationship Type="http://schemas.openxmlformats.org/officeDocument/2006/relationships/slide" Target="/ppt/slides/slide9.xml" Id="R46fae3a4c01440b7" /><Relationship Type="http://schemas.openxmlformats.org/officeDocument/2006/relationships/slide" Target="/ppt/slides/slide10.xml" Id="R353da95aaad749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5c50e6da2849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9e476d771a14145" /><Relationship Type="http://schemas.openxmlformats.org/officeDocument/2006/relationships/notesMaster" Target="/ppt/notesMasters/notesMaster1.xml" Id="R81d8516ce21f49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cb416ee6ce498f" /><Relationship Type="http://schemas.openxmlformats.org/officeDocument/2006/relationships/notesMaster" Target="/ppt/notesMasters/notesMaster1.xml" Id="Rd905ea10a1d6443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a4c4a8bf1b46ce" /><Relationship Type="http://schemas.openxmlformats.org/officeDocument/2006/relationships/notesMaster" Target="/ppt/notesMasters/notesMaster1.xml" Id="Rb9fe9f42257e474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3a0b160e3a04691" /><Relationship Type="http://schemas.openxmlformats.org/officeDocument/2006/relationships/notesMaster" Target="/ppt/notesMasters/notesMaster1.xml" Id="Re1f499984e2d49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c4d9c6052b884c8b" /><Relationship Type="http://schemas.openxmlformats.org/officeDocument/2006/relationships/notesMaster" Target="/ppt/notesMasters/notesMaster1.xml" Id="Rbec51d366bf34f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7a891867194337" /><Relationship Type="http://schemas.openxmlformats.org/officeDocument/2006/relationships/notesMaster" Target="/ppt/notesMasters/notesMaster1.xml" Id="R06e255e7cfd741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26df95116244a34" /><Relationship Type="http://schemas.openxmlformats.org/officeDocument/2006/relationships/notesMaster" Target="/ppt/notesMasters/notesMaster1.xml" Id="R08e01f631fb64b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fb483e429e4d21" /><Relationship Type="http://schemas.openxmlformats.org/officeDocument/2006/relationships/notesMaster" Target="/ppt/notesMasters/notesMaster1.xml" Id="Rd6c7735dbc71494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61d1b78f0d84894" /><Relationship Type="http://schemas.openxmlformats.org/officeDocument/2006/relationships/notesMaster" Target="/ppt/notesMasters/notesMaster1.xml" Id="R51c10e0256db46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73ddfdad014b97" /><Relationship Type="http://schemas.openxmlformats.org/officeDocument/2006/relationships/notesMaster" Target="/ppt/notesMasters/notesMaster1.xml" Id="Rc140c8897f984f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engagement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016630401d498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b28b5b3da34378" /><Relationship Type="http://schemas.openxmlformats.org/officeDocument/2006/relationships/slideLayout" Target="/ppt/slideLayouts/slideLayout1.xml" Id="R679a3d73a6cc47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79a3d73a6cc47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a61ceddeb8437b" /><Relationship Type="http://schemas.openxmlformats.org/officeDocument/2006/relationships/notesSlide" Target="/ppt/notesSlides/notesSlide1.xml" Id="Rb88a5aac6bb840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436ae4754cc4882" /><Relationship Type="http://schemas.openxmlformats.org/officeDocument/2006/relationships/notesSlide" Target="/ppt/notesSlides/notesSlide2.xml" Id="Rebadee5f357e45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ba36dadfd354ffa" /><Relationship Type="http://schemas.openxmlformats.org/officeDocument/2006/relationships/notesSlide" Target="/ppt/notesSlides/notesSlide3.xml" Id="R25a22b03d31246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53db1a3967f47e3" /><Relationship Type="http://schemas.openxmlformats.org/officeDocument/2006/relationships/notesSlide" Target="/ppt/notesSlides/notesSlide4.xml" Id="R38516e6152a047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292f4690264010" /><Relationship Type="http://schemas.openxmlformats.org/officeDocument/2006/relationships/notesSlide" Target="/ppt/notesSlides/notesSlide5.xml" Id="Re273c7d90cf84ed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3a5e05c8f84c7d" /><Relationship Type="http://schemas.openxmlformats.org/officeDocument/2006/relationships/notesSlide" Target="/ppt/notesSlides/notesSlide6.xml" Id="Rcd8e7bb1517e49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100b7ff50c41f6" /><Relationship Type="http://schemas.openxmlformats.org/officeDocument/2006/relationships/notesSlide" Target="/ppt/notesSlides/notesSlide7.xml" Id="R6c0e428f26d14b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4b2551fb45443a" /><Relationship Type="http://schemas.openxmlformats.org/officeDocument/2006/relationships/notesSlide" Target="/ppt/notesSlides/notesSlide8.xml" Id="Rbde7da3c354e48b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7fb2d2f277e4153" /><Relationship Type="http://schemas.openxmlformats.org/officeDocument/2006/relationships/notesSlide" Target="/ppt/notesSlides/notesSlide9.xml" Id="Rdbb92177885044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6b63ae494404406" /><Relationship Type="http://schemas.openxmlformats.org/officeDocument/2006/relationships/notesSlide" Target="/ppt/notesSlides/notesSlide10.xml" Id="R43d3f1088e9e4761" /></Relationships>
</file>

<file path=ppt/slides/slide1.xml><?xml version="1.0" encoding="utf-8"?>
<p:sld xmlns:p="http://schemas.openxmlformats.org/presentationml/2006/main">
  <p:cSld>
    <p:bg>
      <p:bgPr>
        <a:solidFill xmlns:a="http://schemas.openxmlformats.org/drawingml/2006/main">
          <a:srgbClr val="142F4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A19825-4528-44B1-A55F-642FBD928277}"/>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2" name="">
            <a:extLst xmlns:a="http://schemas.openxmlformats.org/drawingml/2006/main">
              <a:ext uri="{FF2B5EF4-FFF2-40B4-BE49-F238E27FC236}">
                <a16:creationId xmlns:a16="http://schemas.microsoft.com/office/drawing/2014/main" id="{D3636823-B86E-4D3A-8F6A-4EE3855207FF}"/>
              </a:ext>
            </a:extLst>
          </p:cNvPr>
          <p:cNvSpPr>
            <a:spLocks xmlns:a="http://schemas.openxmlformats.org/drawingml/2006/main" noGrp="1"/>
          </p:cNvSpPr>
          <p:nvPr/>
        </p:nvSpPr>
        <p:spPr>
          <a:xfrm xmlns:a="http://schemas.openxmlformats.org/drawingml/2006/main">
            <a:off x="838200" y="8763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D9E1E7"/>
                </a:solidFill>
              </a:defRPr>
            </a:pPr>
            <a:r>
              <a:rPr sz="1200" b="1">
                <a:solidFill>
                  <a:srgbClr val="D9E1E7"/>
                </a:solidFill>
              </a:rPr>
              <a:t>MK FRAUD READINESS</a:t>
            </a:r>
          </a:p>
        </p:txBody>
      </p:sp>
      <p:sp>
        <p:nvSpPr>
          <p:cNvPr id="3" name="">
            <a:extLst xmlns:a="http://schemas.openxmlformats.org/drawingml/2006/main">
              <a:ext uri="{FF2B5EF4-FFF2-40B4-BE49-F238E27FC236}">
                <a16:creationId xmlns:a16="http://schemas.microsoft.com/office/drawing/2014/main" id="{E4974725-CDCC-4924-AD18-C4F03117E83B}"/>
              </a:ext>
            </a:extLst>
          </p:cNvPr>
          <p:cNvSpPr>
            <a:spLocks xmlns:a="http://schemas.openxmlformats.org/drawingml/2006/main" noGrp="1"/>
          </p:cNvSpPr>
          <p:nvPr/>
        </p:nvSpPr>
        <p:spPr>
          <a:xfrm xmlns:a="http://schemas.openxmlformats.org/drawingml/2006/main">
            <a:off x="838200" y="1790700"/>
            <a:ext cx="8572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750" b="1">
                <a:solidFill>
                  <a:srgbClr val="FFFFFF"/>
                </a:solidFill>
              </a:defRPr>
            </a:pPr>
            <a:r>
              <a:rPr sz="3750" b="1">
                <a:solidFill>
                  <a:srgbClr val="FFFFFF"/>
                </a:solidFill>
              </a:rPr>
              <a:t>The target-state blueprint turns a diagnostic into a management decision record.</a:t>
            </a:r>
          </a:p>
        </p:txBody>
      </p:sp>
      <p:sp>
        <p:nvSpPr>
          <p:cNvPr id="4" name="">
            <a:extLst xmlns:a="http://schemas.openxmlformats.org/drawingml/2006/main">
              <a:ext uri="{FF2B5EF4-FFF2-40B4-BE49-F238E27FC236}">
                <a16:creationId xmlns:a16="http://schemas.microsoft.com/office/drawing/2014/main" id="{CA3A8299-9F61-436B-8E09-234D68F64072}"/>
              </a:ext>
            </a:extLst>
          </p:cNvPr>
          <p:cNvSpPr>
            <a:spLocks xmlns:a="http://schemas.openxmlformats.org/drawingml/2006/main" noGrp="1"/>
          </p:cNvSpPr>
          <p:nvPr/>
        </p:nvSpPr>
        <p:spPr>
          <a:xfrm xmlns:a="http://schemas.openxmlformats.org/drawingml/2006/main">
            <a:off x="857250" y="4095750"/>
            <a:ext cx="609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D9E1E7"/>
                </a:solidFill>
              </a:defRPr>
            </a:pPr>
            <a:r>
              <a:rPr sz="1650">
                <a:solidFill>
                  <a:srgbClr val="D9E1E7"/>
                </a:solidFill>
              </a:rPr>
              <a:t>Kestrel Industrial Supply (Pty) Ltd</a:t>
            </a:r>
          </a:p>
          <a:p xmlns:a="http://schemas.openxmlformats.org/drawingml/2006/main">
            <a:pPr>
              <a:defRPr sz="1650">
                <a:solidFill>
                  <a:srgbClr val="D9E1E7"/>
                </a:solidFill>
              </a:defRPr>
            </a:pPr>
            <a:r>
              <a:rPr sz="1650">
                <a:solidFill>
                  <a:srgbClr val="D9E1E7"/>
                </a:solidFill>
              </a:rPr>
              <a:t>Comprehensive review · strategic design engagement</a:t>
            </a:r>
          </a:p>
        </p:txBody>
      </p:sp>
      <p:sp>
        <p:nvSpPr>
          <p:cNvPr id="5" name="">
            <a:extLst xmlns:a="http://schemas.openxmlformats.org/drawingml/2006/main">
              <a:ext uri="{FF2B5EF4-FFF2-40B4-BE49-F238E27FC236}">
                <a16:creationId xmlns:a16="http://schemas.microsoft.com/office/drawing/2014/main" id="{AB4C76E3-CD73-4AA5-9B52-CCB2EBC119E6}"/>
              </a:ext>
            </a:extLst>
          </p:cNvPr>
          <p:cNvSpPr>
            <a:spLocks xmlns:a="http://schemas.openxmlformats.org/drawingml/2006/main" noGrp="1"/>
          </p:cNvSpPr>
          <p:nvPr/>
        </p:nvSpPr>
        <p:spPr>
          <a:xfrm xmlns:a="http://schemas.openxmlformats.org/drawingml/2006/main">
            <a:off x="857250" y="561975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D9E1E7"/>
                </a:solidFill>
              </a:defRPr>
            </a:pPr>
            <a:r>
              <a:rPr sz="1200">
                <a:solidFill>
                  <a:srgbClr val="D9E1E7"/>
                </a:solidFill>
              </a:rPr>
              <a:t>Named reviewer: Named review lead</a:t>
            </a:r>
          </a:p>
        </p:txBody>
      </p:sp>
      <p:sp>
        <p:nvSpPr>
          <p:cNvPr id="6" name="">
            <a:extLst xmlns:a="http://schemas.openxmlformats.org/drawingml/2006/main">
              <a:ext uri="{FF2B5EF4-FFF2-40B4-BE49-F238E27FC236}">
                <a16:creationId xmlns:a16="http://schemas.microsoft.com/office/drawing/2014/main" id="{985D8EAC-2357-4687-8A74-9287DBB0037B}"/>
              </a:ext>
            </a:extLst>
          </p:cNvPr>
          <p:cNvSpPr>
            <a:spLocks xmlns:a="http://schemas.openxmlformats.org/drawingml/2006/main" noGrp="1"/>
          </p:cNvSpPr>
          <p:nvPr/>
        </p:nvSpPr>
        <p:spPr>
          <a:xfrm xmlns:a="http://schemas.openxmlformats.org/drawingml/2006/main">
            <a:off x="8858250" y="57150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C9A227"/>
                </a:solidFill>
              </a:defRPr>
            </a:pPr>
            <a:r>
              <a:rPr sz="975" b="1">
                <a:solidFill>
                  <a:srgbClr val="C9A227"/>
                </a:solidFill>
              </a:rPr>
              <a:t>CONFIDENTIAL · DECISION SUPPORT</a:t>
            </a:r>
          </a:p>
        </p:txBody>
      </p:sp>
    </p:spTree>
    <p:extLst>
      <p:ext uri="{BB962C8B-B14F-4D97-AF65-F5344CB8AC3E}">
        <p14:creationId xmlns:p14="http://schemas.microsoft.com/office/powerpoint/2010/main" val="959761915"/>
      </p:ext>
    </p:extLst>
  </p:cSld>
</p:sld>
</file>

<file path=ppt/slides/slide2.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825834A-EF1B-409C-B8FE-1A89B97CA07A}"/>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02</a:t>
            </a:r>
          </a:p>
        </p:txBody>
      </p:sp>
      <p:sp>
        <p:nvSpPr>
          <p:cNvPr id="2" name="">
            <a:extLst xmlns:a="http://schemas.openxmlformats.org/drawingml/2006/main">
              <a:ext uri="{FF2B5EF4-FFF2-40B4-BE49-F238E27FC236}">
                <a16:creationId xmlns:a16="http://schemas.microsoft.com/office/drawing/2014/main" id="{0C74546D-CC20-4026-885D-33C9BE23D737}"/>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The recorded position is developing; reliance is narrower than the score.</a:t>
            </a:r>
          </a:p>
        </p:txBody>
      </p:sp>
      <p:sp>
        <p:nvSpPr>
          <p:cNvPr id="3" name="">
            <a:extLst xmlns:a="http://schemas.openxmlformats.org/drawingml/2006/main">
              <a:ext uri="{FF2B5EF4-FFF2-40B4-BE49-F238E27FC236}">
                <a16:creationId xmlns:a16="http://schemas.microsoft.com/office/drawing/2014/main" id="{D0155E4E-4881-4440-9124-D876348B253A}"/>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Separate the deterministic result from the information boundary.</a:t>
            </a:r>
          </a:p>
        </p:txBody>
      </p:sp>
      <p:sp>
        <p:nvSpPr>
          <p:cNvPr id="4" name="">
            <a:extLst xmlns:a="http://schemas.openxmlformats.org/drawingml/2006/main">
              <a:ext uri="{FF2B5EF4-FFF2-40B4-BE49-F238E27FC236}">
                <a16:creationId xmlns:a16="http://schemas.microsoft.com/office/drawing/2014/main" id="{C541939B-7C97-4437-B7B6-E48196663C4A}"/>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5EA55524-05DC-41CB-A902-BB53FF1607AF}"/>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A9EA9CA3-8935-4633-9FF0-B8C75461DAA3}"/>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02 / 10</a:t>
            </a:r>
          </a:p>
        </p:txBody>
      </p:sp>
      <p:sp>
        <p:nvSpPr>
          <p:cNvPr id="7" name="">
            <a:extLst xmlns:a="http://schemas.openxmlformats.org/drawingml/2006/main">
              <a:ext uri="{FF2B5EF4-FFF2-40B4-BE49-F238E27FC236}">
                <a16:creationId xmlns:a16="http://schemas.microsoft.com/office/drawing/2014/main" id="{893CF7D6-68C9-4DCF-BECC-F5ACB967CD3D}"/>
              </a:ext>
            </a:extLst>
          </p:cNvPr>
          <p:cNvSpPr>
            <a:spLocks xmlns:a="http://schemas.openxmlformats.org/drawingml/2006/main" noGrp="1"/>
          </p:cNvSpPr>
          <p:nvPr/>
        </p:nvSpPr>
        <p:spPr>
          <a:xfrm xmlns:a="http://schemas.openxmlformats.org/drawingml/2006/main">
            <a:off x="68580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D9A47215-634D-4FB1-BD89-68B6539221BB}"/>
              </a:ext>
            </a:extLst>
          </p:cNvPr>
          <p:cNvSpPr>
            <a:spLocks xmlns:a="http://schemas.openxmlformats.org/drawingml/2006/main" noGrp="1"/>
          </p:cNvSpPr>
          <p:nvPr/>
        </p:nvSpPr>
        <p:spPr>
          <a:xfrm xmlns:a="http://schemas.openxmlformats.org/drawingml/2006/main">
            <a:off x="685800" y="1981200"/>
            <a:ext cx="2286000" cy="57150"/>
          </a:xfrm>
          <a:prstGeom xmlns:a="http://schemas.openxmlformats.org/drawingml/2006/main" prst="rect">
            <a:avLst/>
          </a:prstGeom>
          <a:solidFill xmlns:a="http://schemas.openxmlformats.org/drawingml/2006/main">
            <a:srgbClr val="142F4C"/>
          </a:solidFill>
          <a:ln xmlns:a="http://schemas.openxmlformats.org/drawingml/2006/main" w="0">
            <a:solidFill>
              <a:srgbClr val="142F4C"/>
            </a:solidFill>
            <a:prstDash val="solid"/>
          </a:ln>
        </p:spPr>
      </p:sp>
      <p:sp>
        <p:nvSpPr>
          <p:cNvPr id="9" name="">
            <a:extLst xmlns:a="http://schemas.openxmlformats.org/drawingml/2006/main">
              <a:ext uri="{FF2B5EF4-FFF2-40B4-BE49-F238E27FC236}">
                <a16:creationId xmlns:a16="http://schemas.microsoft.com/office/drawing/2014/main" id="{DAEBF81C-CF6D-42A2-B47B-3E724F24022B}"/>
              </a:ext>
            </a:extLst>
          </p:cNvPr>
          <p:cNvSpPr>
            <a:spLocks xmlns:a="http://schemas.openxmlformats.org/drawingml/2006/main" noGrp="1"/>
          </p:cNvSpPr>
          <p:nvPr/>
        </p:nvSpPr>
        <p:spPr>
          <a:xfrm xmlns:a="http://schemas.openxmlformats.org/drawingml/2006/main">
            <a:off x="85725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Reported readiness</a:t>
            </a:r>
          </a:p>
        </p:txBody>
      </p:sp>
      <p:sp>
        <p:nvSpPr>
          <p:cNvPr id="10" name="">
            <a:extLst xmlns:a="http://schemas.openxmlformats.org/drawingml/2006/main">
              <a:ext uri="{FF2B5EF4-FFF2-40B4-BE49-F238E27FC236}">
                <a16:creationId xmlns:a16="http://schemas.microsoft.com/office/drawing/2014/main" id="{E505F4D6-DE07-4B70-A2F9-F71AAF0C8D30}"/>
              </a:ext>
            </a:extLst>
          </p:cNvPr>
          <p:cNvSpPr>
            <a:spLocks xmlns:a="http://schemas.openxmlformats.org/drawingml/2006/main" noGrp="1"/>
          </p:cNvSpPr>
          <p:nvPr/>
        </p:nvSpPr>
        <p:spPr>
          <a:xfrm xmlns:a="http://schemas.openxmlformats.org/drawingml/2006/main">
            <a:off x="85725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55 / 100</a:t>
            </a:r>
          </a:p>
        </p:txBody>
      </p:sp>
      <p:sp>
        <p:nvSpPr>
          <p:cNvPr id="11" name="">
            <a:extLst xmlns:a="http://schemas.openxmlformats.org/drawingml/2006/main">
              <a:ext uri="{FF2B5EF4-FFF2-40B4-BE49-F238E27FC236}">
                <a16:creationId xmlns:a16="http://schemas.microsoft.com/office/drawing/2014/main" id="{AEF1A09B-8E76-4632-93B0-53EF789D89A7}"/>
              </a:ext>
            </a:extLst>
          </p:cNvPr>
          <p:cNvSpPr>
            <a:spLocks xmlns:a="http://schemas.openxmlformats.org/drawingml/2006/main" noGrp="1"/>
          </p:cNvSpPr>
          <p:nvPr/>
        </p:nvSpPr>
        <p:spPr>
          <a:xfrm xmlns:a="http://schemas.openxmlformats.org/drawingml/2006/main">
            <a:off x="85725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Developing</a:t>
            </a:r>
          </a:p>
        </p:txBody>
      </p:sp>
      <p:sp>
        <p:nvSpPr>
          <p:cNvPr id="12" name="">
            <a:extLst xmlns:a="http://schemas.openxmlformats.org/drawingml/2006/main">
              <a:ext uri="{FF2B5EF4-FFF2-40B4-BE49-F238E27FC236}">
                <a16:creationId xmlns:a16="http://schemas.microsoft.com/office/drawing/2014/main" id="{2940C5EF-8EDA-44C7-973F-9F0FCE445A2E}"/>
              </a:ext>
            </a:extLst>
          </p:cNvPr>
          <p:cNvSpPr>
            <a:spLocks xmlns:a="http://schemas.openxmlformats.org/drawingml/2006/main" noGrp="1"/>
          </p:cNvSpPr>
          <p:nvPr/>
        </p:nvSpPr>
        <p:spPr>
          <a:xfrm xmlns:a="http://schemas.openxmlformats.org/drawingml/2006/main">
            <a:off x="318135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13" name="">
            <a:extLst xmlns:a="http://schemas.openxmlformats.org/drawingml/2006/main">
              <a:ext uri="{FF2B5EF4-FFF2-40B4-BE49-F238E27FC236}">
                <a16:creationId xmlns:a16="http://schemas.microsoft.com/office/drawing/2014/main" id="{949B6C5B-DF06-4C24-ADCB-8B6237EDB3E1}"/>
              </a:ext>
            </a:extLst>
          </p:cNvPr>
          <p:cNvSpPr>
            <a:spLocks xmlns:a="http://schemas.openxmlformats.org/drawingml/2006/main" noGrp="1"/>
          </p:cNvSpPr>
          <p:nvPr/>
        </p:nvSpPr>
        <p:spPr>
          <a:xfrm xmlns:a="http://schemas.openxmlformats.org/drawingml/2006/main">
            <a:off x="3181350" y="1981200"/>
            <a:ext cx="2286000" cy="5715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4" name="">
            <a:extLst xmlns:a="http://schemas.openxmlformats.org/drawingml/2006/main">
              <a:ext uri="{FF2B5EF4-FFF2-40B4-BE49-F238E27FC236}">
                <a16:creationId xmlns:a16="http://schemas.microsoft.com/office/drawing/2014/main" id="{5166B83F-B1FE-486D-B236-5DA927F96563}"/>
              </a:ext>
            </a:extLst>
          </p:cNvPr>
          <p:cNvSpPr>
            <a:spLocks xmlns:a="http://schemas.openxmlformats.org/drawingml/2006/main" noGrp="1"/>
          </p:cNvSpPr>
          <p:nvPr/>
        </p:nvSpPr>
        <p:spPr>
          <a:xfrm xmlns:a="http://schemas.openxmlformats.org/drawingml/2006/main">
            <a:off x="335280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Exposure position</a:t>
            </a:r>
          </a:p>
        </p:txBody>
      </p:sp>
      <p:sp>
        <p:nvSpPr>
          <p:cNvPr id="15" name="">
            <a:extLst xmlns:a="http://schemas.openxmlformats.org/drawingml/2006/main">
              <a:ext uri="{FF2B5EF4-FFF2-40B4-BE49-F238E27FC236}">
                <a16:creationId xmlns:a16="http://schemas.microsoft.com/office/drawing/2014/main" id="{4A6AD16E-812E-4F57-BA78-1D28F257FA48}"/>
              </a:ext>
            </a:extLst>
          </p:cNvPr>
          <p:cNvSpPr>
            <a:spLocks xmlns:a="http://schemas.openxmlformats.org/drawingml/2006/main" noGrp="1"/>
          </p:cNvSpPr>
          <p:nvPr/>
        </p:nvSpPr>
        <p:spPr>
          <a:xfrm xmlns:a="http://schemas.openxmlformats.org/drawingml/2006/main">
            <a:off x="335280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0 / 100</a:t>
            </a:r>
          </a:p>
        </p:txBody>
      </p:sp>
      <p:sp>
        <p:nvSpPr>
          <p:cNvPr id="16" name="">
            <a:extLst xmlns:a="http://schemas.openxmlformats.org/drawingml/2006/main">
              <a:ext uri="{FF2B5EF4-FFF2-40B4-BE49-F238E27FC236}">
                <a16:creationId xmlns:a16="http://schemas.microsoft.com/office/drawing/2014/main" id="{E1316EF6-C248-4AE5-880C-B6411464BA8B}"/>
              </a:ext>
            </a:extLst>
          </p:cNvPr>
          <p:cNvSpPr>
            <a:spLocks xmlns:a="http://schemas.openxmlformats.org/drawingml/2006/main" noGrp="1"/>
          </p:cNvSpPr>
          <p:nvPr/>
        </p:nvSpPr>
        <p:spPr>
          <a:xfrm xmlns:a="http://schemas.openxmlformats.org/drawingml/2006/main">
            <a:off x="335280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Not assessed</a:t>
            </a:r>
          </a:p>
        </p:txBody>
      </p:sp>
      <p:sp>
        <p:nvSpPr>
          <p:cNvPr id="17" name="">
            <a:extLst xmlns:a="http://schemas.openxmlformats.org/drawingml/2006/main">
              <a:ext uri="{FF2B5EF4-FFF2-40B4-BE49-F238E27FC236}">
                <a16:creationId xmlns:a16="http://schemas.microsoft.com/office/drawing/2014/main" id="{BDD49F69-FAE6-4E33-8449-AE56F96FF0DA}"/>
              </a:ext>
            </a:extLst>
          </p:cNvPr>
          <p:cNvSpPr>
            <a:spLocks xmlns:a="http://schemas.openxmlformats.org/drawingml/2006/main" noGrp="1"/>
          </p:cNvSpPr>
          <p:nvPr/>
        </p:nvSpPr>
        <p:spPr>
          <a:xfrm xmlns:a="http://schemas.openxmlformats.org/drawingml/2006/main">
            <a:off x="567690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18" name="">
            <a:extLst xmlns:a="http://schemas.openxmlformats.org/drawingml/2006/main">
              <a:ext uri="{FF2B5EF4-FFF2-40B4-BE49-F238E27FC236}">
                <a16:creationId xmlns:a16="http://schemas.microsoft.com/office/drawing/2014/main" id="{60A06F0F-AD92-411C-9915-C155A180F7AB}"/>
              </a:ext>
            </a:extLst>
          </p:cNvPr>
          <p:cNvSpPr>
            <a:spLocks xmlns:a="http://schemas.openxmlformats.org/drawingml/2006/main" noGrp="1"/>
          </p:cNvSpPr>
          <p:nvPr/>
        </p:nvSpPr>
        <p:spPr>
          <a:xfrm xmlns:a="http://schemas.openxmlformats.org/drawingml/2006/main">
            <a:off x="5676900" y="1981200"/>
            <a:ext cx="2286000" cy="57150"/>
          </a:xfrm>
          <a:prstGeom xmlns:a="http://schemas.openxmlformats.org/drawingml/2006/main" prst="rect">
            <a:avLst/>
          </a:prstGeom>
          <a:solidFill xmlns:a="http://schemas.openxmlformats.org/drawingml/2006/main">
            <a:srgbClr val="1F6B4A"/>
          </a:solidFill>
          <a:ln xmlns:a="http://schemas.openxmlformats.org/drawingml/2006/main" w="0">
            <a:solidFill>
              <a:srgbClr val="1F6B4A"/>
            </a:solidFill>
            <a:prstDash val="solid"/>
          </a:ln>
        </p:spPr>
      </p:sp>
      <p:sp>
        <p:nvSpPr>
          <p:cNvPr id="19" name="">
            <a:extLst xmlns:a="http://schemas.openxmlformats.org/drawingml/2006/main">
              <a:ext uri="{FF2B5EF4-FFF2-40B4-BE49-F238E27FC236}">
                <a16:creationId xmlns:a16="http://schemas.microsoft.com/office/drawing/2014/main" id="{A9C9389D-0548-4ACD-8F5D-8F909E000E41}"/>
              </a:ext>
            </a:extLst>
          </p:cNvPr>
          <p:cNvSpPr>
            <a:spLocks xmlns:a="http://schemas.openxmlformats.org/drawingml/2006/main" noGrp="1"/>
          </p:cNvSpPr>
          <p:nvPr/>
        </p:nvSpPr>
        <p:spPr>
          <a:xfrm xmlns:a="http://schemas.openxmlformats.org/drawingml/2006/main">
            <a:off x="584835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Review notes in scope</a:t>
            </a:r>
          </a:p>
        </p:txBody>
      </p:sp>
      <p:sp>
        <p:nvSpPr>
          <p:cNvPr id="20" name="">
            <a:extLst xmlns:a="http://schemas.openxmlformats.org/drawingml/2006/main">
              <a:ext uri="{FF2B5EF4-FFF2-40B4-BE49-F238E27FC236}">
                <a16:creationId xmlns:a16="http://schemas.microsoft.com/office/drawing/2014/main" id="{138FCCE7-D987-4A9A-B260-E45EBFC58017}"/>
              </a:ext>
            </a:extLst>
          </p:cNvPr>
          <p:cNvSpPr>
            <a:spLocks xmlns:a="http://schemas.openxmlformats.org/drawingml/2006/main" noGrp="1"/>
          </p:cNvSpPr>
          <p:nvPr/>
        </p:nvSpPr>
        <p:spPr>
          <a:xfrm xmlns:a="http://schemas.openxmlformats.org/drawingml/2006/main">
            <a:off x="584835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1</a:t>
            </a:r>
          </a:p>
        </p:txBody>
      </p:sp>
      <p:sp>
        <p:nvSpPr>
          <p:cNvPr id="21" name="">
            <a:extLst xmlns:a="http://schemas.openxmlformats.org/drawingml/2006/main">
              <a:ext uri="{FF2B5EF4-FFF2-40B4-BE49-F238E27FC236}">
                <a16:creationId xmlns:a16="http://schemas.microsoft.com/office/drawing/2014/main" id="{9523CD68-B0BC-45F8-B787-71B28F3438BA}"/>
              </a:ext>
            </a:extLst>
          </p:cNvPr>
          <p:cNvSpPr>
            <a:spLocks xmlns:a="http://schemas.openxmlformats.org/drawingml/2006/main" noGrp="1"/>
          </p:cNvSpPr>
          <p:nvPr/>
        </p:nvSpPr>
        <p:spPr>
          <a:xfrm xmlns:a="http://schemas.openxmlformats.org/drawingml/2006/main">
            <a:off x="584835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of 64 items</a:t>
            </a:r>
          </a:p>
        </p:txBody>
      </p:sp>
      <p:sp>
        <p:nvSpPr>
          <p:cNvPr id="22" name="">
            <a:extLst xmlns:a="http://schemas.openxmlformats.org/drawingml/2006/main">
              <a:ext uri="{FF2B5EF4-FFF2-40B4-BE49-F238E27FC236}">
                <a16:creationId xmlns:a16="http://schemas.microsoft.com/office/drawing/2014/main" id="{98EDF595-0D64-47CA-A583-C8EF67313513}"/>
              </a:ext>
            </a:extLst>
          </p:cNvPr>
          <p:cNvSpPr>
            <a:spLocks xmlns:a="http://schemas.openxmlformats.org/drawingml/2006/main" noGrp="1"/>
          </p:cNvSpPr>
          <p:nvPr/>
        </p:nvSpPr>
        <p:spPr>
          <a:xfrm xmlns:a="http://schemas.openxmlformats.org/drawingml/2006/main">
            <a:off x="817245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23" name="">
            <a:extLst xmlns:a="http://schemas.openxmlformats.org/drawingml/2006/main">
              <a:ext uri="{FF2B5EF4-FFF2-40B4-BE49-F238E27FC236}">
                <a16:creationId xmlns:a16="http://schemas.microsoft.com/office/drawing/2014/main" id="{F3E9AEDE-515A-4C98-AE8E-8393188DCDA7}"/>
              </a:ext>
            </a:extLst>
          </p:cNvPr>
          <p:cNvSpPr>
            <a:spLocks xmlns:a="http://schemas.openxmlformats.org/drawingml/2006/main" noGrp="1"/>
          </p:cNvSpPr>
          <p:nvPr/>
        </p:nvSpPr>
        <p:spPr>
          <a:xfrm xmlns:a="http://schemas.openxmlformats.org/drawingml/2006/main">
            <a:off x="8172450" y="1981200"/>
            <a:ext cx="2286000" cy="5715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24" name="">
            <a:extLst xmlns:a="http://schemas.openxmlformats.org/drawingml/2006/main">
              <a:ext uri="{FF2B5EF4-FFF2-40B4-BE49-F238E27FC236}">
                <a16:creationId xmlns:a16="http://schemas.microsoft.com/office/drawing/2014/main" id="{64DFA2F0-B629-4B4C-AEC6-E2CFF1DA92CD}"/>
              </a:ext>
            </a:extLst>
          </p:cNvPr>
          <p:cNvSpPr>
            <a:spLocks xmlns:a="http://schemas.openxmlformats.org/drawingml/2006/main" noGrp="1"/>
          </p:cNvSpPr>
          <p:nvPr/>
        </p:nvSpPr>
        <p:spPr>
          <a:xfrm xmlns:a="http://schemas.openxmlformats.org/drawingml/2006/main">
            <a:off x="834390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Open information items</a:t>
            </a:r>
          </a:p>
        </p:txBody>
      </p:sp>
      <p:sp>
        <p:nvSpPr>
          <p:cNvPr id="25" name="">
            <a:extLst xmlns:a="http://schemas.openxmlformats.org/drawingml/2006/main">
              <a:ext uri="{FF2B5EF4-FFF2-40B4-BE49-F238E27FC236}">
                <a16:creationId xmlns:a16="http://schemas.microsoft.com/office/drawing/2014/main" id="{275BAE27-9D45-47D2-807D-94D22551A384}"/>
              </a:ext>
            </a:extLst>
          </p:cNvPr>
          <p:cNvSpPr>
            <a:spLocks xmlns:a="http://schemas.openxmlformats.org/drawingml/2006/main" noGrp="1"/>
          </p:cNvSpPr>
          <p:nvPr/>
        </p:nvSpPr>
        <p:spPr>
          <a:xfrm xmlns:a="http://schemas.openxmlformats.org/drawingml/2006/main">
            <a:off x="834390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63</a:t>
            </a:r>
          </a:p>
        </p:txBody>
      </p:sp>
      <p:sp>
        <p:nvSpPr>
          <p:cNvPr id="26" name="">
            <a:extLst xmlns:a="http://schemas.openxmlformats.org/drawingml/2006/main">
              <a:ext uri="{FF2B5EF4-FFF2-40B4-BE49-F238E27FC236}">
                <a16:creationId xmlns:a16="http://schemas.microsoft.com/office/drawing/2014/main" id="{FBD6F357-E5C3-4F06-88BA-689A4BD14AAC}"/>
              </a:ext>
            </a:extLst>
          </p:cNvPr>
          <p:cNvSpPr>
            <a:spLocks xmlns:a="http://schemas.openxmlformats.org/drawingml/2006/main" noGrp="1"/>
          </p:cNvSpPr>
          <p:nvPr/>
        </p:nvSpPr>
        <p:spPr>
          <a:xfrm xmlns:a="http://schemas.openxmlformats.org/drawingml/2006/main">
            <a:off x="834390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items requiring closure</a:t>
            </a:r>
          </a:p>
        </p:txBody>
      </p:sp>
      <p:sp>
        <p:nvSpPr>
          <p:cNvPr id="27" name="">
            <a:extLst xmlns:a="http://schemas.openxmlformats.org/drawingml/2006/main">
              <a:ext uri="{FF2B5EF4-FFF2-40B4-BE49-F238E27FC236}">
                <a16:creationId xmlns:a16="http://schemas.microsoft.com/office/drawing/2014/main" id="{84D4F7A7-D39C-4347-B8EC-A332061F6807}"/>
              </a:ext>
            </a:extLst>
          </p:cNvPr>
          <p:cNvSpPr>
            <a:spLocks xmlns:a="http://schemas.openxmlformats.org/drawingml/2006/main" noGrp="1"/>
          </p:cNvSpPr>
          <p:nvPr/>
        </p:nvSpPr>
        <p:spPr>
          <a:xfrm xmlns:a="http://schemas.openxmlformats.org/drawingml/2006/main">
            <a:off x="685800" y="3714750"/>
            <a:ext cx="9772650" cy="1238250"/>
          </a:xfrm>
          <a:prstGeom xmlns:a="http://schemas.openxmlformats.org/drawingml/2006/main" prst="roundRect">
            <a:avLst>
              <a:gd name="adj" fmla="val 9231"/>
            </a:avLst>
          </a:prstGeom>
          <a:solidFill xmlns:a="http://schemas.openxmlformats.org/drawingml/2006/main">
            <a:srgbClr val="FBF9F5"/>
          </a:solidFill>
          <a:ln xmlns:a="http://schemas.openxmlformats.org/drawingml/2006/main" w="9525">
            <a:solidFill>
              <a:srgbClr val="D9E1E7"/>
            </a:solidFill>
            <a:prstDash val="solid"/>
          </a:ln>
        </p:spPr>
      </p:sp>
      <p:sp>
        <p:nvSpPr>
          <p:cNvPr id="28" name="">
            <a:extLst xmlns:a="http://schemas.openxmlformats.org/drawingml/2006/main">
              <a:ext uri="{FF2B5EF4-FFF2-40B4-BE49-F238E27FC236}">
                <a16:creationId xmlns:a16="http://schemas.microsoft.com/office/drawing/2014/main" id="{9CCF0F89-9FE6-4B63-A537-FB2ADEDB6941}"/>
              </a:ext>
            </a:extLst>
          </p:cNvPr>
          <p:cNvSpPr>
            <a:spLocks xmlns:a="http://schemas.openxmlformats.org/drawingml/2006/main" noGrp="1"/>
          </p:cNvSpPr>
          <p:nvPr/>
        </p:nvSpPr>
        <p:spPr>
          <a:xfrm xmlns:a="http://schemas.openxmlformats.org/drawingml/2006/main">
            <a:off x="933450" y="39624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Management reading</a:t>
            </a:r>
          </a:p>
        </p:txBody>
      </p:sp>
      <p:sp>
        <p:nvSpPr>
          <p:cNvPr id="29" name="">
            <a:extLst xmlns:a="http://schemas.openxmlformats.org/drawingml/2006/main">
              <a:ext uri="{FF2B5EF4-FFF2-40B4-BE49-F238E27FC236}">
                <a16:creationId xmlns:a16="http://schemas.microsoft.com/office/drawing/2014/main" id="{8A914FCB-DF61-4DE6-93DC-285E5E29EDCA}"/>
              </a:ext>
            </a:extLst>
          </p:cNvPr>
          <p:cNvSpPr>
            <a:spLocks xmlns:a="http://schemas.openxmlformats.org/drawingml/2006/main" noGrp="1"/>
          </p:cNvSpPr>
          <p:nvPr/>
        </p:nvSpPr>
        <p:spPr>
          <a:xfrm xmlns:a="http://schemas.openxmlformats.org/drawingml/2006/main">
            <a:off x="933450" y="4324350"/>
            <a:ext cx="8953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a:solidFill>
                  <a:srgbClr val="142F4C"/>
                </a:solidFill>
              </a:defRPr>
            </a:pPr>
            <a:r>
              <a:rPr sz="1500">
                <a:solidFill>
                  <a:srgbClr val="142F4C"/>
                </a:solidFill>
              </a:rPr>
              <a:t>The score is the locked recorded result. Human review changes the confidence, scope and decision implications around that result; it does not silently recalculate it.</a:t>
            </a:r>
          </a:p>
        </p:txBody>
      </p:sp>
    </p:spTree>
    <p:extLst>
      <p:ext uri="{BB962C8B-B14F-4D97-AF65-F5344CB8AC3E}">
        <p14:creationId xmlns:p14="http://schemas.microsoft.com/office/powerpoint/2010/main" val="416502629"/>
      </p:ext>
    </p:extLst>
  </p:cSld>
</p:sld>
</file>

<file path=ppt/slides/slide3.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79E107F4-EE55-4DCD-8EBE-1C6D786DA6EC}"/>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03</a:t>
            </a:r>
          </a:p>
        </p:txBody>
      </p:sp>
      <p:sp>
        <p:nvSpPr>
          <p:cNvPr id="2" name="">
            <a:extLst xmlns:a="http://schemas.openxmlformats.org/drawingml/2006/main">
              <a:ext uri="{FF2B5EF4-FFF2-40B4-BE49-F238E27FC236}">
                <a16:creationId xmlns:a16="http://schemas.microsoft.com/office/drawing/2014/main" id="{ED7BEEBD-129E-4F5B-99E5-5492BC7C6D00}"/>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The information boundary is visible before decisions are made.</a:t>
            </a:r>
          </a:p>
        </p:txBody>
      </p:sp>
      <p:sp>
        <p:nvSpPr>
          <p:cNvPr id="3" name="">
            <a:extLst xmlns:a="http://schemas.openxmlformats.org/drawingml/2006/main">
              <a:ext uri="{FF2B5EF4-FFF2-40B4-BE49-F238E27FC236}">
                <a16:creationId xmlns:a16="http://schemas.microsoft.com/office/drawing/2014/main" id="{6F4AB1DF-9B55-4F00-91B7-B674A6D87380}"/>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The register makes scope, review notes and open items visible in one view.</a:t>
            </a:r>
          </a:p>
        </p:txBody>
      </p:sp>
      <p:sp>
        <p:nvSpPr>
          <p:cNvPr id="4" name="">
            <a:extLst xmlns:a="http://schemas.openxmlformats.org/drawingml/2006/main">
              <a:ext uri="{FF2B5EF4-FFF2-40B4-BE49-F238E27FC236}">
                <a16:creationId xmlns:a16="http://schemas.microsoft.com/office/drawing/2014/main" id="{F278BDA9-A097-4A2E-B3CD-6CA810D31D5C}"/>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18C13C4C-60A0-413A-9204-F0A9E7F6F9DA}"/>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FE9F0A9B-3248-4AA4-B1D8-91FA950C0141}"/>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03 / 10</a:t>
            </a:r>
          </a:p>
        </p:txBody>
      </p:sp>
      <p:sp>
        <p:nvSpPr>
          <p:cNvPr id="7" name="">
            <a:extLst xmlns:a="http://schemas.openxmlformats.org/drawingml/2006/main">
              <a:ext uri="{FF2B5EF4-FFF2-40B4-BE49-F238E27FC236}">
                <a16:creationId xmlns:a16="http://schemas.microsoft.com/office/drawing/2014/main" id="{37F651B7-E832-4B7E-932F-D315023D39A7}"/>
              </a:ext>
            </a:extLst>
          </p:cNvPr>
          <p:cNvSpPr>
            <a:spLocks xmlns:a="http://schemas.openxmlformats.org/drawingml/2006/main" noGrp="1"/>
          </p:cNvSpPr>
          <p:nvPr/>
        </p:nvSpPr>
        <p:spPr>
          <a:xfrm xmlns:a="http://schemas.openxmlformats.org/drawingml/2006/main">
            <a:off x="838200" y="21145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Review note — stated scope</a:t>
            </a:r>
          </a:p>
        </p:txBody>
      </p:sp>
      <p:sp>
        <p:nvSpPr>
          <p:cNvPr id="8" name="">
            <a:extLst xmlns:a="http://schemas.openxmlformats.org/drawingml/2006/main">
              <a:ext uri="{FF2B5EF4-FFF2-40B4-BE49-F238E27FC236}">
                <a16:creationId xmlns:a16="http://schemas.microsoft.com/office/drawing/2014/main" id="{5D704A54-D545-4607-AADD-E6A42CD11687}"/>
              </a:ext>
            </a:extLst>
          </p:cNvPr>
          <p:cNvSpPr>
            <a:spLocks xmlns:a="http://schemas.openxmlformats.org/drawingml/2006/main" noGrp="1"/>
          </p:cNvSpPr>
          <p:nvPr/>
        </p:nvSpPr>
        <p:spPr>
          <a:xfrm xmlns:a="http://schemas.openxmlformats.org/drawingml/2006/main">
            <a:off x="4000500" y="214312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9" name="">
            <a:extLst xmlns:a="http://schemas.openxmlformats.org/drawingml/2006/main">
              <a:ext uri="{FF2B5EF4-FFF2-40B4-BE49-F238E27FC236}">
                <a16:creationId xmlns:a16="http://schemas.microsoft.com/office/drawing/2014/main" id="{7C34A210-A4A0-4A62-8E0B-39EA6229A5A9}"/>
              </a:ext>
            </a:extLst>
          </p:cNvPr>
          <p:cNvSpPr>
            <a:spLocks xmlns:a="http://schemas.openxmlformats.org/drawingml/2006/main" noGrp="1"/>
          </p:cNvSpPr>
          <p:nvPr/>
        </p:nvSpPr>
        <p:spPr>
          <a:xfrm xmlns:a="http://schemas.openxmlformats.org/drawingml/2006/main">
            <a:off x="4000500" y="2143125"/>
            <a:ext cx="171450" cy="228600"/>
          </a:xfrm>
          <a:prstGeom xmlns:a="http://schemas.openxmlformats.org/drawingml/2006/main" prst="rect">
            <a:avLst/>
          </a:prstGeom>
          <a:solidFill xmlns:a="http://schemas.openxmlformats.org/drawingml/2006/main">
            <a:srgbClr val="1F6B4A"/>
          </a:solidFill>
          <a:ln xmlns:a="http://schemas.openxmlformats.org/drawingml/2006/main" w="0">
            <a:solidFill>
              <a:srgbClr val="1F6B4A"/>
            </a:solidFill>
            <a:prstDash val="solid"/>
          </a:ln>
        </p:spPr>
      </p:sp>
      <p:sp>
        <p:nvSpPr>
          <p:cNvPr id="10" name="">
            <a:extLst xmlns:a="http://schemas.openxmlformats.org/drawingml/2006/main">
              <a:ext uri="{FF2B5EF4-FFF2-40B4-BE49-F238E27FC236}">
                <a16:creationId xmlns:a16="http://schemas.microsoft.com/office/drawing/2014/main" id="{87B29164-BE79-4029-8D3B-65EC73E01916}"/>
              </a:ext>
            </a:extLst>
          </p:cNvPr>
          <p:cNvSpPr>
            <a:spLocks xmlns:a="http://schemas.openxmlformats.org/drawingml/2006/main" noGrp="1"/>
          </p:cNvSpPr>
          <p:nvPr/>
        </p:nvSpPr>
        <p:spPr>
          <a:xfrm xmlns:a="http://schemas.openxmlformats.org/drawingml/2006/main">
            <a:off x="9191625" y="20955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1</a:t>
            </a:r>
          </a:p>
        </p:txBody>
      </p:sp>
      <p:sp>
        <p:nvSpPr>
          <p:cNvPr id="11" name="">
            <a:extLst xmlns:a="http://schemas.openxmlformats.org/drawingml/2006/main">
              <a:ext uri="{FF2B5EF4-FFF2-40B4-BE49-F238E27FC236}">
                <a16:creationId xmlns:a16="http://schemas.microsoft.com/office/drawing/2014/main" id="{A6FACD6D-4585-492E-A320-9D6EBF940E9F}"/>
              </a:ext>
            </a:extLst>
          </p:cNvPr>
          <p:cNvSpPr>
            <a:spLocks xmlns:a="http://schemas.openxmlformats.org/drawingml/2006/main" noGrp="1"/>
          </p:cNvSpPr>
          <p:nvPr/>
        </p:nvSpPr>
        <p:spPr>
          <a:xfrm xmlns:a="http://schemas.openxmlformats.org/drawingml/2006/main">
            <a:off x="838200" y="27051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Management review record</a:t>
            </a:r>
          </a:p>
        </p:txBody>
      </p:sp>
      <p:sp>
        <p:nvSpPr>
          <p:cNvPr id="12" name="">
            <a:extLst xmlns:a="http://schemas.openxmlformats.org/drawingml/2006/main">
              <a:ext uri="{FF2B5EF4-FFF2-40B4-BE49-F238E27FC236}">
                <a16:creationId xmlns:a16="http://schemas.microsoft.com/office/drawing/2014/main" id="{2B3A5B6C-6AF1-497E-BA88-C96C5853983B}"/>
              </a:ext>
            </a:extLst>
          </p:cNvPr>
          <p:cNvSpPr>
            <a:spLocks xmlns:a="http://schemas.openxmlformats.org/drawingml/2006/main" noGrp="1"/>
          </p:cNvSpPr>
          <p:nvPr/>
        </p:nvSpPr>
        <p:spPr>
          <a:xfrm xmlns:a="http://schemas.openxmlformats.org/drawingml/2006/main">
            <a:off x="4000500" y="273367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3" name="">
            <a:extLst xmlns:a="http://schemas.openxmlformats.org/drawingml/2006/main">
              <a:ext uri="{FF2B5EF4-FFF2-40B4-BE49-F238E27FC236}">
                <a16:creationId xmlns:a16="http://schemas.microsoft.com/office/drawing/2014/main" id="{B3F1AF7D-3B58-4E0E-95B9-90819E56F3C9}"/>
              </a:ext>
            </a:extLst>
          </p:cNvPr>
          <p:cNvSpPr>
            <a:spLocks xmlns:a="http://schemas.openxmlformats.org/drawingml/2006/main" noGrp="1"/>
          </p:cNvSpPr>
          <p:nvPr/>
        </p:nvSpPr>
        <p:spPr>
          <a:xfrm xmlns:a="http://schemas.openxmlformats.org/drawingml/2006/main">
            <a:off x="4000500" y="2733675"/>
            <a:ext cx="171450" cy="228600"/>
          </a:xfrm>
          <a:prstGeom xmlns:a="http://schemas.openxmlformats.org/drawingml/2006/main" prst="rect">
            <a:avLst/>
          </a:prstGeom>
          <a:solidFill xmlns:a="http://schemas.openxmlformats.org/drawingml/2006/main">
            <a:srgbClr val="2C4A6B"/>
          </a:solidFill>
          <a:ln xmlns:a="http://schemas.openxmlformats.org/drawingml/2006/main" w="0">
            <a:solidFill>
              <a:srgbClr val="2C4A6B"/>
            </a:solidFill>
            <a:prstDash val="solid"/>
          </a:ln>
        </p:spPr>
      </p:sp>
      <p:sp>
        <p:nvSpPr>
          <p:cNvPr id="14" name="">
            <a:extLst xmlns:a="http://schemas.openxmlformats.org/drawingml/2006/main">
              <a:ext uri="{FF2B5EF4-FFF2-40B4-BE49-F238E27FC236}">
                <a16:creationId xmlns:a16="http://schemas.microsoft.com/office/drawing/2014/main" id="{8FDADAF9-647D-4F22-A8D4-052D531892E8}"/>
              </a:ext>
            </a:extLst>
          </p:cNvPr>
          <p:cNvSpPr>
            <a:spLocks xmlns:a="http://schemas.openxmlformats.org/drawingml/2006/main" noGrp="1"/>
          </p:cNvSpPr>
          <p:nvPr/>
        </p:nvSpPr>
        <p:spPr>
          <a:xfrm xmlns:a="http://schemas.openxmlformats.org/drawingml/2006/main">
            <a:off x="9191625" y="268605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0</a:t>
            </a:r>
          </a:p>
        </p:txBody>
      </p:sp>
      <p:sp>
        <p:nvSpPr>
          <p:cNvPr id="15" name="">
            <a:extLst xmlns:a="http://schemas.openxmlformats.org/drawingml/2006/main">
              <a:ext uri="{FF2B5EF4-FFF2-40B4-BE49-F238E27FC236}">
                <a16:creationId xmlns:a16="http://schemas.microsoft.com/office/drawing/2014/main" id="{6DAC25CE-C57A-49D4-94C2-F09FA2E2277D}"/>
              </a:ext>
            </a:extLst>
          </p:cNvPr>
          <p:cNvSpPr>
            <a:spLocks xmlns:a="http://schemas.openxmlformats.org/drawingml/2006/main" noGrp="1"/>
          </p:cNvSpPr>
          <p:nvPr/>
        </p:nvSpPr>
        <p:spPr>
          <a:xfrm xmlns:a="http://schemas.openxmlformats.org/drawingml/2006/main">
            <a:off x="838200" y="32956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Further basis required</a:t>
            </a:r>
          </a:p>
        </p:txBody>
      </p:sp>
      <p:sp>
        <p:nvSpPr>
          <p:cNvPr id="16" name="">
            <a:extLst xmlns:a="http://schemas.openxmlformats.org/drawingml/2006/main">
              <a:ext uri="{FF2B5EF4-FFF2-40B4-BE49-F238E27FC236}">
                <a16:creationId xmlns:a16="http://schemas.microsoft.com/office/drawing/2014/main" id="{8F07F24B-20BB-4E94-B390-EFB9436AFC80}"/>
              </a:ext>
            </a:extLst>
          </p:cNvPr>
          <p:cNvSpPr>
            <a:spLocks xmlns:a="http://schemas.openxmlformats.org/drawingml/2006/main" noGrp="1"/>
          </p:cNvSpPr>
          <p:nvPr/>
        </p:nvSpPr>
        <p:spPr>
          <a:xfrm xmlns:a="http://schemas.openxmlformats.org/drawingml/2006/main">
            <a:off x="4000500" y="332422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7" name="">
            <a:extLst xmlns:a="http://schemas.openxmlformats.org/drawingml/2006/main">
              <a:ext uri="{FF2B5EF4-FFF2-40B4-BE49-F238E27FC236}">
                <a16:creationId xmlns:a16="http://schemas.microsoft.com/office/drawing/2014/main" id="{3F63A6E1-F119-4901-A719-9F5B58261139}"/>
              </a:ext>
            </a:extLst>
          </p:cNvPr>
          <p:cNvSpPr>
            <a:spLocks xmlns:a="http://schemas.openxmlformats.org/drawingml/2006/main" noGrp="1"/>
          </p:cNvSpPr>
          <p:nvPr/>
        </p:nvSpPr>
        <p:spPr>
          <a:xfrm xmlns:a="http://schemas.openxmlformats.org/drawingml/2006/main">
            <a:off x="4000500" y="3324225"/>
            <a:ext cx="171450" cy="2286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8" name="">
            <a:extLst xmlns:a="http://schemas.openxmlformats.org/drawingml/2006/main">
              <a:ext uri="{FF2B5EF4-FFF2-40B4-BE49-F238E27FC236}">
                <a16:creationId xmlns:a16="http://schemas.microsoft.com/office/drawing/2014/main" id="{0ED3DC40-EF2F-4B2A-903F-D6F0B736CE23}"/>
              </a:ext>
            </a:extLst>
          </p:cNvPr>
          <p:cNvSpPr>
            <a:spLocks xmlns:a="http://schemas.openxmlformats.org/drawingml/2006/main" noGrp="1"/>
          </p:cNvSpPr>
          <p:nvPr/>
        </p:nvSpPr>
        <p:spPr>
          <a:xfrm xmlns:a="http://schemas.openxmlformats.org/drawingml/2006/main">
            <a:off x="9191625" y="32766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1</a:t>
            </a:r>
          </a:p>
        </p:txBody>
      </p:sp>
      <p:sp>
        <p:nvSpPr>
          <p:cNvPr id="19" name="">
            <a:extLst xmlns:a="http://schemas.openxmlformats.org/drawingml/2006/main">
              <a:ext uri="{FF2B5EF4-FFF2-40B4-BE49-F238E27FC236}">
                <a16:creationId xmlns:a16="http://schemas.microsoft.com/office/drawing/2014/main" id="{A35CC518-02DE-4F4E-AD7F-D856DC39C4BE}"/>
              </a:ext>
            </a:extLst>
          </p:cNvPr>
          <p:cNvSpPr>
            <a:spLocks xmlns:a="http://schemas.openxmlformats.org/drawingml/2006/main" noGrp="1"/>
          </p:cNvSpPr>
          <p:nvPr/>
        </p:nvSpPr>
        <p:spPr>
          <a:xfrm xmlns:a="http://schemas.openxmlformats.org/drawingml/2006/main">
            <a:off x="838200" y="38862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Recorded / open</a:t>
            </a:r>
          </a:p>
        </p:txBody>
      </p:sp>
      <p:sp>
        <p:nvSpPr>
          <p:cNvPr id="20" name="">
            <a:extLst xmlns:a="http://schemas.openxmlformats.org/drawingml/2006/main">
              <a:ext uri="{FF2B5EF4-FFF2-40B4-BE49-F238E27FC236}">
                <a16:creationId xmlns:a16="http://schemas.microsoft.com/office/drawing/2014/main" id="{623E7CAE-544D-4FF2-BB91-701B3C378837}"/>
              </a:ext>
            </a:extLst>
          </p:cNvPr>
          <p:cNvSpPr>
            <a:spLocks xmlns:a="http://schemas.openxmlformats.org/drawingml/2006/main" noGrp="1"/>
          </p:cNvSpPr>
          <p:nvPr/>
        </p:nvSpPr>
        <p:spPr>
          <a:xfrm xmlns:a="http://schemas.openxmlformats.org/drawingml/2006/main">
            <a:off x="4000500" y="391477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21" name="">
            <a:extLst xmlns:a="http://schemas.openxmlformats.org/drawingml/2006/main">
              <a:ext uri="{FF2B5EF4-FFF2-40B4-BE49-F238E27FC236}">
                <a16:creationId xmlns:a16="http://schemas.microsoft.com/office/drawing/2014/main" id="{067C5F36-0DCF-484F-B4B9-851C717E61BE}"/>
              </a:ext>
            </a:extLst>
          </p:cNvPr>
          <p:cNvSpPr>
            <a:spLocks xmlns:a="http://schemas.openxmlformats.org/drawingml/2006/main" noGrp="1"/>
          </p:cNvSpPr>
          <p:nvPr/>
        </p:nvSpPr>
        <p:spPr>
          <a:xfrm xmlns:a="http://schemas.openxmlformats.org/drawingml/2006/main">
            <a:off x="4000500" y="3914775"/>
            <a:ext cx="4720828" cy="22860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22" name="">
            <a:extLst xmlns:a="http://schemas.openxmlformats.org/drawingml/2006/main">
              <a:ext uri="{FF2B5EF4-FFF2-40B4-BE49-F238E27FC236}">
                <a16:creationId xmlns:a16="http://schemas.microsoft.com/office/drawing/2014/main" id="{648C6E77-15B8-4469-89F6-B87C28AAC95E}"/>
              </a:ext>
            </a:extLst>
          </p:cNvPr>
          <p:cNvSpPr>
            <a:spLocks xmlns:a="http://schemas.openxmlformats.org/drawingml/2006/main" noGrp="1"/>
          </p:cNvSpPr>
          <p:nvPr/>
        </p:nvSpPr>
        <p:spPr>
          <a:xfrm xmlns:a="http://schemas.openxmlformats.org/drawingml/2006/main">
            <a:off x="9191625" y="386715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61</a:t>
            </a:r>
          </a:p>
        </p:txBody>
      </p:sp>
      <p:sp>
        <p:nvSpPr>
          <p:cNvPr id="23" name="">
            <a:extLst xmlns:a="http://schemas.openxmlformats.org/drawingml/2006/main">
              <a:ext uri="{FF2B5EF4-FFF2-40B4-BE49-F238E27FC236}">
                <a16:creationId xmlns:a16="http://schemas.microsoft.com/office/drawing/2014/main" id="{351DBD84-CBCF-4F7D-B560-2060FD4B6EAA}"/>
              </a:ext>
            </a:extLst>
          </p:cNvPr>
          <p:cNvSpPr>
            <a:spLocks xmlns:a="http://schemas.openxmlformats.org/drawingml/2006/main" noGrp="1"/>
          </p:cNvSpPr>
          <p:nvPr/>
        </p:nvSpPr>
        <p:spPr>
          <a:xfrm xmlns:a="http://schemas.openxmlformats.org/drawingml/2006/main">
            <a:off x="838200" y="4762500"/>
            <a:ext cx="9191625"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9E1E7"/>
            </a:solidFill>
            <a:prstDash val="solid"/>
          </a:ln>
        </p:spPr>
      </p:sp>
      <p:sp>
        <p:nvSpPr>
          <p:cNvPr id="24" name="">
            <a:extLst xmlns:a="http://schemas.openxmlformats.org/drawingml/2006/main">
              <a:ext uri="{FF2B5EF4-FFF2-40B4-BE49-F238E27FC236}">
                <a16:creationId xmlns:a16="http://schemas.microsoft.com/office/drawing/2014/main" id="{4976D506-6AAD-4C3A-B989-0E99F2BBB839}"/>
              </a:ext>
            </a:extLst>
          </p:cNvPr>
          <p:cNvSpPr>
            <a:spLocks xmlns:a="http://schemas.openxmlformats.org/drawingml/2006/main" noGrp="1"/>
          </p:cNvSpPr>
          <p:nvPr/>
        </p:nvSpPr>
        <p:spPr>
          <a:xfrm xmlns:a="http://schemas.openxmlformats.org/drawingml/2006/main">
            <a:off x="1066800" y="497205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What the board can rely on</a:t>
            </a:r>
          </a:p>
        </p:txBody>
      </p:sp>
      <p:sp>
        <p:nvSpPr>
          <p:cNvPr id="25" name="">
            <a:extLst xmlns:a="http://schemas.openxmlformats.org/drawingml/2006/main">
              <a:ext uri="{FF2B5EF4-FFF2-40B4-BE49-F238E27FC236}">
                <a16:creationId xmlns:a16="http://schemas.microsoft.com/office/drawing/2014/main" id="{998AE405-97FA-415C-B822-4C77800BE665}"/>
              </a:ext>
            </a:extLst>
          </p:cNvPr>
          <p:cNvSpPr>
            <a:spLocks xmlns:a="http://schemas.openxmlformats.org/drawingml/2006/main" noGrp="1"/>
          </p:cNvSpPr>
          <p:nvPr/>
        </p:nvSpPr>
        <p:spPr>
          <a:xfrm xmlns:a="http://schemas.openxmlformats.org/drawingml/2006/main">
            <a:off x="1066800" y="5295900"/>
            <a:ext cx="828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1A2634"/>
                </a:solidFill>
              </a:defRPr>
            </a:pPr>
            <a:r>
              <a:rPr sz="1350">
                <a:solidFill>
                  <a:srgbClr val="1A2634"/>
                </a:solidFill>
              </a:rPr>
              <a:t>Only the named information scope. An open item limits reliance; it does not mean misconduct occurred.</a:t>
            </a:r>
          </a:p>
        </p:txBody>
      </p:sp>
    </p:spTree>
    <p:extLst>
      <p:ext uri="{BB962C8B-B14F-4D97-AF65-F5344CB8AC3E}">
        <p14:creationId xmlns:p14="http://schemas.microsoft.com/office/powerpoint/2010/main" val="433915504"/>
      </p:ext>
    </p:extLst>
  </p:cSld>
</p:sld>
</file>

<file path=ppt/slides/slide4.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3CB138A-F95C-43F6-9A20-8BBC3C878039}"/>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04</a:t>
            </a:r>
          </a:p>
        </p:txBody>
      </p:sp>
      <p:sp>
        <p:nvSpPr>
          <p:cNvPr id="2" name="">
            <a:extLst xmlns:a="http://schemas.openxmlformats.org/drawingml/2006/main">
              <a:ext uri="{FF2B5EF4-FFF2-40B4-BE49-F238E27FC236}">
                <a16:creationId xmlns:a16="http://schemas.microsoft.com/office/drawing/2014/main" id="{3C683ADB-6C2A-43E9-80C7-42479B3CEF72}"/>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Management review adds context where the assessment is too broad.</a:t>
            </a:r>
          </a:p>
        </p:txBody>
      </p:sp>
      <p:sp>
        <p:nvSpPr>
          <p:cNvPr id="3" name="">
            <a:extLst xmlns:a="http://schemas.openxmlformats.org/drawingml/2006/main">
              <a:ext uri="{FF2B5EF4-FFF2-40B4-BE49-F238E27FC236}">
                <a16:creationId xmlns:a16="http://schemas.microsoft.com/office/drawing/2014/main" id="{E3C62BE2-0AD0-49F1-AB8F-1EB6B20F2C75}"/>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Review notes narrow the conversation to the population and records actually supplied.</a:t>
            </a:r>
          </a:p>
        </p:txBody>
      </p:sp>
      <p:sp>
        <p:nvSpPr>
          <p:cNvPr id="4" name="">
            <a:extLst xmlns:a="http://schemas.openxmlformats.org/drawingml/2006/main">
              <a:ext uri="{FF2B5EF4-FFF2-40B4-BE49-F238E27FC236}">
                <a16:creationId xmlns:a16="http://schemas.microsoft.com/office/drawing/2014/main" id="{68CFEE42-0C6A-4BD9-B8DC-93E6812913ED}"/>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D3D4E4D5-2B09-479C-BC0C-516FAA26799A}"/>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CA201A8D-9CAF-4BDE-B8C8-0DF9EA107024}"/>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04 / 10</a:t>
            </a:r>
          </a:p>
        </p:txBody>
      </p:sp>
      <p:sp>
        <p:nvSpPr>
          <p:cNvPr id="7" name="">
            <a:extLst xmlns:a="http://schemas.openxmlformats.org/drawingml/2006/main">
              <a:ext uri="{FF2B5EF4-FFF2-40B4-BE49-F238E27FC236}">
                <a16:creationId xmlns:a16="http://schemas.microsoft.com/office/drawing/2014/main" id="{15055817-FA8B-4CFA-B12F-66197D4821BA}"/>
              </a:ext>
            </a:extLst>
          </p:cNvPr>
          <p:cNvSpPr>
            <a:spLocks xmlns:a="http://schemas.openxmlformats.org/drawingml/2006/main" noGrp="1"/>
          </p:cNvSpPr>
          <p:nvPr/>
        </p:nvSpPr>
        <p:spPr>
          <a:xfrm xmlns:a="http://schemas.openxmlformats.org/drawingml/2006/main">
            <a:off x="838200" y="1981200"/>
            <a:ext cx="76200" cy="647700"/>
          </a:xfrm>
          <a:prstGeom xmlns:a="http://schemas.openxmlformats.org/drawingml/2006/main" prst="rect">
            <a:avLst/>
          </a:prstGeom>
          <a:solidFill xmlns:a="http://schemas.openxmlformats.org/drawingml/2006/main">
            <a:srgbClr val="1F6B4A"/>
          </a:solidFill>
          <a:ln xmlns:a="http://schemas.openxmlformats.org/drawingml/2006/main" w="0">
            <a:solidFill>
              <a:srgbClr val="1F6B4A"/>
            </a:solidFill>
            <a:prstDash val="solid"/>
          </a:ln>
        </p:spPr>
      </p:sp>
      <p:sp>
        <p:nvSpPr>
          <p:cNvPr id="8" name="">
            <a:extLst xmlns:a="http://schemas.openxmlformats.org/drawingml/2006/main">
              <a:ext uri="{FF2B5EF4-FFF2-40B4-BE49-F238E27FC236}">
                <a16:creationId xmlns:a16="http://schemas.microsoft.com/office/drawing/2014/main" id="{6F135C87-B53F-4CDC-B5EC-DD95EFA699D0}"/>
              </a:ext>
            </a:extLst>
          </p:cNvPr>
          <p:cNvSpPr>
            <a:spLocks xmlns:a="http://schemas.openxmlformats.org/drawingml/2006/main" noGrp="1"/>
          </p:cNvSpPr>
          <p:nvPr/>
        </p:nvSpPr>
        <p:spPr>
          <a:xfrm xmlns:a="http://schemas.openxmlformats.org/drawingml/2006/main">
            <a:off x="1104900" y="19812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control design</a:t>
            </a:r>
          </a:p>
        </p:txBody>
      </p:sp>
      <p:sp>
        <p:nvSpPr>
          <p:cNvPr id="9" name="">
            <a:extLst xmlns:a="http://schemas.openxmlformats.org/drawingml/2006/main">
              <a:ext uri="{FF2B5EF4-FFF2-40B4-BE49-F238E27FC236}">
                <a16:creationId xmlns:a16="http://schemas.microsoft.com/office/drawing/2014/main" id="{D475D8EE-8410-4DA5-BFAD-2B8D2D54E4F0}"/>
              </a:ext>
            </a:extLst>
          </p:cNvPr>
          <p:cNvSpPr>
            <a:spLocks xmlns:a="http://schemas.openxmlformats.org/drawingml/2006/main" noGrp="1"/>
          </p:cNvSpPr>
          <p:nvPr/>
        </p:nvSpPr>
        <p:spPr>
          <a:xfrm xmlns:a="http://schemas.openxmlformats.org/drawingml/2006/main">
            <a:off x="4476750" y="198120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Recorded: Self-reported position retained unless separately evidenced.</a:t>
            </a:r>
          </a:p>
        </p:txBody>
      </p:sp>
      <p:sp>
        <p:nvSpPr>
          <p:cNvPr id="10" name="">
            <a:extLst xmlns:a="http://schemas.openxmlformats.org/drawingml/2006/main">
              <a:ext uri="{FF2B5EF4-FFF2-40B4-BE49-F238E27FC236}">
                <a16:creationId xmlns:a16="http://schemas.microsoft.com/office/drawing/2014/main" id="{D1272FDF-76CD-49E0-8DC2-E38B32436633}"/>
              </a:ext>
            </a:extLst>
          </p:cNvPr>
          <p:cNvSpPr>
            <a:spLocks xmlns:a="http://schemas.openxmlformats.org/drawingml/2006/main" noGrp="1"/>
          </p:cNvSpPr>
          <p:nvPr/>
        </p:nvSpPr>
        <p:spPr>
          <a:xfrm xmlns:a="http://schemas.openxmlformats.org/drawingml/2006/main">
            <a:off x="7620000" y="1981200"/>
            <a:ext cx="257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Review note: Design weakness: the control has no specification. Without red-flag definitions per process, monitoring frequency, population scope and an exception-handling route, two competent operators would monitor differently and neither could be shown to be wrong. Recommended adjustment: (1) define red-flag indicators for the three highest-value processes first - vendor master data changes, stock adjustments at depots, and payroll master changes, which is where the 2026 incidents actually clustered; (2) fix a monthly monitoring cycle with a named preparer and an independent reviewer; (3) produce a coverage report reconciling monitored population to the ERP transaction population; (4) route exceptions into the existing incident register so detection and response become one measured pipeline rather than two.</a:t>
            </a:r>
          </a:p>
        </p:txBody>
      </p:sp>
      <p:sp>
        <p:nvSpPr>
          <p:cNvPr id="11" name="">
            <a:extLst xmlns:a="http://schemas.openxmlformats.org/drawingml/2006/main">
              <a:ext uri="{FF2B5EF4-FFF2-40B4-BE49-F238E27FC236}">
                <a16:creationId xmlns:a16="http://schemas.microsoft.com/office/drawing/2014/main" id="{BE85D750-F457-4E36-9146-B35BCB26A98A}"/>
              </a:ext>
            </a:extLst>
          </p:cNvPr>
          <p:cNvSpPr>
            <a:spLocks xmlns:a="http://schemas.openxmlformats.org/drawingml/2006/main" noGrp="1"/>
          </p:cNvSpPr>
          <p:nvPr/>
        </p:nvSpPr>
        <p:spPr>
          <a:xfrm xmlns:a="http://schemas.openxmlformats.org/drawingml/2006/main">
            <a:off x="838200" y="2876550"/>
            <a:ext cx="76200" cy="64770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12" name="">
            <a:extLst xmlns:a="http://schemas.openxmlformats.org/drawingml/2006/main">
              <a:ext uri="{FF2B5EF4-FFF2-40B4-BE49-F238E27FC236}">
                <a16:creationId xmlns:a16="http://schemas.microsoft.com/office/drawing/2014/main" id="{7116291D-C3AC-4B19-B181-76487F8D0601}"/>
              </a:ext>
            </a:extLst>
          </p:cNvPr>
          <p:cNvSpPr>
            <a:spLocks xmlns:a="http://schemas.openxmlformats.org/drawingml/2006/main" noGrp="1"/>
          </p:cNvSpPr>
          <p:nvPr/>
        </p:nvSpPr>
        <p:spPr>
          <a:xfrm xmlns:a="http://schemas.openxmlformats.org/drawingml/2006/main">
            <a:off x="1104900" y="28765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decision</a:t>
            </a:r>
          </a:p>
        </p:txBody>
      </p:sp>
      <p:sp>
        <p:nvSpPr>
          <p:cNvPr id="13" name="">
            <a:extLst xmlns:a="http://schemas.openxmlformats.org/drawingml/2006/main">
              <a:ext uri="{FF2B5EF4-FFF2-40B4-BE49-F238E27FC236}">
                <a16:creationId xmlns:a16="http://schemas.microsoft.com/office/drawing/2014/main" id="{10C2882C-008E-48F0-9835-BDE60776C041}"/>
              </a:ext>
            </a:extLst>
          </p:cNvPr>
          <p:cNvSpPr>
            <a:spLocks xmlns:a="http://schemas.openxmlformats.org/drawingml/2006/main" noGrp="1"/>
          </p:cNvSpPr>
          <p:nvPr/>
        </p:nvSpPr>
        <p:spPr>
          <a:xfrm xmlns:a="http://schemas.openxmlformats.org/drawingml/2006/main">
            <a:off x="4476750" y="28765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Recorded: Self-reported position retained unless separately evidenced.</a:t>
            </a:r>
          </a:p>
        </p:txBody>
      </p:sp>
      <p:sp>
        <p:nvSpPr>
          <p:cNvPr id="14" name="">
            <a:extLst xmlns:a="http://schemas.openxmlformats.org/drawingml/2006/main">
              <a:ext uri="{FF2B5EF4-FFF2-40B4-BE49-F238E27FC236}">
                <a16:creationId xmlns:a16="http://schemas.microsoft.com/office/drawing/2014/main" id="{35F6E924-9C41-4873-906E-BF455DC9BE3B}"/>
              </a:ext>
            </a:extLst>
          </p:cNvPr>
          <p:cNvSpPr>
            <a:spLocks xmlns:a="http://schemas.openxmlformats.org/drawingml/2006/main" noGrp="1"/>
          </p:cNvSpPr>
          <p:nvPr/>
        </p:nvSpPr>
        <p:spPr>
          <a:xfrm xmlns:a="http://schemas.openxmlformats.org/drawingml/2006/main">
            <a:off x="7620000" y="2876550"/>
            <a:ext cx="257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Review note: Viable options considered. Option A - leave accountability with the Finance Director as the policy currently states. Trade-off: preserves the approved policy and needs no change control, but the Finance Director is already the escalation route for reported incidents, so the same executive would own both detection design and incident adjudication, which weakens independence. Option B - delegate detection design to the Financial Controller with quarterly Committee reporting. Trade-off: separates design from adjudication and uses an existing budgeted workstream; requires a minor policy amendment at the next review. Option C - outsource monitoring to an external provider. Trade-off: fastest route to coverage, but at this maturity Kestrel cannot yet specify what it wants monitored, so the provider would define the indicators and the organisation would not own them. Management decision: Option B accepted by the Finance Director on review. Owner: Financial Controller. Date: 30 November 2026 for the first quarterly report to the Committee.</a:t>
            </a:r>
          </a:p>
        </p:txBody>
      </p:sp>
      <p:sp>
        <p:nvSpPr>
          <p:cNvPr id="15" name="">
            <a:extLst xmlns:a="http://schemas.openxmlformats.org/drawingml/2006/main">
              <a:ext uri="{FF2B5EF4-FFF2-40B4-BE49-F238E27FC236}">
                <a16:creationId xmlns:a16="http://schemas.microsoft.com/office/drawing/2014/main" id="{D96B0100-4D3E-47E4-8CC9-D34BC148584E}"/>
              </a:ext>
            </a:extLst>
          </p:cNvPr>
          <p:cNvSpPr>
            <a:spLocks xmlns:a="http://schemas.openxmlformats.org/drawingml/2006/main" noGrp="1"/>
          </p:cNvSpPr>
          <p:nvPr/>
        </p:nvSpPr>
        <p:spPr>
          <a:xfrm xmlns:a="http://schemas.openxmlformats.org/drawingml/2006/main">
            <a:off x="838200" y="3771900"/>
            <a:ext cx="76200" cy="647700"/>
          </a:xfrm>
          <a:prstGeom xmlns:a="http://schemas.openxmlformats.org/drawingml/2006/main" prst="rect">
            <a:avLst/>
          </a:prstGeom>
          <a:solidFill xmlns:a="http://schemas.openxmlformats.org/drawingml/2006/main">
            <a:srgbClr val="1F6B4A"/>
          </a:solidFill>
          <a:ln xmlns:a="http://schemas.openxmlformats.org/drawingml/2006/main" w="0">
            <a:solidFill>
              <a:srgbClr val="1F6B4A"/>
            </a:solidFill>
            <a:prstDash val="solid"/>
          </a:ln>
        </p:spPr>
      </p:sp>
      <p:sp>
        <p:nvSpPr>
          <p:cNvPr id="16" name="">
            <a:extLst xmlns:a="http://schemas.openxmlformats.org/drawingml/2006/main">
              <a:ext uri="{FF2B5EF4-FFF2-40B4-BE49-F238E27FC236}">
                <a16:creationId xmlns:a16="http://schemas.microsoft.com/office/drawing/2014/main" id="{3E25AC83-DF1B-4661-A2B2-83356F795CEA}"/>
              </a:ext>
            </a:extLst>
          </p:cNvPr>
          <p:cNvSpPr>
            <a:spLocks xmlns:a="http://schemas.openxmlformats.org/drawingml/2006/main" noGrp="1"/>
          </p:cNvSpPr>
          <p:nvPr/>
        </p:nvSpPr>
        <p:spPr>
          <a:xfrm xmlns:a="http://schemas.openxmlformats.org/drawingml/2006/main">
            <a:off x="1104900" y="37719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finding</a:t>
            </a:r>
          </a:p>
        </p:txBody>
      </p:sp>
      <p:sp>
        <p:nvSpPr>
          <p:cNvPr id="17" name="">
            <a:extLst xmlns:a="http://schemas.openxmlformats.org/drawingml/2006/main">
              <a:ext uri="{FF2B5EF4-FFF2-40B4-BE49-F238E27FC236}">
                <a16:creationId xmlns:a16="http://schemas.microsoft.com/office/drawing/2014/main" id="{7F3CEB9B-4A16-4CF8-A205-109000ECB93A}"/>
              </a:ext>
            </a:extLst>
          </p:cNvPr>
          <p:cNvSpPr>
            <a:spLocks xmlns:a="http://schemas.openxmlformats.org/drawingml/2006/main" noGrp="1"/>
          </p:cNvSpPr>
          <p:nvPr/>
        </p:nvSpPr>
        <p:spPr>
          <a:xfrm xmlns:a="http://schemas.openxmlformats.org/drawingml/2006/main">
            <a:off x="4476750" y="377190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Recorded: Self-reported position retained unless separately evidenced.</a:t>
            </a:r>
          </a:p>
        </p:txBody>
      </p:sp>
      <p:sp>
        <p:nvSpPr>
          <p:cNvPr id="18" name="">
            <a:extLst xmlns:a="http://schemas.openxmlformats.org/drawingml/2006/main">
              <a:ext uri="{FF2B5EF4-FFF2-40B4-BE49-F238E27FC236}">
                <a16:creationId xmlns:a16="http://schemas.microsoft.com/office/drawing/2014/main" id="{54BA229D-7332-4D10-AC9B-32582C6A3AE4}"/>
              </a:ext>
            </a:extLst>
          </p:cNvPr>
          <p:cNvSpPr>
            <a:spLocks xmlns:a="http://schemas.openxmlformats.org/drawingml/2006/main" noGrp="1"/>
          </p:cNvSpPr>
          <p:nvPr/>
        </p:nvSpPr>
        <p:spPr>
          <a:xfrm xmlns:a="http://schemas.openxmlformats.org/drawingml/2006/main">
            <a:off x="7620000" y="3771900"/>
            <a:ext cx="257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Review note: Partially supported, and materially weaker than the self-assessed position. Kestrel asserts transaction and operational monitoring for unusual patterns. The evidence establishes that incidents are captured, investigated and closed, but does not establish that monitoring runs on a defined cycle over a defined population, and the policy contains no red-flag indicator definitions. The organisation is detecting fraud largely through people and after the fact, not through designed surveillance. Reviewed the 2026 incident register (six incidents, four sites) and KIS-POL-FRM-004 v3.1. Two of six incidents originated from data analytics or Internal Audit, which shows genuine proactive capability exists in pockets and should not be understated. However no monitoring output, population reconciliation, coverage report or indicator definition was produced for any period. Limitation: this conclusion rests on documentation only; no system walkthrough, ERP configuration review or re-performance over a transaction population was carried out. Adjusted interpretation: the self-assessed maturity for D4-Q01 overstates operating reality and should be read down one level pending indicator definitions and a first coverage report. Owner: Financial Controller. Due date: 30 November 2026. Management response: management accepts the gap and has linked it to the Q4 2026 ERP role remediation already scheduled for the Germiston segregation issue.</a:t>
            </a:r>
          </a:p>
        </p:txBody>
      </p:sp>
      <p:sp>
        <p:nvSpPr>
          <p:cNvPr id="19" name="">
            <a:extLst xmlns:a="http://schemas.openxmlformats.org/drawingml/2006/main">
              <a:ext uri="{FF2B5EF4-FFF2-40B4-BE49-F238E27FC236}">
                <a16:creationId xmlns:a16="http://schemas.microsoft.com/office/drawing/2014/main" id="{6805FD85-4A50-4664-8986-A30EA81C2FB1}"/>
              </a:ext>
            </a:extLst>
          </p:cNvPr>
          <p:cNvSpPr>
            <a:spLocks xmlns:a="http://schemas.openxmlformats.org/drawingml/2006/main" noGrp="1"/>
          </p:cNvSpPr>
          <p:nvPr/>
        </p:nvSpPr>
        <p:spPr>
          <a:xfrm xmlns:a="http://schemas.openxmlformats.org/drawingml/2006/main">
            <a:off x="838200" y="4667250"/>
            <a:ext cx="76200" cy="64770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20" name="">
            <a:extLst xmlns:a="http://schemas.openxmlformats.org/drawingml/2006/main">
              <a:ext uri="{FF2B5EF4-FFF2-40B4-BE49-F238E27FC236}">
                <a16:creationId xmlns:a16="http://schemas.microsoft.com/office/drawing/2014/main" id="{03048AE6-CF98-4F9D-8293-BF547AF7DB2A}"/>
              </a:ext>
            </a:extLst>
          </p:cNvPr>
          <p:cNvSpPr>
            <a:spLocks xmlns:a="http://schemas.openxmlformats.org/drawingml/2006/main" noGrp="1"/>
          </p:cNvSpPr>
          <p:nvPr/>
        </p:nvSpPr>
        <p:spPr>
          <a:xfrm xmlns:a="http://schemas.openxmlformats.org/drawingml/2006/main">
            <a:off x="1104900" y="46672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Fraud Detection Capability: The organisation monitors transactions or operational activity for unusual patterns, anomalies or red flags.</a:t>
            </a:r>
          </a:p>
        </p:txBody>
      </p:sp>
      <p:sp>
        <p:nvSpPr>
          <p:cNvPr id="21" name="">
            <a:extLst xmlns:a="http://schemas.openxmlformats.org/drawingml/2006/main">
              <a:ext uri="{FF2B5EF4-FFF2-40B4-BE49-F238E27FC236}">
                <a16:creationId xmlns:a16="http://schemas.microsoft.com/office/drawing/2014/main" id="{24386B0C-B456-4F84-B620-481D8BBC2053}"/>
              </a:ext>
            </a:extLst>
          </p:cNvPr>
          <p:cNvSpPr>
            <a:spLocks xmlns:a="http://schemas.openxmlformats.org/drawingml/2006/main" noGrp="1"/>
          </p:cNvSpPr>
          <p:nvPr/>
        </p:nvSpPr>
        <p:spPr>
          <a:xfrm xmlns:a="http://schemas.openxmlformats.org/drawingml/2006/main">
            <a:off x="4476750" y="46672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Recorded: Self-reported position: Partially designed — Some elements exist, but implementation is incomplete, inconsistent or not evidenced.</a:t>
            </a:r>
          </a:p>
        </p:txBody>
      </p:sp>
      <p:sp>
        <p:nvSpPr>
          <p:cNvPr id="22" name="">
            <a:extLst xmlns:a="http://schemas.openxmlformats.org/drawingml/2006/main">
              <a:ext uri="{FF2B5EF4-FFF2-40B4-BE49-F238E27FC236}">
                <a16:creationId xmlns:a16="http://schemas.microsoft.com/office/drawing/2014/main" id="{122F9811-0301-453C-ABD7-4CF2D2D14CB9}"/>
              </a:ext>
            </a:extLst>
          </p:cNvPr>
          <p:cNvSpPr>
            <a:spLocks xmlns:a="http://schemas.openxmlformats.org/drawingml/2006/main" noGrp="1"/>
          </p:cNvSpPr>
          <p:nvPr/>
        </p:nvSpPr>
        <p:spPr>
          <a:xfrm xmlns:a="http://schemas.openxmlformats.org/drawingml/2006/main">
            <a:off x="7620000" y="4667250"/>
            <a:ext cx="257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Review note: The supplied information does not establish an unqualified conclusion for the recorded scope.</a:t>
            </a:r>
          </a:p>
        </p:txBody>
      </p:sp>
    </p:spTree>
    <p:extLst>
      <p:ext uri="{BB962C8B-B14F-4D97-AF65-F5344CB8AC3E}">
        <p14:creationId xmlns:p14="http://schemas.microsoft.com/office/powerpoint/2010/main" val="1090361987"/>
      </p:ext>
    </p:extLst>
  </p:cSld>
</p:sld>
</file>

<file path=ppt/slides/slide5.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6C5552C-C8B1-417A-91BF-490213BD3591}"/>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05</a:t>
            </a:r>
          </a:p>
        </p:txBody>
      </p:sp>
      <p:sp>
        <p:nvSpPr>
          <p:cNvPr id="2" name="">
            <a:extLst xmlns:a="http://schemas.openxmlformats.org/drawingml/2006/main">
              <a:ext uri="{FF2B5EF4-FFF2-40B4-BE49-F238E27FC236}">
                <a16:creationId xmlns:a16="http://schemas.microsoft.com/office/drawing/2014/main" id="{14E31863-C90B-4EEC-AB0C-966F07998C4C}"/>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Risk concentrates where ownership, detection and response do not yet connect.</a:t>
            </a:r>
          </a:p>
        </p:txBody>
      </p:sp>
      <p:sp>
        <p:nvSpPr>
          <p:cNvPr id="3" name="">
            <a:extLst xmlns:a="http://schemas.openxmlformats.org/drawingml/2006/main">
              <a:ext uri="{FF2B5EF4-FFF2-40B4-BE49-F238E27FC236}">
                <a16:creationId xmlns:a16="http://schemas.microsoft.com/office/drawing/2014/main" id="{9C49BD48-5D5B-4BEC-867E-B9A32D33A0D6}"/>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Top risk pathways are shown as operating exposure, not as allegations.</a:t>
            </a:r>
          </a:p>
        </p:txBody>
      </p:sp>
      <p:sp>
        <p:nvSpPr>
          <p:cNvPr id="4" name="">
            <a:extLst xmlns:a="http://schemas.openxmlformats.org/drawingml/2006/main">
              <a:ext uri="{FF2B5EF4-FFF2-40B4-BE49-F238E27FC236}">
                <a16:creationId xmlns:a16="http://schemas.microsoft.com/office/drawing/2014/main" id="{AA0D9617-8785-42E3-8121-CD1BFD790430}"/>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49892A40-54D1-4A08-A3C8-E9586D9A58DC}"/>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6920E218-253B-40A5-B731-E7294553757D}"/>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05 / 10</a:t>
            </a:r>
          </a:p>
        </p:txBody>
      </p:sp>
      <p:sp>
        <p:nvSpPr>
          <p:cNvPr id="7" name="">
            <a:extLst xmlns:a="http://schemas.openxmlformats.org/drawingml/2006/main">
              <a:ext uri="{FF2B5EF4-FFF2-40B4-BE49-F238E27FC236}">
                <a16:creationId xmlns:a16="http://schemas.microsoft.com/office/drawing/2014/main" id="{5FE99F72-53EB-4FC1-A921-2FB4C7B4C9E5}"/>
              </a:ext>
            </a:extLst>
          </p:cNvPr>
          <p:cNvSpPr>
            <a:spLocks xmlns:a="http://schemas.openxmlformats.org/drawingml/2006/main" noGrp="1"/>
          </p:cNvSpPr>
          <p:nvPr/>
        </p:nvSpPr>
        <p:spPr>
          <a:xfrm xmlns:a="http://schemas.openxmlformats.org/drawingml/2006/main">
            <a:off x="838200" y="19812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Unauthorised system access enables transaction or record manipulation</a:t>
            </a:r>
          </a:p>
        </p:txBody>
      </p:sp>
      <p:sp>
        <p:nvSpPr>
          <p:cNvPr id="8" name="">
            <a:extLst xmlns:a="http://schemas.openxmlformats.org/drawingml/2006/main">
              <a:ext uri="{FF2B5EF4-FFF2-40B4-BE49-F238E27FC236}">
                <a16:creationId xmlns:a16="http://schemas.microsoft.com/office/drawing/2014/main" id="{BAEF42BA-836C-4EA0-9AD1-D1325379B3A9}"/>
              </a:ext>
            </a:extLst>
          </p:cNvPr>
          <p:cNvSpPr>
            <a:spLocks xmlns:a="http://schemas.openxmlformats.org/drawingml/2006/main" noGrp="1"/>
          </p:cNvSpPr>
          <p:nvPr/>
        </p:nvSpPr>
        <p:spPr>
          <a:xfrm xmlns:a="http://schemas.openxmlformats.org/drawingml/2006/main">
            <a:off x="4810125" y="205740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9" name="">
            <a:extLst xmlns:a="http://schemas.openxmlformats.org/drawingml/2006/main">
              <a:ext uri="{FF2B5EF4-FFF2-40B4-BE49-F238E27FC236}">
                <a16:creationId xmlns:a16="http://schemas.microsoft.com/office/drawing/2014/main" id="{FE1B0E48-B690-4E8D-B9D3-14DEE0FEF013}"/>
              </a:ext>
            </a:extLst>
          </p:cNvPr>
          <p:cNvSpPr>
            <a:spLocks xmlns:a="http://schemas.openxmlformats.org/drawingml/2006/main" noGrp="1"/>
          </p:cNvSpPr>
          <p:nvPr/>
        </p:nvSpPr>
        <p:spPr>
          <a:xfrm xmlns:a="http://schemas.openxmlformats.org/drawingml/2006/main">
            <a:off x="4810125" y="205740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0" name="">
            <a:extLst xmlns:a="http://schemas.openxmlformats.org/drawingml/2006/main">
              <a:ext uri="{FF2B5EF4-FFF2-40B4-BE49-F238E27FC236}">
                <a16:creationId xmlns:a16="http://schemas.microsoft.com/office/drawing/2014/main" id="{991E57BF-880B-42FD-BD45-21C48C4D5F77}"/>
              </a:ext>
            </a:extLst>
          </p:cNvPr>
          <p:cNvSpPr>
            <a:spLocks xmlns:a="http://schemas.openxmlformats.org/drawingml/2006/main" noGrp="1"/>
          </p:cNvSpPr>
          <p:nvPr/>
        </p:nvSpPr>
        <p:spPr>
          <a:xfrm xmlns:a="http://schemas.openxmlformats.org/drawingml/2006/main">
            <a:off x="8496300" y="2000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11" name="">
            <a:extLst xmlns:a="http://schemas.openxmlformats.org/drawingml/2006/main">
              <a:ext uri="{FF2B5EF4-FFF2-40B4-BE49-F238E27FC236}">
                <a16:creationId xmlns:a16="http://schemas.microsoft.com/office/drawing/2014/main" id="{C31ACF55-C0CA-4F7F-A622-D93CFE919BBC}"/>
              </a:ext>
            </a:extLst>
          </p:cNvPr>
          <p:cNvSpPr>
            <a:spLocks xmlns:a="http://schemas.openxmlformats.org/drawingml/2006/main" noGrp="1"/>
          </p:cNvSpPr>
          <p:nvPr/>
        </p:nvSpPr>
        <p:spPr>
          <a:xfrm xmlns:a="http://schemas.openxmlformats.org/drawingml/2006/main">
            <a:off x="9620250" y="198120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IT Security maintains a complete privileged-account register, links each human and service account to an owner and approved justification, enforces separate named admin identities and MFA, records privileged sessions, and sends the full population quarterly to system owners and Risk for independent keep/remove certification; removals close within 24 hours for leavers and five business days otherwise.</a:t>
            </a:r>
          </a:p>
        </p:txBody>
      </p:sp>
      <p:sp>
        <p:nvSpPr>
          <p:cNvPr id="12" name="">
            <a:extLst xmlns:a="http://schemas.openxmlformats.org/drawingml/2006/main">
              <a:ext uri="{FF2B5EF4-FFF2-40B4-BE49-F238E27FC236}">
                <a16:creationId xmlns:a16="http://schemas.microsoft.com/office/drawing/2014/main" id="{88669A93-380A-45A3-A4EE-9E9D4948FD61}"/>
              </a:ext>
            </a:extLst>
          </p:cNvPr>
          <p:cNvSpPr>
            <a:spLocks xmlns:a="http://schemas.openxmlformats.org/drawingml/2006/main" noGrp="1"/>
          </p:cNvSpPr>
          <p:nvPr/>
        </p:nvSpPr>
        <p:spPr>
          <a:xfrm xmlns:a="http://schemas.openxmlformats.org/drawingml/2006/main">
            <a:off x="838200" y="26479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Fraud Detection Capability control effectiveness risk</a:t>
            </a:r>
          </a:p>
        </p:txBody>
      </p:sp>
      <p:sp>
        <p:nvSpPr>
          <p:cNvPr id="13" name="">
            <a:extLst xmlns:a="http://schemas.openxmlformats.org/drawingml/2006/main">
              <a:ext uri="{FF2B5EF4-FFF2-40B4-BE49-F238E27FC236}">
                <a16:creationId xmlns:a16="http://schemas.microsoft.com/office/drawing/2014/main" id="{D24C32ED-82AD-45FD-9E57-DCD600F51CD6}"/>
              </a:ext>
            </a:extLst>
          </p:cNvPr>
          <p:cNvSpPr>
            <a:spLocks xmlns:a="http://schemas.openxmlformats.org/drawingml/2006/main" noGrp="1"/>
          </p:cNvSpPr>
          <p:nvPr/>
        </p:nvSpPr>
        <p:spPr>
          <a:xfrm xmlns:a="http://schemas.openxmlformats.org/drawingml/2006/main">
            <a:off x="4810125" y="272415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4" name="">
            <a:extLst xmlns:a="http://schemas.openxmlformats.org/drawingml/2006/main">
              <a:ext uri="{FF2B5EF4-FFF2-40B4-BE49-F238E27FC236}">
                <a16:creationId xmlns:a16="http://schemas.microsoft.com/office/drawing/2014/main" id="{45FDECEB-3D26-410B-89B1-C3209B72F916}"/>
              </a:ext>
            </a:extLst>
          </p:cNvPr>
          <p:cNvSpPr>
            <a:spLocks xmlns:a="http://schemas.openxmlformats.org/drawingml/2006/main" noGrp="1"/>
          </p:cNvSpPr>
          <p:nvPr/>
        </p:nvSpPr>
        <p:spPr>
          <a:xfrm xmlns:a="http://schemas.openxmlformats.org/drawingml/2006/main">
            <a:off x="4810125" y="272415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5" name="">
            <a:extLst xmlns:a="http://schemas.openxmlformats.org/drawingml/2006/main">
              <a:ext uri="{FF2B5EF4-FFF2-40B4-BE49-F238E27FC236}">
                <a16:creationId xmlns:a16="http://schemas.microsoft.com/office/drawing/2014/main" id="{AA941748-6E3F-4389-9180-CF4D9DA8FDFE}"/>
              </a:ext>
            </a:extLst>
          </p:cNvPr>
          <p:cNvSpPr>
            <a:spLocks xmlns:a="http://schemas.openxmlformats.org/drawingml/2006/main" noGrp="1"/>
          </p:cNvSpPr>
          <p:nvPr/>
        </p:nvSpPr>
        <p:spPr>
          <a:xfrm xmlns:a="http://schemas.openxmlformats.org/drawingml/2006/main">
            <a:off x="8496300" y="26670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16" name="">
            <a:extLst xmlns:a="http://schemas.openxmlformats.org/drawingml/2006/main">
              <a:ext uri="{FF2B5EF4-FFF2-40B4-BE49-F238E27FC236}">
                <a16:creationId xmlns:a16="http://schemas.microsoft.com/office/drawing/2014/main" id="{F832D516-4437-4D6B-B31A-4D9A61B2797F}"/>
              </a:ext>
            </a:extLst>
          </p:cNvPr>
          <p:cNvSpPr>
            <a:spLocks xmlns:a="http://schemas.openxmlformats.org/drawingml/2006/main" noGrp="1"/>
          </p:cNvSpPr>
          <p:nvPr/>
        </p:nvSpPr>
        <p:spPr>
          <a:xfrm xmlns:a="http://schemas.openxmlformats.org/drawingml/2006/main">
            <a:off x="9620250" y="26479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The monitoring owner must define red-flag indicators per material process — duplicate payments, round-value patterns, out-of-hours activity, unusual volume by user, adjustments reversing prior entries, and supplier or customer concentration — run them against the complete transaction population on a set rhythm, and route output into the exception queue with named reviewers and SLAs; coverage against the process fraud maps is reported to the fraud forum.</a:t>
            </a:r>
          </a:p>
        </p:txBody>
      </p:sp>
      <p:sp>
        <p:nvSpPr>
          <p:cNvPr id="17" name="">
            <a:extLst xmlns:a="http://schemas.openxmlformats.org/drawingml/2006/main">
              <a:ext uri="{FF2B5EF4-FFF2-40B4-BE49-F238E27FC236}">
                <a16:creationId xmlns:a16="http://schemas.microsoft.com/office/drawing/2014/main" id="{1CE9FB9F-AD55-4BA2-BDFE-35AEF6B6E063}"/>
              </a:ext>
            </a:extLst>
          </p:cNvPr>
          <p:cNvSpPr>
            <a:spLocks xmlns:a="http://schemas.openxmlformats.org/drawingml/2006/main" noGrp="1"/>
          </p:cNvSpPr>
          <p:nvPr/>
        </p:nvSpPr>
        <p:spPr>
          <a:xfrm xmlns:a="http://schemas.openxmlformats.org/drawingml/2006/main">
            <a:off x="838200" y="33147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Continuous Improvement and Fraud Risk Monitoring control effectiveness risk</a:t>
            </a:r>
          </a:p>
        </p:txBody>
      </p:sp>
      <p:sp>
        <p:nvSpPr>
          <p:cNvPr id="18" name="">
            <a:extLst xmlns:a="http://schemas.openxmlformats.org/drawingml/2006/main">
              <a:ext uri="{FF2B5EF4-FFF2-40B4-BE49-F238E27FC236}">
                <a16:creationId xmlns:a16="http://schemas.microsoft.com/office/drawing/2014/main" id="{139D2D2B-5E4A-4FB8-8496-A9B7CFE52147}"/>
              </a:ext>
            </a:extLst>
          </p:cNvPr>
          <p:cNvSpPr>
            <a:spLocks xmlns:a="http://schemas.openxmlformats.org/drawingml/2006/main" noGrp="1"/>
          </p:cNvSpPr>
          <p:nvPr/>
        </p:nvSpPr>
        <p:spPr>
          <a:xfrm xmlns:a="http://schemas.openxmlformats.org/drawingml/2006/main">
            <a:off x="4810125" y="339090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9" name="">
            <a:extLst xmlns:a="http://schemas.openxmlformats.org/drawingml/2006/main">
              <a:ext uri="{FF2B5EF4-FFF2-40B4-BE49-F238E27FC236}">
                <a16:creationId xmlns:a16="http://schemas.microsoft.com/office/drawing/2014/main" id="{7EADC3D6-9E8C-4A7A-8676-7B919147725D}"/>
              </a:ext>
            </a:extLst>
          </p:cNvPr>
          <p:cNvSpPr>
            <a:spLocks xmlns:a="http://schemas.openxmlformats.org/drawingml/2006/main" noGrp="1"/>
          </p:cNvSpPr>
          <p:nvPr/>
        </p:nvSpPr>
        <p:spPr>
          <a:xfrm xmlns:a="http://schemas.openxmlformats.org/drawingml/2006/main">
            <a:off x="4810125" y="339090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20" name="">
            <a:extLst xmlns:a="http://schemas.openxmlformats.org/drawingml/2006/main">
              <a:ext uri="{FF2B5EF4-FFF2-40B4-BE49-F238E27FC236}">
                <a16:creationId xmlns:a16="http://schemas.microsoft.com/office/drawing/2014/main" id="{47901C24-8EF8-4F09-AAA8-A6B9DEC21EBB}"/>
              </a:ext>
            </a:extLst>
          </p:cNvPr>
          <p:cNvSpPr>
            <a:spLocks xmlns:a="http://schemas.openxmlformats.org/drawingml/2006/main" noGrp="1"/>
          </p:cNvSpPr>
          <p:nvPr/>
        </p:nvSpPr>
        <p:spPr>
          <a:xfrm xmlns:a="http://schemas.openxmlformats.org/drawingml/2006/main">
            <a:off x="8496300" y="33337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21" name="">
            <a:extLst xmlns:a="http://schemas.openxmlformats.org/drawingml/2006/main">
              <a:ext uri="{FF2B5EF4-FFF2-40B4-BE49-F238E27FC236}">
                <a16:creationId xmlns:a16="http://schemas.microsoft.com/office/drawing/2014/main" id="{DD56A60F-7FD6-43E9-A721-2295B20CB481}"/>
              </a:ext>
            </a:extLst>
          </p:cNvPr>
          <p:cNvSpPr>
            <a:spLocks xmlns:a="http://schemas.openxmlformats.org/drawingml/2006/main" noGrp="1"/>
          </p:cNvSpPr>
          <p:nvPr/>
        </p:nvSpPr>
        <p:spPr>
          <a:xfrm xmlns:a="http://schemas.openxmlformats.org/drawingml/2006/main">
            <a:off x="9620250" y="331470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The Head of Risk must run a scheduled review that revisits the fraud risk assessment for continued relevance, confirms for each key control that it still has a named owner and is still operating by sampling recent evidence rather than accepting attestation, records any control that has lapsed or degraded, and reports a consolidated risk and control position to the governing body with owned remediation actions and due dates.</a:t>
            </a:r>
          </a:p>
        </p:txBody>
      </p:sp>
      <p:sp>
        <p:nvSpPr>
          <p:cNvPr id="22" name="">
            <a:extLst xmlns:a="http://schemas.openxmlformats.org/drawingml/2006/main">
              <a:ext uri="{FF2B5EF4-FFF2-40B4-BE49-F238E27FC236}">
                <a16:creationId xmlns:a16="http://schemas.microsoft.com/office/drawing/2014/main" id="{A4911884-1049-43BB-A321-9D15EC215030}"/>
              </a:ext>
            </a:extLst>
          </p:cNvPr>
          <p:cNvSpPr>
            <a:spLocks xmlns:a="http://schemas.openxmlformats.org/drawingml/2006/main" noGrp="1"/>
          </p:cNvSpPr>
          <p:nvPr/>
        </p:nvSpPr>
        <p:spPr>
          <a:xfrm xmlns:a="http://schemas.openxmlformats.org/drawingml/2006/main">
            <a:off x="838200" y="39814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Fraud Risk Identification control effectiveness risk</a:t>
            </a:r>
          </a:p>
        </p:txBody>
      </p:sp>
      <p:sp>
        <p:nvSpPr>
          <p:cNvPr id="23" name="">
            <a:extLst xmlns:a="http://schemas.openxmlformats.org/drawingml/2006/main">
              <a:ext uri="{FF2B5EF4-FFF2-40B4-BE49-F238E27FC236}">
                <a16:creationId xmlns:a16="http://schemas.microsoft.com/office/drawing/2014/main" id="{7B63502B-3B77-41B0-B2C5-EF7781FE10A9}"/>
              </a:ext>
            </a:extLst>
          </p:cNvPr>
          <p:cNvSpPr>
            <a:spLocks xmlns:a="http://schemas.openxmlformats.org/drawingml/2006/main" noGrp="1"/>
          </p:cNvSpPr>
          <p:nvPr/>
        </p:nvSpPr>
        <p:spPr>
          <a:xfrm xmlns:a="http://schemas.openxmlformats.org/drawingml/2006/main">
            <a:off x="4810125" y="405765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24" name="">
            <a:extLst xmlns:a="http://schemas.openxmlformats.org/drawingml/2006/main">
              <a:ext uri="{FF2B5EF4-FFF2-40B4-BE49-F238E27FC236}">
                <a16:creationId xmlns:a16="http://schemas.microsoft.com/office/drawing/2014/main" id="{99DD28A9-7DD7-4BAD-AE16-9715C778D5DE}"/>
              </a:ext>
            </a:extLst>
          </p:cNvPr>
          <p:cNvSpPr>
            <a:spLocks xmlns:a="http://schemas.openxmlformats.org/drawingml/2006/main" noGrp="1"/>
          </p:cNvSpPr>
          <p:nvPr/>
        </p:nvSpPr>
        <p:spPr>
          <a:xfrm xmlns:a="http://schemas.openxmlformats.org/drawingml/2006/main">
            <a:off x="4810125" y="405765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25" name="">
            <a:extLst xmlns:a="http://schemas.openxmlformats.org/drawingml/2006/main">
              <a:ext uri="{FF2B5EF4-FFF2-40B4-BE49-F238E27FC236}">
                <a16:creationId xmlns:a16="http://schemas.microsoft.com/office/drawing/2014/main" id="{A5AF81CE-4ED1-4764-914D-FCF80FD14597}"/>
              </a:ext>
            </a:extLst>
          </p:cNvPr>
          <p:cNvSpPr>
            <a:spLocks xmlns:a="http://schemas.openxmlformats.org/drawingml/2006/main" noGrp="1"/>
          </p:cNvSpPr>
          <p:nvPr/>
        </p:nvSpPr>
        <p:spPr>
          <a:xfrm xmlns:a="http://schemas.openxmlformats.org/drawingml/2006/main">
            <a:off x="8496300" y="40005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26" name="">
            <a:extLst xmlns:a="http://schemas.openxmlformats.org/drawingml/2006/main">
              <a:ext uri="{FF2B5EF4-FFF2-40B4-BE49-F238E27FC236}">
                <a16:creationId xmlns:a16="http://schemas.microsoft.com/office/drawing/2014/main" id="{7126832C-207E-47AC-9082-F3345989DB1E}"/>
              </a:ext>
            </a:extLst>
          </p:cNvPr>
          <p:cNvSpPr>
            <a:spLocks xmlns:a="http://schemas.openxmlformats.org/drawingml/2006/main" noGrp="1"/>
          </p:cNvSpPr>
          <p:nvPr/>
        </p:nvSpPr>
        <p:spPr>
          <a:xfrm xmlns:a="http://schemas.openxmlformats.org/drawingml/2006/main">
            <a:off x="9620250" y="39814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The Head of Risk must run a documented fraud risk assessment at least every two years using a repeatable method: scope the material processes and channels, identify fraud scenarios per process with the roles able to execute them, rate likelihood and impact before and after existing controls, name a treatment owner and due date for every unacceptable residual risk, and obtain governing-body approval of the plan; assessment date, participants and method are retained.</a:t>
            </a:r>
          </a:p>
        </p:txBody>
      </p:sp>
      <p:sp>
        <p:nvSpPr>
          <p:cNvPr id="27" name="">
            <a:extLst xmlns:a="http://schemas.openxmlformats.org/drawingml/2006/main">
              <a:ext uri="{FF2B5EF4-FFF2-40B4-BE49-F238E27FC236}">
                <a16:creationId xmlns:a16="http://schemas.microsoft.com/office/drawing/2014/main" id="{CD28982B-E6AE-4FB1-B7BB-1093CDD9FCC2}"/>
              </a:ext>
            </a:extLst>
          </p:cNvPr>
          <p:cNvSpPr>
            <a:spLocks xmlns:a="http://schemas.openxmlformats.org/drawingml/2006/main" noGrp="1"/>
          </p:cNvSpPr>
          <p:nvPr/>
        </p:nvSpPr>
        <p:spPr>
          <a:xfrm xmlns:a="http://schemas.openxmlformats.org/drawingml/2006/main">
            <a:off x="838200" y="46482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Digital and Identity Fraud Risk control effectiveness risk</a:t>
            </a:r>
          </a:p>
        </p:txBody>
      </p:sp>
      <p:sp>
        <p:nvSpPr>
          <p:cNvPr id="28" name="">
            <a:extLst xmlns:a="http://schemas.openxmlformats.org/drawingml/2006/main">
              <a:ext uri="{FF2B5EF4-FFF2-40B4-BE49-F238E27FC236}">
                <a16:creationId xmlns:a16="http://schemas.microsoft.com/office/drawing/2014/main" id="{D1C66875-7D3B-403B-A32B-72B703DB74EC}"/>
              </a:ext>
            </a:extLst>
          </p:cNvPr>
          <p:cNvSpPr>
            <a:spLocks xmlns:a="http://schemas.openxmlformats.org/drawingml/2006/main" noGrp="1"/>
          </p:cNvSpPr>
          <p:nvPr/>
        </p:nvSpPr>
        <p:spPr>
          <a:xfrm xmlns:a="http://schemas.openxmlformats.org/drawingml/2006/main">
            <a:off x="4810125" y="472440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29" name="">
            <a:extLst xmlns:a="http://schemas.openxmlformats.org/drawingml/2006/main">
              <a:ext uri="{FF2B5EF4-FFF2-40B4-BE49-F238E27FC236}">
                <a16:creationId xmlns:a16="http://schemas.microsoft.com/office/drawing/2014/main" id="{24CA9512-9942-426B-8F6F-CCAED5AE49BE}"/>
              </a:ext>
            </a:extLst>
          </p:cNvPr>
          <p:cNvSpPr>
            <a:spLocks xmlns:a="http://schemas.openxmlformats.org/drawingml/2006/main" noGrp="1"/>
          </p:cNvSpPr>
          <p:nvPr/>
        </p:nvSpPr>
        <p:spPr>
          <a:xfrm xmlns:a="http://schemas.openxmlformats.org/drawingml/2006/main">
            <a:off x="4810125" y="472440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30" name="">
            <a:extLst xmlns:a="http://schemas.openxmlformats.org/drawingml/2006/main">
              <a:ext uri="{FF2B5EF4-FFF2-40B4-BE49-F238E27FC236}">
                <a16:creationId xmlns:a16="http://schemas.microsoft.com/office/drawing/2014/main" id="{28316039-6DAF-44D3-A829-7FA5CB249FFB}"/>
              </a:ext>
            </a:extLst>
          </p:cNvPr>
          <p:cNvSpPr>
            <a:spLocks xmlns:a="http://schemas.openxmlformats.org/drawingml/2006/main" noGrp="1"/>
          </p:cNvSpPr>
          <p:nvPr/>
        </p:nvSpPr>
        <p:spPr>
          <a:xfrm xmlns:a="http://schemas.openxmlformats.org/drawingml/2006/main">
            <a:off x="8496300" y="4667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31" name="">
            <a:extLst xmlns:a="http://schemas.openxmlformats.org/drawingml/2006/main">
              <a:ext uri="{FF2B5EF4-FFF2-40B4-BE49-F238E27FC236}">
                <a16:creationId xmlns:a16="http://schemas.microsoft.com/office/drawing/2014/main" id="{BE380459-74F4-41D2-B2E3-AD2C99F90981}"/>
              </a:ext>
            </a:extLst>
          </p:cNvPr>
          <p:cNvSpPr>
            <a:spLocks xmlns:a="http://schemas.openxmlformats.org/drawingml/2006/main" noGrp="1"/>
          </p:cNvSpPr>
          <p:nvPr/>
        </p:nvSpPr>
        <p:spPr>
          <a:xfrm xmlns:a="http://schemas.openxmlformats.org/drawingml/2006/main">
            <a:off x="9620250" y="464820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The process owner must define the risk points requiring verification — customer or beneficiary enrolment, employee onboarding, supplier activation and counterparty contracting — and apply proportionate checks against independent sources such as identity documents validated for authenticity, company registration records, and confirmation of contact details through independently obtained channels; results and evidence are retained under applicable data-protection obligations, exceptions require documented approval, and sensitive profile or banking changes trigger re-verification.</a:t>
            </a:r>
          </a:p>
        </p:txBody>
      </p:sp>
    </p:spTree>
    <p:extLst>
      <p:ext uri="{BB962C8B-B14F-4D97-AF65-F5344CB8AC3E}">
        <p14:creationId xmlns:p14="http://schemas.microsoft.com/office/powerpoint/2010/main" val="870987989"/>
      </p:ext>
    </p:extLst>
  </p:cSld>
</p:sld>
</file>

<file path=ppt/slides/slide6.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DF7EEB3-D65F-48DA-BBCD-B53616897FE1}"/>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06</a:t>
            </a:r>
          </a:p>
        </p:txBody>
      </p:sp>
      <p:sp>
        <p:nvSpPr>
          <p:cNvPr id="2" name="">
            <a:extLst xmlns:a="http://schemas.openxmlformats.org/drawingml/2006/main">
              <a:ext uri="{FF2B5EF4-FFF2-40B4-BE49-F238E27FC236}">
                <a16:creationId xmlns:a16="http://schemas.microsoft.com/office/drawing/2014/main" id="{AC71417E-F11E-406D-A3F6-D4B1102E0177}"/>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Three plausible pathways show how control gaps can compound.</a:t>
            </a:r>
          </a:p>
        </p:txBody>
      </p:sp>
      <p:sp>
        <p:nvSpPr>
          <p:cNvPr id="3" name="">
            <a:extLst xmlns:a="http://schemas.openxmlformats.org/drawingml/2006/main">
              <a:ext uri="{FF2B5EF4-FFF2-40B4-BE49-F238E27FC236}">
                <a16:creationId xmlns:a16="http://schemas.microsoft.com/office/drawing/2014/main" id="{BC363386-8F85-4C64-9AC3-056AC0E3813A}"/>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Scenario logic helps management test prevention, detection and containment together.</a:t>
            </a:r>
          </a:p>
        </p:txBody>
      </p:sp>
      <p:sp>
        <p:nvSpPr>
          <p:cNvPr id="4" name="">
            <a:extLst xmlns:a="http://schemas.openxmlformats.org/drawingml/2006/main">
              <a:ext uri="{FF2B5EF4-FFF2-40B4-BE49-F238E27FC236}">
                <a16:creationId xmlns:a16="http://schemas.microsoft.com/office/drawing/2014/main" id="{DB943D7A-E9E5-4154-B61F-A45F3DC4C0B5}"/>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BF068449-8EDC-492E-9714-52752A563A5B}"/>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707BB9FB-DE56-4606-9AC4-EBE055C318CD}"/>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06 / 10</a:t>
            </a:r>
          </a:p>
        </p:txBody>
      </p:sp>
      <p:sp>
        <p:nvSpPr>
          <p:cNvPr id="7" name="">
            <a:extLst xmlns:a="http://schemas.openxmlformats.org/drawingml/2006/main">
              <a:ext uri="{FF2B5EF4-FFF2-40B4-BE49-F238E27FC236}">
                <a16:creationId xmlns:a16="http://schemas.microsoft.com/office/drawing/2014/main" id="{239D00F1-8C0C-4D6D-90F1-41F5EBBAF2E4}"/>
              </a:ext>
            </a:extLst>
          </p:cNvPr>
          <p:cNvSpPr>
            <a:spLocks xmlns:a="http://schemas.openxmlformats.org/drawingml/2006/main" noGrp="1"/>
          </p:cNvSpPr>
          <p:nvPr/>
        </p:nvSpPr>
        <p:spPr>
          <a:xfrm xmlns:a="http://schemas.openxmlformats.org/drawingml/2006/main">
            <a:off x="762000" y="2095500"/>
            <a:ext cx="3143250" cy="2857500"/>
          </a:xfrm>
          <a:prstGeom xmlns:a="http://schemas.openxmlformats.org/drawingml/2006/main" prst="roundRect">
            <a:avLst>
              <a:gd name="adj" fmla="val 4000"/>
            </a:avLst>
          </a:prstGeom>
          <a:solidFill xmlns:a="http://schemas.openxmlformats.org/drawingml/2006/main">
            <a:srgbClr val="FBF9F5"/>
          </a:solidFill>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569776DA-A87C-411E-BAFF-E226EAA3352E}"/>
              </a:ext>
            </a:extLst>
          </p:cNvPr>
          <p:cNvSpPr>
            <a:spLocks xmlns:a="http://schemas.openxmlformats.org/drawingml/2006/main" noGrp="1"/>
          </p:cNvSpPr>
          <p:nvPr/>
        </p:nvSpPr>
        <p:spPr>
          <a:xfrm xmlns:a="http://schemas.openxmlformats.org/drawingml/2006/main">
            <a:off x="971550" y="2286000"/>
            <a:ext cx="685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C9A227"/>
                </a:solidFill>
              </a:defRPr>
            </a:pPr>
            <a:r>
              <a:rPr sz="1950" b="1">
                <a:solidFill>
                  <a:srgbClr val="C9A227"/>
                </a:solidFill>
              </a:rPr>
              <a:t>01</a:t>
            </a:r>
          </a:p>
        </p:txBody>
      </p:sp>
      <p:sp>
        <p:nvSpPr>
          <p:cNvPr id="9" name="">
            <a:extLst xmlns:a="http://schemas.openxmlformats.org/drawingml/2006/main">
              <a:ext uri="{FF2B5EF4-FFF2-40B4-BE49-F238E27FC236}">
                <a16:creationId xmlns:a16="http://schemas.microsoft.com/office/drawing/2014/main" id="{69FEEBA1-B39D-4DD9-8D6C-35D74973F295}"/>
              </a:ext>
            </a:extLst>
          </p:cNvPr>
          <p:cNvSpPr>
            <a:spLocks xmlns:a="http://schemas.openxmlformats.org/drawingml/2006/main" noGrp="1"/>
          </p:cNvSpPr>
          <p:nvPr/>
        </p:nvSpPr>
        <p:spPr>
          <a:xfrm xmlns:a="http://schemas.openxmlformats.org/drawingml/2006/main">
            <a:off x="971550" y="2781300"/>
            <a:ext cx="266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Without deliberate monitoring, fraud is found only by accident, complaint or external notification, typically long after the loss has compounded</a:t>
            </a:r>
          </a:p>
        </p:txBody>
      </p:sp>
      <p:sp>
        <p:nvSpPr>
          <p:cNvPr id="10" name="">
            <a:extLst xmlns:a="http://schemas.openxmlformats.org/drawingml/2006/main">
              <a:ext uri="{FF2B5EF4-FFF2-40B4-BE49-F238E27FC236}">
                <a16:creationId xmlns:a16="http://schemas.microsoft.com/office/drawing/2014/main" id="{45F59008-244F-4663-9762-4B53D79B9495}"/>
              </a:ext>
            </a:extLst>
          </p:cNvPr>
          <p:cNvSpPr>
            <a:spLocks xmlns:a="http://schemas.openxmlformats.org/drawingml/2006/main" noGrp="1"/>
          </p:cNvSpPr>
          <p:nvPr/>
        </p:nvSpPr>
        <p:spPr>
          <a:xfrm xmlns:a="http://schemas.openxmlformats.org/drawingml/2006/main">
            <a:off x="971550" y="360045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An interaction covered by the recorded control condition: Fraud Detection Capability: The organisation monitors transactions or operational activity for unusual patterns, anomalies or red flags.</a:t>
            </a:r>
          </a:p>
        </p:txBody>
      </p:sp>
      <p:sp>
        <p:nvSpPr>
          <p:cNvPr id="11" name="">
            <a:extLst xmlns:a="http://schemas.openxmlformats.org/drawingml/2006/main">
              <a:ext uri="{FF2B5EF4-FFF2-40B4-BE49-F238E27FC236}">
                <a16:creationId xmlns:a16="http://schemas.microsoft.com/office/drawing/2014/main" id="{16614365-A37C-44FD-AF3B-506456DE9950}"/>
              </a:ext>
            </a:extLst>
          </p:cNvPr>
          <p:cNvSpPr>
            <a:spLocks xmlns:a="http://schemas.openxmlformats.org/drawingml/2006/main" noGrp="1"/>
          </p:cNvSpPr>
          <p:nvPr/>
        </p:nvSpPr>
        <p:spPr>
          <a:xfrm xmlns:a="http://schemas.openxmlformats.org/drawingml/2006/main">
            <a:off x="971550" y="40386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An actor exploits the recorded control condition so that without deliberate monitoring, fraud is found only by accident, complaint or external notification, typically long after the loss has compounded.</a:t>
            </a:r>
          </a:p>
        </p:txBody>
      </p:sp>
      <p:sp>
        <p:nvSpPr>
          <p:cNvPr id="12" name="">
            <a:extLst xmlns:a="http://schemas.openxmlformats.org/drawingml/2006/main">
              <a:ext uri="{FF2B5EF4-FFF2-40B4-BE49-F238E27FC236}">
                <a16:creationId xmlns:a16="http://schemas.microsoft.com/office/drawing/2014/main" id="{D352FAA7-9E47-4DEC-B615-0C54D33EA4C9}"/>
              </a:ext>
            </a:extLst>
          </p:cNvPr>
          <p:cNvSpPr>
            <a:spLocks xmlns:a="http://schemas.openxmlformats.org/drawingml/2006/main" noGrp="1"/>
          </p:cNvSpPr>
          <p:nvPr/>
        </p:nvSpPr>
        <p:spPr>
          <a:xfrm xmlns:a="http://schemas.openxmlformats.org/drawingml/2006/main">
            <a:off x="4286250" y="2095500"/>
            <a:ext cx="3143250" cy="2857500"/>
          </a:xfrm>
          <a:prstGeom xmlns:a="http://schemas.openxmlformats.org/drawingml/2006/main" prst="roundRect">
            <a:avLst>
              <a:gd name="adj" fmla="val 4000"/>
            </a:avLst>
          </a:prstGeom>
          <a:solidFill xmlns:a="http://schemas.openxmlformats.org/drawingml/2006/main">
            <a:srgbClr val="FDF4E7"/>
          </a:solidFill>
          <a:ln xmlns:a="http://schemas.openxmlformats.org/drawingml/2006/main" w="9525">
            <a:solidFill>
              <a:srgbClr val="D9E1E7"/>
            </a:solidFill>
            <a:prstDash val="solid"/>
          </a:ln>
        </p:spPr>
      </p:sp>
      <p:sp>
        <p:nvSpPr>
          <p:cNvPr id="13" name="">
            <a:extLst xmlns:a="http://schemas.openxmlformats.org/drawingml/2006/main">
              <a:ext uri="{FF2B5EF4-FFF2-40B4-BE49-F238E27FC236}">
                <a16:creationId xmlns:a16="http://schemas.microsoft.com/office/drawing/2014/main" id="{655F90A3-0684-45D6-A41B-07CBB36E8701}"/>
              </a:ext>
            </a:extLst>
          </p:cNvPr>
          <p:cNvSpPr>
            <a:spLocks xmlns:a="http://schemas.openxmlformats.org/drawingml/2006/main" noGrp="1"/>
          </p:cNvSpPr>
          <p:nvPr/>
        </p:nvSpPr>
        <p:spPr>
          <a:xfrm xmlns:a="http://schemas.openxmlformats.org/drawingml/2006/main">
            <a:off x="4495800" y="2286000"/>
            <a:ext cx="685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C9A227"/>
                </a:solidFill>
              </a:defRPr>
            </a:pPr>
            <a:r>
              <a:rPr sz="1950" b="1">
                <a:solidFill>
                  <a:srgbClr val="C9A227"/>
                </a:solidFill>
              </a:rPr>
              <a:t>02</a:t>
            </a:r>
          </a:p>
        </p:txBody>
      </p:sp>
      <p:sp>
        <p:nvSpPr>
          <p:cNvPr id="14" name="">
            <a:extLst xmlns:a="http://schemas.openxmlformats.org/drawingml/2006/main">
              <a:ext uri="{FF2B5EF4-FFF2-40B4-BE49-F238E27FC236}">
                <a16:creationId xmlns:a16="http://schemas.microsoft.com/office/drawing/2014/main" id="{66F757CC-C9E5-41A5-927F-4496D4E35EF6}"/>
              </a:ext>
            </a:extLst>
          </p:cNvPr>
          <p:cNvSpPr>
            <a:spLocks xmlns:a="http://schemas.openxmlformats.org/drawingml/2006/main" noGrp="1"/>
          </p:cNvSpPr>
          <p:nvPr/>
        </p:nvSpPr>
        <p:spPr>
          <a:xfrm xmlns:a="http://schemas.openxmlformats.org/drawingml/2006/main">
            <a:off x="4495800" y="2781300"/>
            <a:ext cx="266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Controls decay quietly through staff turnover, system change and workload pressure, so a control believed to be operating may have lapsed months earlier</a:t>
            </a:r>
          </a:p>
        </p:txBody>
      </p:sp>
      <p:sp>
        <p:nvSpPr>
          <p:cNvPr id="15" name="">
            <a:extLst xmlns:a="http://schemas.openxmlformats.org/drawingml/2006/main">
              <a:ext uri="{FF2B5EF4-FFF2-40B4-BE49-F238E27FC236}">
                <a16:creationId xmlns:a16="http://schemas.microsoft.com/office/drawing/2014/main" id="{15045D8D-74C8-40C6-B787-BC178E5D0A8E}"/>
              </a:ext>
            </a:extLst>
          </p:cNvPr>
          <p:cNvSpPr>
            <a:spLocks xmlns:a="http://schemas.openxmlformats.org/drawingml/2006/main" noGrp="1"/>
          </p:cNvSpPr>
          <p:nvPr/>
        </p:nvSpPr>
        <p:spPr>
          <a:xfrm xmlns:a="http://schemas.openxmlformats.org/drawingml/2006/main">
            <a:off x="4495800" y="360045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An interaction covered by the recorded control condition: Continuous Improvement and Fraud Risk Monitoring: The organisation periodically reviews its fraud risks and control environment.</a:t>
            </a:r>
          </a:p>
        </p:txBody>
      </p:sp>
      <p:sp>
        <p:nvSpPr>
          <p:cNvPr id="16" name="">
            <a:extLst xmlns:a="http://schemas.openxmlformats.org/drawingml/2006/main">
              <a:ext uri="{FF2B5EF4-FFF2-40B4-BE49-F238E27FC236}">
                <a16:creationId xmlns:a16="http://schemas.microsoft.com/office/drawing/2014/main" id="{F1ADE9AA-09F4-492E-93F8-0AA2E0EFE8AF}"/>
              </a:ext>
            </a:extLst>
          </p:cNvPr>
          <p:cNvSpPr>
            <a:spLocks xmlns:a="http://schemas.openxmlformats.org/drawingml/2006/main" noGrp="1"/>
          </p:cNvSpPr>
          <p:nvPr/>
        </p:nvSpPr>
        <p:spPr>
          <a:xfrm xmlns:a="http://schemas.openxmlformats.org/drawingml/2006/main">
            <a:off x="4495800" y="40386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An actor exploits the recorded control condition so that controls decay quietly through staff turnover, system change and workload pressure, so a control believed to be operating may have lapsed months earlier.</a:t>
            </a:r>
          </a:p>
        </p:txBody>
      </p:sp>
      <p:sp>
        <p:nvSpPr>
          <p:cNvPr id="17" name="">
            <a:extLst xmlns:a="http://schemas.openxmlformats.org/drawingml/2006/main">
              <a:ext uri="{FF2B5EF4-FFF2-40B4-BE49-F238E27FC236}">
                <a16:creationId xmlns:a16="http://schemas.microsoft.com/office/drawing/2014/main" id="{E62ABA01-749A-4B4A-A945-9C978D05FF83}"/>
              </a:ext>
            </a:extLst>
          </p:cNvPr>
          <p:cNvSpPr>
            <a:spLocks xmlns:a="http://schemas.openxmlformats.org/drawingml/2006/main" noGrp="1"/>
          </p:cNvSpPr>
          <p:nvPr/>
        </p:nvSpPr>
        <p:spPr>
          <a:xfrm xmlns:a="http://schemas.openxmlformats.org/drawingml/2006/main">
            <a:off x="7810500" y="2095500"/>
            <a:ext cx="3143250" cy="2857500"/>
          </a:xfrm>
          <a:prstGeom xmlns:a="http://schemas.openxmlformats.org/drawingml/2006/main" prst="roundRect">
            <a:avLst>
              <a:gd name="adj" fmla="val 4000"/>
            </a:avLst>
          </a:prstGeom>
          <a:solidFill xmlns:a="http://schemas.openxmlformats.org/drawingml/2006/main">
            <a:srgbClr val="FBEDED"/>
          </a:solidFill>
          <a:ln xmlns:a="http://schemas.openxmlformats.org/drawingml/2006/main" w="9525">
            <a:solidFill>
              <a:srgbClr val="D9E1E7"/>
            </a:solidFill>
            <a:prstDash val="solid"/>
          </a:ln>
        </p:spPr>
      </p:sp>
      <p:sp>
        <p:nvSpPr>
          <p:cNvPr id="18" name="">
            <a:extLst xmlns:a="http://schemas.openxmlformats.org/drawingml/2006/main">
              <a:ext uri="{FF2B5EF4-FFF2-40B4-BE49-F238E27FC236}">
                <a16:creationId xmlns:a16="http://schemas.microsoft.com/office/drawing/2014/main" id="{945D02BD-E082-44A8-9256-4C0C32E0B4A9}"/>
              </a:ext>
            </a:extLst>
          </p:cNvPr>
          <p:cNvSpPr>
            <a:spLocks xmlns:a="http://schemas.openxmlformats.org/drawingml/2006/main" noGrp="1"/>
          </p:cNvSpPr>
          <p:nvPr/>
        </p:nvSpPr>
        <p:spPr>
          <a:xfrm xmlns:a="http://schemas.openxmlformats.org/drawingml/2006/main">
            <a:off x="8020050" y="2286000"/>
            <a:ext cx="685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A32020"/>
                </a:solidFill>
              </a:defRPr>
            </a:pPr>
            <a:r>
              <a:rPr sz="1950" b="1">
                <a:solidFill>
                  <a:srgbClr val="A32020"/>
                </a:solidFill>
              </a:rPr>
              <a:t>03</a:t>
            </a:r>
          </a:p>
        </p:txBody>
      </p:sp>
      <p:sp>
        <p:nvSpPr>
          <p:cNvPr id="19" name="">
            <a:extLst xmlns:a="http://schemas.openxmlformats.org/drawingml/2006/main">
              <a:ext uri="{FF2B5EF4-FFF2-40B4-BE49-F238E27FC236}">
                <a16:creationId xmlns:a16="http://schemas.microsoft.com/office/drawing/2014/main" id="{AC4E0432-47D6-48EB-8ABF-A6EA6F1896B0}"/>
              </a:ext>
            </a:extLst>
          </p:cNvPr>
          <p:cNvSpPr>
            <a:spLocks xmlns:a="http://schemas.openxmlformats.org/drawingml/2006/main" noGrp="1"/>
          </p:cNvSpPr>
          <p:nvPr/>
        </p:nvSpPr>
        <p:spPr>
          <a:xfrm xmlns:a="http://schemas.openxmlformats.org/drawingml/2006/main">
            <a:off x="8020050" y="2781300"/>
            <a:ext cx="266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Without a current structured assessment, control investment follows intuition and recent events, leaving whole exposure areas unexamined and unfunded</a:t>
            </a:r>
          </a:p>
        </p:txBody>
      </p:sp>
      <p:sp>
        <p:nvSpPr>
          <p:cNvPr id="20" name="">
            <a:extLst xmlns:a="http://schemas.openxmlformats.org/drawingml/2006/main">
              <a:ext uri="{FF2B5EF4-FFF2-40B4-BE49-F238E27FC236}">
                <a16:creationId xmlns:a16="http://schemas.microsoft.com/office/drawing/2014/main" id="{C383EE82-D1DF-4A8B-B50F-5166CA7B42A4}"/>
              </a:ext>
            </a:extLst>
          </p:cNvPr>
          <p:cNvSpPr>
            <a:spLocks xmlns:a="http://schemas.openxmlformats.org/drawingml/2006/main" noGrp="1"/>
          </p:cNvSpPr>
          <p:nvPr/>
        </p:nvSpPr>
        <p:spPr>
          <a:xfrm xmlns:a="http://schemas.openxmlformats.org/drawingml/2006/main">
            <a:off x="8020050" y="360045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An interaction covered by the recorded control condition: Fraud Risk Identification: The organisation has completed a structured fraud risk assessment within the past two years.</a:t>
            </a:r>
          </a:p>
        </p:txBody>
      </p:sp>
      <p:sp>
        <p:nvSpPr>
          <p:cNvPr id="21" name="">
            <a:extLst xmlns:a="http://schemas.openxmlformats.org/drawingml/2006/main">
              <a:ext uri="{FF2B5EF4-FFF2-40B4-BE49-F238E27FC236}">
                <a16:creationId xmlns:a16="http://schemas.microsoft.com/office/drawing/2014/main" id="{00713B78-36E7-4DE5-ACB9-BF6F9CE7745D}"/>
              </a:ext>
            </a:extLst>
          </p:cNvPr>
          <p:cNvSpPr>
            <a:spLocks xmlns:a="http://schemas.openxmlformats.org/drawingml/2006/main" noGrp="1"/>
          </p:cNvSpPr>
          <p:nvPr/>
        </p:nvSpPr>
        <p:spPr>
          <a:xfrm xmlns:a="http://schemas.openxmlformats.org/drawingml/2006/main">
            <a:off x="8020050" y="40386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An actor exploits the recorded control condition so that without a current structured assessment, control investment follows intuition and recent events, leaving whole exposure areas unexamined and unfunded.</a:t>
            </a:r>
          </a:p>
        </p:txBody>
      </p:sp>
    </p:spTree>
    <p:extLst>
      <p:ext uri="{BB962C8B-B14F-4D97-AF65-F5344CB8AC3E}">
        <p14:creationId xmlns:p14="http://schemas.microsoft.com/office/powerpoint/2010/main" val="1723682602"/>
      </p:ext>
    </p:extLst>
  </p:cSld>
</p:sld>
</file>

<file path=ppt/slides/slide7.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C375A53-7EA3-462C-8F38-F914B267E540}"/>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07</a:t>
            </a:r>
          </a:p>
        </p:txBody>
      </p:sp>
      <p:sp>
        <p:nvSpPr>
          <p:cNvPr id="2" name="">
            <a:extLst xmlns:a="http://schemas.openxmlformats.org/drawingml/2006/main">
              <a:ext uri="{FF2B5EF4-FFF2-40B4-BE49-F238E27FC236}">
                <a16:creationId xmlns:a16="http://schemas.microsoft.com/office/drawing/2014/main" id="{B7F14808-F95A-4381-B00A-DA5F42ABF4DE}"/>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Management must choose how to close the access-review gap.</a:t>
            </a:r>
          </a:p>
        </p:txBody>
      </p:sp>
      <p:sp>
        <p:nvSpPr>
          <p:cNvPr id="3" name="">
            <a:extLst xmlns:a="http://schemas.openxmlformats.org/drawingml/2006/main">
              <a:ext uri="{FF2B5EF4-FFF2-40B4-BE49-F238E27FC236}">
                <a16:creationId xmlns:a16="http://schemas.microsoft.com/office/drawing/2014/main" id="{AF305EEB-A1A2-41AB-9622-78E3579485FE}"/>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Options and trade-offs make the decision explicit before the action plan is agreed.</a:t>
            </a:r>
          </a:p>
        </p:txBody>
      </p:sp>
      <p:sp>
        <p:nvSpPr>
          <p:cNvPr id="4" name="">
            <a:extLst xmlns:a="http://schemas.openxmlformats.org/drawingml/2006/main">
              <a:ext uri="{FF2B5EF4-FFF2-40B4-BE49-F238E27FC236}">
                <a16:creationId xmlns:a16="http://schemas.microsoft.com/office/drawing/2014/main" id="{C0A26F38-F4BD-48B9-A38F-6CE7DC41BE46}"/>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C6CD08C2-D00F-4446-8F9C-A5B7C974A6E1}"/>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689C6847-6730-4AAB-AF04-EF801C6AA52F}"/>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07 / 10</a:t>
            </a:r>
          </a:p>
        </p:txBody>
      </p:sp>
      <p:sp>
        <p:nvSpPr>
          <p:cNvPr id="7" name="">
            <a:extLst xmlns:a="http://schemas.openxmlformats.org/drawingml/2006/main">
              <a:ext uri="{FF2B5EF4-FFF2-40B4-BE49-F238E27FC236}">
                <a16:creationId xmlns:a16="http://schemas.microsoft.com/office/drawing/2014/main" id="{42EF7A66-1E5B-4B6F-8C81-68BEF4661FD6}"/>
              </a:ext>
            </a:extLst>
          </p:cNvPr>
          <p:cNvSpPr>
            <a:spLocks xmlns:a="http://schemas.openxmlformats.org/drawingml/2006/main" noGrp="1"/>
          </p:cNvSpPr>
          <p:nvPr/>
        </p:nvSpPr>
        <p:spPr>
          <a:xfrm xmlns:a="http://schemas.openxmlformats.org/drawingml/2006/main">
            <a:off x="838200" y="20193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Action accepted by management and scheduled: define and implement red-flag monitoring for vendor master data changes, depot stock adjustments and payroll master changes, with a first coverage report to the Audit and Risk Committee.</a:t>
            </a:r>
          </a:p>
        </p:txBody>
      </p:sp>
      <p:sp>
        <p:nvSpPr>
          <p:cNvPr id="8" name="">
            <a:extLst xmlns:a="http://schemas.openxmlformats.org/drawingml/2006/main">
              <a:ext uri="{FF2B5EF4-FFF2-40B4-BE49-F238E27FC236}">
                <a16:creationId xmlns:a16="http://schemas.microsoft.com/office/drawing/2014/main" id="{9A51EEEE-3879-45D5-B4F8-A38A935AF3B1}"/>
              </a:ext>
            </a:extLst>
          </p:cNvPr>
          <p:cNvSpPr>
            <a:spLocks xmlns:a="http://schemas.openxmlformats.org/drawingml/2006/main" noGrp="1"/>
          </p:cNvSpPr>
          <p:nvPr/>
        </p:nvSpPr>
        <p:spPr>
          <a:xfrm xmlns:a="http://schemas.openxmlformats.org/drawingml/2006/main">
            <a:off x="838200" y="2971800"/>
            <a:ext cx="2809875" cy="1524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9E1E7"/>
            </a:solidFill>
            <a:prstDash val="solid"/>
          </a:ln>
        </p:spPr>
      </p:sp>
      <p:sp>
        <p:nvSpPr>
          <p:cNvPr id="9" name="">
            <a:extLst xmlns:a="http://schemas.openxmlformats.org/drawingml/2006/main">
              <a:ext uri="{FF2B5EF4-FFF2-40B4-BE49-F238E27FC236}">
                <a16:creationId xmlns:a16="http://schemas.microsoft.com/office/drawing/2014/main" id="{5102EDE3-274D-492D-A899-7D5BB592C090}"/>
              </a:ext>
            </a:extLst>
          </p:cNvPr>
          <p:cNvSpPr>
            <a:spLocks xmlns:a="http://schemas.openxmlformats.org/drawingml/2006/main" noGrp="1"/>
          </p:cNvSpPr>
          <p:nvPr/>
        </p:nvSpPr>
        <p:spPr>
          <a:xfrm xmlns:a="http://schemas.openxmlformats.org/drawingml/2006/main">
            <a:off x="1028700" y="31623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OPTION A</a:t>
            </a:r>
          </a:p>
        </p:txBody>
      </p:sp>
      <p:sp>
        <p:nvSpPr>
          <p:cNvPr id="10" name="">
            <a:extLst xmlns:a="http://schemas.openxmlformats.org/drawingml/2006/main">
              <a:ext uri="{FF2B5EF4-FFF2-40B4-BE49-F238E27FC236}">
                <a16:creationId xmlns:a16="http://schemas.microsoft.com/office/drawing/2014/main" id="{0F5B2ED4-CD24-4A98-B2C7-22774958D632}"/>
              </a:ext>
            </a:extLst>
          </p:cNvPr>
          <p:cNvSpPr>
            <a:spLocks xmlns:a="http://schemas.openxmlformats.org/drawingml/2006/main" noGrp="1"/>
          </p:cNvSpPr>
          <p:nvPr/>
        </p:nvSpPr>
        <p:spPr>
          <a:xfrm xmlns:a="http://schemas.openxmlformats.org/drawingml/2006/main">
            <a:off x="1028700" y="35433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Build internal capability</a:t>
            </a:r>
          </a:p>
        </p:txBody>
      </p:sp>
      <p:sp>
        <p:nvSpPr>
          <p:cNvPr id="11" name="">
            <a:extLst xmlns:a="http://schemas.openxmlformats.org/drawingml/2006/main">
              <a:ext uri="{FF2B5EF4-FFF2-40B4-BE49-F238E27FC236}">
                <a16:creationId xmlns:a16="http://schemas.microsoft.com/office/drawing/2014/main" id="{7EDC4441-2026-4C21-8393-732E120F2671}"/>
              </a:ext>
            </a:extLst>
          </p:cNvPr>
          <p:cNvSpPr>
            <a:spLocks xmlns:a="http://schemas.openxmlformats.org/drawingml/2006/main" noGrp="1"/>
          </p:cNvSpPr>
          <p:nvPr/>
        </p:nvSpPr>
        <p:spPr>
          <a:xfrm xmlns:a="http://schemas.openxmlformats.org/drawingml/2006/main">
            <a:off x="4029075" y="2971800"/>
            <a:ext cx="2809875" cy="1524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9E1E7"/>
            </a:solidFill>
            <a:prstDash val="solid"/>
          </a:ln>
        </p:spPr>
      </p:sp>
      <p:sp>
        <p:nvSpPr>
          <p:cNvPr id="12" name="">
            <a:extLst xmlns:a="http://schemas.openxmlformats.org/drawingml/2006/main">
              <a:ext uri="{FF2B5EF4-FFF2-40B4-BE49-F238E27FC236}">
                <a16:creationId xmlns:a16="http://schemas.microsoft.com/office/drawing/2014/main" id="{DBEBD936-6FBE-4F36-BE6E-C1B71DD652A2}"/>
              </a:ext>
            </a:extLst>
          </p:cNvPr>
          <p:cNvSpPr>
            <a:spLocks xmlns:a="http://schemas.openxmlformats.org/drawingml/2006/main" noGrp="1"/>
          </p:cNvSpPr>
          <p:nvPr/>
        </p:nvSpPr>
        <p:spPr>
          <a:xfrm xmlns:a="http://schemas.openxmlformats.org/drawingml/2006/main">
            <a:off x="4219575" y="31623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OPTION B</a:t>
            </a:r>
          </a:p>
        </p:txBody>
      </p:sp>
      <p:sp>
        <p:nvSpPr>
          <p:cNvPr id="13" name="">
            <a:extLst xmlns:a="http://schemas.openxmlformats.org/drawingml/2006/main">
              <a:ext uri="{FF2B5EF4-FFF2-40B4-BE49-F238E27FC236}">
                <a16:creationId xmlns:a16="http://schemas.microsoft.com/office/drawing/2014/main" id="{DC515B28-4806-4C2C-87C4-71DAB9E158A8}"/>
              </a:ext>
            </a:extLst>
          </p:cNvPr>
          <p:cNvSpPr>
            <a:spLocks xmlns:a="http://schemas.openxmlformats.org/drawingml/2006/main" noGrp="1"/>
          </p:cNvSpPr>
          <p:nvPr/>
        </p:nvSpPr>
        <p:spPr>
          <a:xfrm xmlns:a="http://schemas.openxmlformats.org/drawingml/2006/main">
            <a:off x="4219575" y="35433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Use a bounded specialist workstream</a:t>
            </a:r>
          </a:p>
        </p:txBody>
      </p:sp>
      <p:sp>
        <p:nvSpPr>
          <p:cNvPr id="14" name="">
            <a:extLst xmlns:a="http://schemas.openxmlformats.org/drawingml/2006/main">
              <a:ext uri="{FF2B5EF4-FFF2-40B4-BE49-F238E27FC236}">
                <a16:creationId xmlns:a16="http://schemas.microsoft.com/office/drawing/2014/main" id="{11A91D1C-405E-4C0F-88F7-D48D23A4BF1D}"/>
              </a:ext>
            </a:extLst>
          </p:cNvPr>
          <p:cNvSpPr>
            <a:spLocks xmlns:a="http://schemas.openxmlformats.org/drawingml/2006/main" noGrp="1"/>
          </p:cNvSpPr>
          <p:nvPr/>
        </p:nvSpPr>
        <p:spPr>
          <a:xfrm xmlns:a="http://schemas.openxmlformats.org/drawingml/2006/main">
            <a:off x="838200" y="4972050"/>
            <a:ext cx="9191625" cy="704850"/>
          </a:xfrm>
          <a:prstGeom xmlns:a="http://schemas.openxmlformats.org/drawingml/2006/main" prst="roundRect">
            <a:avLst>
              <a:gd name="adj" fmla="val 16216"/>
            </a:avLst>
          </a:prstGeom>
          <a:solidFill xmlns:a="http://schemas.openxmlformats.org/drawingml/2006/main">
            <a:srgbClr val="FDF4E7"/>
          </a:solidFill>
          <a:ln xmlns:a="http://schemas.openxmlformats.org/drawingml/2006/main" w="9525">
            <a:solidFill>
              <a:srgbClr val="F0E6C8"/>
            </a:solidFill>
            <a:prstDash val="solid"/>
          </a:ln>
        </p:spPr>
      </p:sp>
      <p:sp>
        <p:nvSpPr>
          <p:cNvPr id="15" name="">
            <a:extLst xmlns:a="http://schemas.openxmlformats.org/drawingml/2006/main">
              <a:ext uri="{FF2B5EF4-FFF2-40B4-BE49-F238E27FC236}">
                <a16:creationId xmlns:a16="http://schemas.microsoft.com/office/drawing/2014/main" id="{2E401B61-BAE7-45E7-9EFA-F0B0332F09B6}"/>
              </a:ext>
            </a:extLst>
          </p:cNvPr>
          <p:cNvSpPr>
            <a:spLocks xmlns:a="http://schemas.openxmlformats.org/drawingml/2006/main" noGrp="1"/>
          </p:cNvSpPr>
          <p:nvPr/>
        </p:nvSpPr>
        <p:spPr>
          <a:xfrm xmlns:a="http://schemas.openxmlformats.org/drawingml/2006/main">
            <a:off x="1066800" y="5181600"/>
            <a:ext cx="866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142F4C"/>
                </a:solidFill>
              </a:defRPr>
            </a:pPr>
            <a:r>
              <a:rPr sz="1350">
                <a:solidFill>
                  <a:srgbClr val="142F4C"/>
                </a:solidFill>
              </a:rPr>
              <a:t>Trade-off to record: speed and specialist assurance versus internal ownership and recurring cost.</a:t>
            </a:r>
          </a:p>
        </p:txBody>
      </p:sp>
    </p:spTree>
    <p:extLst>
      <p:ext uri="{BB962C8B-B14F-4D97-AF65-F5344CB8AC3E}">
        <p14:creationId xmlns:p14="http://schemas.microsoft.com/office/powerpoint/2010/main" val="932404165"/>
      </p:ext>
    </p:extLst>
  </p:cSld>
</p:sld>
</file>

<file path=ppt/slides/slide8.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8388D8E6-9133-4964-BE6C-D32E47A962B4}"/>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08</a:t>
            </a:r>
          </a:p>
        </p:txBody>
      </p:sp>
      <p:sp>
        <p:nvSpPr>
          <p:cNvPr id="2" name="">
            <a:extLst xmlns:a="http://schemas.openxmlformats.org/drawingml/2006/main">
              <a:ext uri="{FF2B5EF4-FFF2-40B4-BE49-F238E27FC236}">
                <a16:creationId xmlns:a16="http://schemas.microsoft.com/office/drawing/2014/main" id="{1B8F37B9-B527-4E05-B888-45013F4C798F}"/>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The first 90 days should establish population, ownership and proof.</a:t>
            </a:r>
          </a:p>
        </p:txBody>
      </p:sp>
      <p:sp>
        <p:nvSpPr>
          <p:cNvPr id="3" name="">
            <a:extLst xmlns:a="http://schemas.openxmlformats.org/drawingml/2006/main">
              <a:ext uri="{FF2B5EF4-FFF2-40B4-BE49-F238E27FC236}">
                <a16:creationId xmlns:a16="http://schemas.microsoft.com/office/drawing/2014/main" id="{51FB8B2F-D257-40A7-A8C2-29C71A7FB8F4}"/>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Sequence the work so early progress creates a reliable control baseline.</a:t>
            </a:r>
          </a:p>
        </p:txBody>
      </p:sp>
      <p:sp>
        <p:nvSpPr>
          <p:cNvPr id="4" name="">
            <a:extLst xmlns:a="http://schemas.openxmlformats.org/drawingml/2006/main">
              <a:ext uri="{FF2B5EF4-FFF2-40B4-BE49-F238E27FC236}">
                <a16:creationId xmlns:a16="http://schemas.microsoft.com/office/drawing/2014/main" id="{E5422FDD-64F7-4039-B987-46F39EB03020}"/>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2D18402A-C54F-4C5D-B7A6-AF5BB395377D}"/>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C4430E4B-7852-4C82-8F4B-6B0AF3A7DC8B}"/>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08 / 10</a:t>
            </a:r>
          </a:p>
        </p:txBody>
      </p:sp>
      <p:sp>
        <p:nvSpPr>
          <p:cNvPr id="7" name="">
            <a:extLst xmlns:a="http://schemas.openxmlformats.org/drawingml/2006/main">
              <a:ext uri="{FF2B5EF4-FFF2-40B4-BE49-F238E27FC236}">
                <a16:creationId xmlns:a16="http://schemas.microsoft.com/office/drawing/2014/main" id="{B710A16F-CEF1-40A6-B3B7-04BAB6C42010}"/>
              </a:ext>
            </a:extLst>
          </p:cNvPr>
          <p:cNvSpPr>
            <a:spLocks xmlns:a="http://schemas.openxmlformats.org/drawingml/2006/main" noGrp="1"/>
          </p:cNvSpPr>
          <p:nvPr/>
        </p:nvSpPr>
        <p:spPr>
          <a:xfrm xmlns:a="http://schemas.openxmlformats.org/drawingml/2006/main">
            <a:off x="838200" y="2095500"/>
            <a:ext cx="2857500" cy="314325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352B7E47-F11C-4612-9A36-31B991240743}"/>
              </a:ext>
            </a:extLst>
          </p:cNvPr>
          <p:cNvSpPr>
            <a:spLocks xmlns:a="http://schemas.openxmlformats.org/drawingml/2006/main" noGrp="1"/>
          </p:cNvSpPr>
          <p:nvPr/>
        </p:nvSpPr>
        <p:spPr>
          <a:xfrm xmlns:a="http://schemas.openxmlformats.org/drawingml/2006/main">
            <a:off x="838200" y="2095500"/>
            <a:ext cx="2857500" cy="76200"/>
          </a:xfrm>
          <a:prstGeom xmlns:a="http://schemas.openxmlformats.org/drawingml/2006/main" prst="rect">
            <a:avLst/>
          </a:prstGeom>
          <a:solidFill xmlns:a="http://schemas.openxmlformats.org/drawingml/2006/main">
            <a:srgbClr val="C9A227"/>
          </a:solidFill>
          <a:ln xmlns:a="http://schemas.openxmlformats.org/drawingml/2006/main" w="0">
            <a:solidFill>
              <a:srgbClr val="142F4C"/>
            </a:solidFill>
            <a:prstDash val="solid"/>
          </a:ln>
        </p:spPr>
      </p:sp>
      <p:sp>
        <p:nvSpPr>
          <p:cNvPr id="9" name="">
            <a:extLst xmlns:a="http://schemas.openxmlformats.org/drawingml/2006/main">
              <a:ext uri="{FF2B5EF4-FFF2-40B4-BE49-F238E27FC236}">
                <a16:creationId xmlns:a16="http://schemas.microsoft.com/office/drawing/2014/main" id="{9DC598B1-15FE-46DC-9E9C-FABF092147E5}"/>
              </a:ext>
            </a:extLst>
          </p:cNvPr>
          <p:cNvSpPr>
            <a:spLocks xmlns:a="http://schemas.openxmlformats.org/drawingml/2006/main" noGrp="1"/>
          </p:cNvSpPr>
          <p:nvPr/>
        </p:nvSpPr>
        <p:spPr>
          <a:xfrm xmlns:a="http://schemas.openxmlformats.org/drawingml/2006/main">
            <a:off x="1047750" y="23622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30 days</a:t>
            </a:r>
          </a:p>
        </p:txBody>
      </p:sp>
      <p:sp>
        <p:nvSpPr>
          <p:cNvPr id="10" name="">
            <a:extLst xmlns:a="http://schemas.openxmlformats.org/drawingml/2006/main">
              <a:ext uri="{FF2B5EF4-FFF2-40B4-BE49-F238E27FC236}">
                <a16:creationId xmlns:a16="http://schemas.microsoft.com/office/drawing/2014/main" id="{7A0C76DA-C8AE-44E9-A7A7-7B72AB0F1A4F}"/>
              </a:ext>
            </a:extLst>
          </p:cNvPr>
          <p:cNvSpPr>
            <a:spLocks xmlns:a="http://schemas.openxmlformats.org/drawingml/2006/main" noGrp="1"/>
          </p:cNvSpPr>
          <p:nvPr/>
        </p:nvSpPr>
        <p:spPr>
          <a:xfrm xmlns:a="http://schemas.openxmlformats.org/drawingml/2006/main">
            <a:off x="1047750" y="29337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1" name="">
            <a:extLst xmlns:a="http://schemas.openxmlformats.org/drawingml/2006/main">
              <a:ext uri="{FF2B5EF4-FFF2-40B4-BE49-F238E27FC236}">
                <a16:creationId xmlns:a16="http://schemas.microsoft.com/office/drawing/2014/main" id="{5B82229F-048D-4731-9834-0EB6DC8E9C9C}"/>
              </a:ext>
            </a:extLst>
          </p:cNvPr>
          <p:cNvSpPr>
            <a:spLocks xmlns:a="http://schemas.openxmlformats.org/drawingml/2006/main" noGrp="1"/>
          </p:cNvSpPr>
          <p:nvPr/>
        </p:nvSpPr>
        <p:spPr>
          <a:xfrm xmlns:a="http://schemas.openxmlformats.org/drawingml/2006/main">
            <a:off x="1276350" y="28575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Apply immediate escalation at "Any assurance reviewer assigned operational ownership of the control under review." and deliver the exact control design: The CEO and audit-committee chair must approve a RACI that assigns control operation to management and risk owners, reserves independent testing and unrestricted reporting for internal audit or equivalent assurance, and requires annual conflict review; the company secretary retains the approved RACI and minutes.</a:t>
            </a:r>
          </a:p>
        </p:txBody>
      </p:sp>
      <p:sp>
        <p:nvSpPr>
          <p:cNvPr id="12" name="">
            <a:extLst xmlns:a="http://schemas.openxmlformats.org/drawingml/2006/main">
              <a:ext uri="{FF2B5EF4-FFF2-40B4-BE49-F238E27FC236}">
                <a16:creationId xmlns:a16="http://schemas.microsoft.com/office/drawing/2014/main" id="{76929064-50B9-46D4-BF06-154CE6D984A0}"/>
              </a:ext>
            </a:extLst>
          </p:cNvPr>
          <p:cNvSpPr>
            <a:spLocks xmlns:a="http://schemas.openxmlformats.org/drawingml/2006/main" noGrp="1"/>
          </p:cNvSpPr>
          <p:nvPr/>
        </p:nvSpPr>
        <p:spPr>
          <a:xfrm xmlns:a="http://schemas.openxmlformats.org/drawingml/2006/main">
            <a:off x="1047750" y="35814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3" name="">
            <a:extLst xmlns:a="http://schemas.openxmlformats.org/drawingml/2006/main">
              <a:ext uri="{FF2B5EF4-FFF2-40B4-BE49-F238E27FC236}">
                <a16:creationId xmlns:a16="http://schemas.microsoft.com/office/drawing/2014/main" id="{41824608-EC96-429A-84FC-569459687FCE}"/>
              </a:ext>
            </a:extLst>
          </p:cNvPr>
          <p:cNvSpPr>
            <a:spLocks xmlns:a="http://schemas.openxmlformats.org/drawingml/2006/main" noGrp="1"/>
          </p:cNvSpPr>
          <p:nvPr/>
        </p:nvSpPr>
        <p:spPr>
          <a:xfrm xmlns:a="http://schemas.openxmlformats.org/drawingml/2006/main">
            <a:off x="1276350" y="35052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Apply immediate escalation at "A qualifying matter escalated late, or an escalation routed only through an implicated manager." and deliver the exact control design: The Head of Risk must publish escalation criteria defining what must be escalated, to whom and within what time, grant monitoring staff explicit authority to escalate directly to the fraud-risk executive or audit-committee chair where a manager is implicated, protect escalators from retaliation, train the monitoring team annually, and review escalation timeliness against criteria each quarter.</a:t>
            </a:r>
          </a:p>
        </p:txBody>
      </p:sp>
      <p:sp>
        <p:nvSpPr>
          <p:cNvPr id="14" name="">
            <a:extLst xmlns:a="http://schemas.openxmlformats.org/drawingml/2006/main">
              <a:ext uri="{FF2B5EF4-FFF2-40B4-BE49-F238E27FC236}">
                <a16:creationId xmlns:a16="http://schemas.microsoft.com/office/drawing/2014/main" id="{355F8660-0F2A-4ACA-AB8E-02895BA8EBA6}"/>
              </a:ext>
            </a:extLst>
          </p:cNvPr>
          <p:cNvSpPr>
            <a:spLocks xmlns:a="http://schemas.openxmlformats.org/drawingml/2006/main" noGrp="1"/>
          </p:cNvSpPr>
          <p:nvPr/>
        </p:nvSpPr>
        <p:spPr>
          <a:xfrm xmlns:a="http://schemas.openxmlformats.org/drawingml/2006/main">
            <a:off x="1047750" y="42291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5" name="">
            <a:extLst xmlns:a="http://schemas.openxmlformats.org/drawingml/2006/main">
              <a:ext uri="{FF2B5EF4-FFF2-40B4-BE49-F238E27FC236}">
                <a16:creationId xmlns:a16="http://schemas.microsoft.com/office/drawing/2014/main" id="{417C798B-B557-473D-A2FE-E1366A09B1D5}"/>
              </a:ext>
            </a:extLst>
          </p:cNvPr>
          <p:cNvSpPr>
            <a:spLocks xmlns:a="http://schemas.openxmlformats.org/drawingml/2006/main" noGrp="1"/>
          </p:cNvSpPr>
          <p:nvPr/>
        </p:nvSpPr>
        <p:spPr>
          <a:xfrm xmlns:a="http://schemas.openxmlformats.org/drawingml/2006/main">
            <a:off x="1276350" y="41529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Apply immediate escalation at "Any site or worker group below the awareness threshold, or reporting material not reaching non-desk staff." and deliver the exact control design: The ethics owner must publish reporting routes in plain language across the channels the workforce actually uses — induction packs, payslip inserts, notice boards at depots and sites, intranet and supervisor briefings — covering line manager, confidential channel and conflict-free alternate route; awareness is tested periodically by short survey or spot check, and results below threshold trigger a targeted re-communication for the affected sites or teams.</a:t>
            </a:r>
          </a:p>
        </p:txBody>
      </p:sp>
      <p:sp>
        <p:nvSpPr>
          <p:cNvPr id="16" name="">
            <a:extLst xmlns:a="http://schemas.openxmlformats.org/drawingml/2006/main">
              <a:ext uri="{FF2B5EF4-FFF2-40B4-BE49-F238E27FC236}">
                <a16:creationId xmlns:a16="http://schemas.microsoft.com/office/drawing/2014/main" id="{76F91380-BAF0-4DF7-86B8-B8C344F97AB6}"/>
              </a:ext>
            </a:extLst>
          </p:cNvPr>
          <p:cNvSpPr>
            <a:spLocks xmlns:a="http://schemas.openxmlformats.org/drawingml/2006/main" noGrp="1"/>
          </p:cNvSpPr>
          <p:nvPr/>
        </p:nvSpPr>
        <p:spPr>
          <a:xfrm xmlns:a="http://schemas.openxmlformats.org/drawingml/2006/main">
            <a:off x="4076700" y="2095500"/>
            <a:ext cx="2857500" cy="314325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D9E1E7"/>
            </a:solidFill>
            <a:prstDash val="solid"/>
          </a:ln>
        </p:spPr>
      </p:sp>
      <p:sp>
        <p:nvSpPr>
          <p:cNvPr id="17" name="">
            <a:extLst xmlns:a="http://schemas.openxmlformats.org/drawingml/2006/main">
              <a:ext uri="{FF2B5EF4-FFF2-40B4-BE49-F238E27FC236}">
                <a16:creationId xmlns:a16="http://schemas.microsoft.com/office/drawing/2014/main" id="{8D8A8EE0-3825-48C5-B867-1CDA8A082D05}"/>
              </a:ext>
            </a:extLst>
          </p:cNvPr>
          <p:cNvSpPr>
            <a:spLocks xmlns:a="http://schemas.openxmlformats.org/drawingml/2006/main" noGrp="1"/>
          </p:cNvSpPr>
          <p:nvPr/>
        </p:nvSpPr>
        <p:spPr>
          <a:xfrm xmlns:a="http://schemas.openxmlformats.org/drawingml/2006/main">
            <a:off x="4076700" y="2095500"/>
            <a:ext cx="2857500" cy="76200"/>
          </a:xfrm>
          <a:prstGeom xmlns:a="http://schemas.openxmlformats.org/drawingml/2006/main" prst="rect">
            <a:avLst/>
          </a:prstGeom>
          <a:solidFill xmlns:a="http://schemas.openxmlformats.org/drawingml/2006/main">
            <a:srgbClr val="142F4C"/>
          </a:solidFill>
          <a:ln xmlns:a="http://schemas.openxmlformats.org/drawingml/2006/main" w="0">
            <a:solidFill>
              <a:srgbClr val="142F4C"/>
            </a:solidFill>
            <a:prstDash val="solid"/>
          </a:ln>
        </p:spPr>
      </p:sp>
      <p:sp>
        <p:nvSpPr>
          <p:cNvPr id="18" name="">
            <a:extLst xmlns:a="http://schemas.openxmlformats.org/drawingml/2006/main">
              <a:ext uri="{FF2B5EF4-FFF2-40B4-BE49-F238E27FC236}">
                <a16:creationId xmlns:a16="http://schemas.microsoft.com/office/drawing/2014/main" id="{A93FA607-54CD-43BD-B382-16E202AACC45}"/>
              </a:ext>
            </a:extLst>
          </p:cNvPr>
          <p:cNvSpPr>
            <a:spLocks xmlns:a="http://schemas.openxmlformats.org/drawingml/2006/main" noGrp="1"/>
          </p:cNvSpPr>
          <p:nvPr/>
        </p:nvSpPr>
        <p:spPr>
          <a:xfrm xmlns:a="http://schemas.openxmlformats.org/drawingml/2006/main">
            <a:off x="4286250" y="23622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60 days</a:t>
            </a:r>
          </a:p>
        </p:txBody>
      </p:sp>
      <p:sp>
        <p:nvSpPr>
          <p:cNvPr id="19" name="">
            <a:extLst xmlns:a="http://schemas.openxmlformats.org/drawingml/2006/main">
              <a:ext uri="{FF2B5EF4-FFF2-40B4-BE49-F238E27FC236}">
                <a16:creationId xmlns:a16="http://schemas.microsoft.com/office/drawing/2014/main" id="{86A6BDD0-C926-45B2-B76B-B4D19D76DACE}"/>
              </a:ext>
            </a:extLst>
          </p:cNvPr>
          <p:cNvSpPr>
            <a:spLocks xmlns:a="http://schemas.openxmlformats.org/drawingml/2006/main" noGrp="1"/>
          </p:cNvSpPr>
          <p:nvPr/>
        </p:nvSpPr>
        <p:spPr>
          <a:xfrm xmlns:a="http://schemas.openxmlformats.org/drawingml/2006/main">
            <a:off x="4286250" y="29337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0" name="">
            <a:extLst xmlns:a="http://schemas.openxmlformats.org/drawingml/2006/main">
              <a:ext uri="{FF2B5EF4-FFF2-40B4-BE49-F238E27FC236}">
                <a16:creationId xmlns:a16="http://schemas.microsoft.com/office/drawing/2014/main" id="{DA35D03A-0D5E-4C0D-81EF-E6031302DDD6}"/>
              </a:ext>
            </a:extLst>
          </p:cNvPr>
          <p:cNvSpPr>
            <a:spLocks xmlns:a="http://schemas.openxmlformats.org/drawingml/2006/main" noGrp="1"/>
          </p:cNvSpPr>
          <p:nvPr/>
        </p:nvSpPr>
        <p:spPr>
          <a:xfrm xmlns:a="http://schemas.openxmlformats.org/drawingml/2006/main">
            <a:off x="4514850" y="28575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Apply immediate escalation at "Any unknown or unjustified privileged account, missed recertification or leaver access beyond 24 hours." and deliver the exact control design: IT Security maintains a complete privileged-account register, links each human and service account to an owner and approved justification, enforces separate named admin identities and MFA, records privileged sessions, and sends the full population quarterly to system owners and Risk for independent keep/remove certification; removals close within 24 hours for leavers and five business days otherwise.</a:t>
            </a:r>
          </a:p>
        </p:txBody>
      </p:sp>
      <p:sp>
        <p:nvSpPr>
          <p:cNvPr id="21" name="">
            <a:extLst xmlns:a="http://schemas.openxmlformats.org/drawingml/2006/main">
              <a:ext uri="{FF2B5EF4-FFF2-40B4-BE49-F238E27FC236}">
                <a16:creationId xmlns:a16="http://schemas.microsoft.com/office/drawing/2014/main" id="{714BE13F-7F7E-49ED-BF44-2411C909FBAA}"/>
              </a:ext>
            </a:extLst>
          </p:cNvPr>
          <p:cNvSpPr>
            <a:spLocks xmlns:a="http://schemas.openxmlformats.org/drawingml/2006/main" noGrp="1"/>
          </p:cNvSpPr>
          <p:nvPr/>
        </p:nvSpPr>
        <p:spPr>
          <a:xfrm xmlns:a="http://schemas.openxmlformats.org/drawingml/2006/main">
            <a:off x="4286250" y="35814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2" name="">
            <a:extLst xmlns:a="http://schemas.openxmlformats.org/drawingml/2006/main">
              <a:ext uri="{FF2B5EF4-FFF2-40B4-BE49-F238E27FC236}">
                <a16:creationId xmlns:a16="http://schemas.microsoft.com/office/drawing/2014/main" id="{D2887FB6-5399-4679-8EF1-8A8803F39143}"/>
              </a:ext>
            </a:extLst>
          </p:cNvPr>
          <p:cNvSpPr>
            <a:spLocks xmlns:a="http://schemas.openxmlformats.org/drawingml/2006/main" noGrp="1"/>
          </p:cNvSpPr>
          <p:nvPr/>
        </p:nvSpPr>
        <p:spPr>
          <a:xfrm xmlns:a="http://schemas.openxmlformats.org/drawingml/2006/main">
            <a:off x="4514850" y="35052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Apply immediate escalation at "Activation before verification, an unapproved exception, or a sensitive change without re-verification." and deliver the exact control design: The process owner must define the risk points requiring verification — customer or beneficiary enrolment, employee onboarding, supplier activation and counterparty contracting — and apply proportionate checks against independent sources such as identity documents validated for authenticity, company registration records, and confirmation of contact details through independently obtained channels; results and evidence are retained under applicable data-protection obligations, exceptions require documented approval, and sensitive profile or banking changes trigger re-verification.</a:t>
            </a:r>
          </a:p>
        </p:txBody>
      </p:sp>
      <p:sp>
        <p:nvSpPr>
          <p:cNvPr id="23" name="">
            <a:extLst xmlns:a="http://schemas.openxmlformats.org/drawingml/2006/main">
              <a:ext uri="{FF2B5EF4-FFF2-40B4-BE49-F238E27FC236}">
                <a16:creationId xmlns:a16="http://schemas.microsoft.com/office/drawing/2014/main" id="{F0542B61-0ED0-43AF-9284-5DAE5DCCC1B4}"/>
              </a:ext>
            </a:extLst>
          </p:cNvPr>
          <p:cNvSpPr>
            <a:spLocks xmlns:a="http://schemas.openxmlformats.org/drawingml/2006/main" noGrp="1"/>
          </p:cNvSpPr>
          <p:nvPr/>
        </p:nvSpPr>
        <p:spPr>
          <a:xfrm xmlns:a="http://schemas.openxmlformats.org/drawingml/2006/main">
            <a:off x="4286250" y="42291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4" name="">
            <a:extLst xmlns:a="http://schemas.openxmlformats.org/drawingml/2006/main">
              <a:ext uri="{FF2B5EF4-FFF2-40B4-BE49-F238E27FC236}">
                <a16:creationId xmlns:a16="http://schemas.microsoft.com/office/drawing/2014/main" id="{E7E00D07-B1CC-42CF-880D-526F86BABB38}"/>
              </a:ext>
            </a:extLst>
          </p:cNvPr>
          <p:cNvSpPr>
            <a:spLocks xmlns:a="http://schemas.openxmlformats.org/drawingml/2006/main" noGrp="1"/>
          </p:cNvSpPr>
          <p:nvPr/>
        </p:nvSpPr>
        <p:spPr>
          <a:xfrm xmlns:a="http://schemas.openxmlformats.org/drawingml/2006/main">
            <a:off x="4514850" y="41529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Apply immediate escalation at "Any unexplained custody gap, integrity mismatch or unauthorised repository access." and deliver the exact control design: The investigation lead opens an evidence register for every material case; trained custodians identify sources, create forensic copies or sealed originals, record hashes/seal numbers, collector/time/location and every transfer, store evidence in access-controlled repositories, and escalate any custody break immediately to Legal.</a:t>
            </a:r>
          </a:p>
        </p:txBody>
      </p:sp>
      <p:sp>
        <p:nvSpPr>
          <p:cNvPr id="25" name="">
            <a:extLst xmlns:a="http://schemas.openxmlformats.org/drawingml/2006/main">
              <a:ext uri="{FF2B5EF4-FFF2-40B4-BE49-F238E27FC236}">
                <a16:creationId xmlns:a16="http://schemas.microsoft.com/office/drawing/2014/main" id="{1641B858-7F67-43FA-A106-31167B4744C9}"/>
              </a:ext>
            </a:extLst>
          </p:cNvPr>
          <p:cNvSpPr>
            <a:spLocks xmlns:a="http://schemas.openxmlformats.org/drawingml/2006/main" noGrp="1"/>
          </p:cNvSpPr>
          <p:nvPr/>
        </p:nvSpPr>
        <p:spPr>
          <a:xfrm xmlns:a="http://schemas.openxmlformats.org/drawingml/2006/main">
            <a:off x="7315200" y="2095500"/>
            <a:ext cx="2857500" cy="314325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D9E1E7"/>
            </a:solidFill>
            <a:prstDash val="solid"/>
          </a:ln>
        </p:spPr>
      </p:sp>
      <p:sp>
        <p:nvSpPr>
          <p:cNvPr id="26" name="">
            <a:extLst xmlns:a="http://schemas.openxmlformats.org/drawingml/2006/main">
              <a:ext uri="{FF2B5EF4-FFF2-40B4-BE49-F238E27FC236}">
                <a16:creationId xmlns:a16="http://schemas.microsoft.com/office/drawing/2014/main" id="{44DBF087-D7F2-42E2-BA94-C24F2EB23CD9}"/>
              </a:ext>
            </a:extLst>
          </p:cNvPr>
          <p:cNvSpPr>
            <a:spLocks xmlns:a="http://schemas.openxmlformats.org/drawingml/2006/main" noGrp="1"/>
          </p:cNvSpPr>
          <p:nvPr/>
        </p:nvSpPr>
        <p:spPr>
          <a:xfrm xmlns:a="http://schemas.openxmlformats.org/drawingml/2006/main">
            <a:off x="7315200" y="2095500"/>
            <a:ext cx="2857500" cy="76200"/>
          </a:xfrm>
          <a:prstGeom xmlns:a="http://schemas.openxmlformats.org/drawingml/2006/main" prst="rect">
            <a:avLst/>
          </a:prstGeom>
          <a:solidFill xmlns:a="http://schemas.openxmlformats.org/drawingml/2006/main">
            <a:srgbClr val="1F6B4A"/>
          </a:solidFill>
          <a:ln xmlns:a="http://schemas.openxmlformats.org/drawingml/2006/main" w="0">
            <a:solidFill>
              <a:srgbClr val="142F4C"/>
            </a:solidFill>
            <a:prstDash val="solid"/>
          </a:ln>
        </p:spPr>
      </p:sp>
      <p:sp>
        <p:nvSpPr>
          <p:cNvPr id="27" name="">
            <a:extLst xmlns:a="http://schemas.openxmlformats.org/drawingml/2006/main">
              <a:ext uri="{FF2B5EF4-FFF2-40B4-BE49-F238E27FC236}">
                <a16:creationId xmlns:a16="http://schemas.microsoft.com/office/drawing/2014/main" id="{6FAE0803-EF7C-448D-9D17-C02B9325B388}"/>
              </a:ext>
            </a:extLst>
          </p:cNvPr>
          <p:cNvSpPr>
            <a:spLocks xmlns:a="http://schemas.openxmlformats.org/drawingml/2006/main" noGrp="1"/>
          </p:cNvSpPr>
          <p:nvPr/>
        </p:nvSpPr>
        <p:spPr>
          <a:xfrm xmlns:a="http://schemas.openxmlformats.org/drawingml/2006/main">
            <a:off x="7524750" y="23622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90 days</a:t>
            </a:r>
          </a:p>
        </p:txBody>
      </p:sp>
      <p:sp>
        <p:nvSpPr>
          <p:cNvPr id="28" name="">
            <a:extLst xmlns:a="http://schemas.openxmlformats.org/drawingml/2006/main">
              <a:ext uri="{FF2B5EF4-FFF2-40B4-BE49-F238E27FC236}">
                <a16:creationId xmlns:a16="http://schemas.microsoft.com/office/drawing/2014/main" id="{EC64CFBD-C284-4B29-8356-3FDB5F8A73D3}"/>
              </a:ext>
            </a:extLst>
          </p:cNvPr>
          <p:cNvSpPr>
            <a:spLocks xmlns:a="http://schemas.openxmlformats.org/drawingml/2006/main" noGrp="1"/>
          </p:cNvSpPr>
          <p:nvPr/>
        </p:nvSpPr>
        <p:spPr>
          <a:xfrm xmlns:a="http://schemas.openxmlformats.org/drawingml/2006/main">
            <a:off x="7524750" y="29337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9" name="">
            <a:extLst xmlns:a="http://schemas.openxmlformats.org/drawingml/2006/main">
              <a:ext uri="{FF2B5EF4-FFF2-40B4-BE49-F238E27FC236}">
                <a16:creationId xmlns:a16="http://schemas.microsoft.com/office/drawing/2014/main" id="{D5FDAE56-9C07-45D1-99CC-387903282823}"/>
              </a:ext>
            </a:extLst>
          </p:cNvPr>
          <p:cNvSpPr>
            <a:spLocks xmlns:a="http://schemas.openxmlformats.org/drawingml/2006/main" noGrp="1"/>
          </p:cNvSpPr>
          <p:nvPr/>
        </p:nvSpPr>
        <p:spPr>
          <a:xfrm xmlns:a="http://schemas.openxmlformats.org/drawingml/2006/main">
            <a:off x="7753350" y="28575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No committed actions recorded for this period.</a:t>
            </a:r>
          </a:p>
        </p:txBody>
      </p:sp>
    </p:spTree>
    <p:extLst>
      <p:ext uri="{BB962C8B-B14F-4D97-AF65-F5344CB8AC3E}">
        <p14:creationId xmlns:p14="http://schemas.microsoft.com/office/powerpoint/2010/main" val="1780521077"/>
      </p:ext>
    </p:extLst>
  </p:cSld>
</p:sld>
</file>

<file path=ppt/slides/slide9.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135C064E-F344-4289-A495-3C13368BE05C}"/>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09</a:t>
            </a:r>
          </a:p>
        </p:txBody>
      </p:sp>
      <p:sp>
        <p:nvSpPr>
          <p:cNvPr id="2" name="">
            <a:extLst xmlns:a="http://schemas.openxmlformats.org/drawingml/2006/main">
              <a:ext uri="{FF2B5EF4-FFF2-40B4-BE49-F238E27FC236}">
                <a16:creationId xmlns:a16="http://schemas.microsoft.com/office/drawing/2014/main" id="{6B7C6EB7-DFE1-4D15-A74A-D9EB48BA3119}"/>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Every action needs an owner, an effectiveness measure and a board checkpoint.</a:t>
            </a:r>
          </a:p>
        </p:txBody>
      </p:sp>
      <p:sp>
        <p:nvSpPr>
          <p:cNvPr id="3" name="">
            <a:extLst xmlns:a="http://schemas.openxmlformats.org/drawingml/2006/main">
              <a:ext uri="{FF2B5EF4-FFF2-40B4-BE49-F238E27FC236}">
                <a16:creationId xmlns:a16="http://schemas.microsoft.com/office/drawing/2014/main" id="{15D0DC06-4B6D-4DD9-9D7D-4DE2D8C0C812}"/>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Accountability is the mechanism that turns advisory judgement into operating change.</a:t>
            </a:r>
          </a:p>
        </p:txBody>
      </p:sp>
      <p:sp>
        <p:nvSpPr>
          <p:cNvPr id="4" name="">
            <a:extLst xmlns:a="http://schemas.openxmlformats.org/drawingml/2006/main">
              <a:ext uri="{FF2B5EF4-FFF2-40B4-BE49-F238E27FC236}">
                <a16:creationId xmlns:a16="http://schemas.microsoft.com/office/drawing/2014/main" id="{216F0493-9619-4F30-982E-E46BD75B778B}"/>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D3679ED3-91F6-4D4E-9106-DA41726977CC}"/>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A7C9EF2D-4F47-46C8-9FC2-AE6F57D248A2}"/>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09 / 10</a:t>
            </a:r>
          </a:p>
        </p:txBody>
      </p:sp>
      <p:sp>
        <p:nvSpPr>
          <p:cNvPr id="7" name="">
            <a:extLst xmlns:a="http://schemas.openxmlformats.org/drawingml/2006/main">
              <a:ext uri="{FF2B5EF4-FFF2-40B4-BE49-F238E27FC236}">
                <a16:creationId xmlns:a16="http://schemas.microsoft.com/office/drawing/2014/main" id="{5AB725B1-8FD9-4929-9D69-AB17AE1DB767}"/>
              </a:ext>
            </a:extLst>
          </p:cNvPr>
          <p:cNvSpPr>
            <a:spLocks xmlns:a="http://schemas.openxmlformats.org/drawingml/2006/main" noGrp="1"/>
          </p:cNvSpPr>
          <p:nvPr/>
        </p:nvSpPr>
        <p:spPr>
          <a:xfrm xmlns:a="http://schemas.openxmlformats.org/drawingml/2006/main">
            <a:off x="838200" y="24955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B1BB4998-8320-4B12-B493-F15F7D94EC13}"/>
              </a:ext>
            </a:extLst>
          </p:cNvPr>
          <p:cNvSpPr>
            <a:spLocks xmlns:a="http://schemas.openxmlformats.org/drawingml/2006/main" noGrp="1"/>
          </p:cNvSpPr>
          <p:nvPr/>
        </p:nvSpPr>
        <p:spPr>
          <a:xfrm xmlns:a="http://schemas.openxmlformats.org/drawingml/2006/main">
            <a:off x="838200" y="19812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Apply immediate escalation at "Any assurance reviewer assigned operational ownership of the control under review." and deliver the exact control design: The CEO and audit-committee chair must approve a RACI that assigns control operation to management and risk owners, reserves independent testing and unrestricted reporting for internal audit or equivalent assurance, and requires annual conflict review; the company secretary retains the approved RACI and minutes.</a:t>
            </a:r>
          </a:p>
        </p:txBody>
      </p:sp>
      <p:sp>
        <p:nvSpPr>
          <p:cNvPr id="9" name="">
            <a:extLst xmlns:a="http://schemas.openxmlformats.org/drawingml/2006/main">
              <a:ext uri="{FF2B5EF4-FFF2-40B4-BE49-F238E27FC236}">
                <a16:creationId xmlns:a16="http://schemas.microsoft.com/office/drawing/2014/main" id="{242B3E60-16BA-4FC8-984D-D8CF3ED66BBF}"/>
              </a:ext>
            </a:extLst>
          </p:cNvPr>
          <p:cNvSpPr>
            <a:spLocks xmlns:a="http://schemas.openxmlformats.org/drawingml/2006/main" noGrp="1"/>
          </p:cNvSpPr>
          <p:nvPr/>
        </p:nvSpPr>
        <p:spPr>
          <a:xfrm xmlns:a="http://schemas.openxmlformats.org/drawingml/2006/main">
            <a:off x="4286250" y="19812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CEO / Managing Director</a:t>
            </a:r>
          </a:p>
        </p:txBody>
      </p:sp>
      <p:sp>
        <p:nvSpPr>
          <p:cNvPr id="10" name="">
            <a:extLst xmlns:a="http://schemas.openxmlformats.org/drawingml/2006/main">
              <a:ext uri="{FF2B5EF4-FFF2-40B4-BE49-F238E27FC236}">
                <a16:creationId xmlns:a16="http://schemas.microsoft.com/office/drawing/2014/main" id="{8B54C04E-2715-4A7A-AEDA-3AFAE7FB7C1E}"/>
              </a:ext>
            </a:extLst>
          </p:cNvPr>
          <p:cNvSpPr>
            <a:spLocks xmlns:a="http://schemas.openxmlformats.org/drawingml/2006/main" noGrp="1"/>
          </p:cNvSpPr>
          <p:nvPr/>
        </p:nvSpPr>
        <p:spPr>
          <a:xfrm xmlns:a="http://schemas.openxmlformats.org/drawingml/2006/main">
            <a:off x="6334125" y="19812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30 days</a:t>
            </a:r>
          </a:p>
        </p:txBody>
      </p:sp>
      <p:sp>
        <p:nvSpPr>
          <p:cNvPr id="11" name="">
            <a:extLst xmlns:a="http://schemas.openxmlformats.org/drawingml/2006/main">
              <a:ext uri="{FF2B5EF4-FFF2-40B4-BE49-F238E27FC236}">
                <a16:creationId xmlns:a16="http://schemas.microsoft.com/office/drawing/2014/main" id="{251BDA47-5416-4637-8608-6E081B27A81C}"/>
              </a:ext>
            </a:extLst>
          </p:cNvPr>
          <p:cNvSpPr>
            <a:spLocks xmlns:a="http://schemas.openxmlformats.org/drawingml/2006/main" noGrp="1"/>
          </p:cNvSpPr>
          <p:nvPr/>
        </p:nvSpPr>
        <p:spPr>
          <a:xfrm xmlns:a="http://schemas.openxmlformats.org/drawingml/2006/main">
            <a:off x="7524750" y="19812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No key fraud control is both operated and independently certified by the same accountable function.</a:t>
            </a:r>
          </a:p>
        </p:txBody>
      </p:sp>
      <p:sp>
        <p:nvSpPr>
          <p:cNvPr id="12" name="">
            <a:extLst xmlns:a="http://schemas.openxmlformats.org/drawingml/2006/main">
              <a:ext uri="{FF2B5EF4-FFF2-40B4-BE49-F238E27FC236}">
                <a16:creationId xmlns:a16="http://schemas.microsoft.com/office/drawing/2014/main" id="{2C483A7D-7617-4540-86A3-630E6FD6E61A}"/>
              </a:ext>
            </a:extLst>
          </p:cNvPr>
          <p:cNvSpPr>
            <a:spLocks xmlns:a="http://schemas.openxmlformats.org/drawingml/2006/main" noGrp="1"/>
          </p:cNvSpPr>
          <p:nvPr/>
        </p:nvSpPr>
        <p:spPr>
          <a:xfrm xmlns:a="http://schemas.openxmlformats.org/drawingml/2006/main">
            <a:off x="838200" y="31813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13" name="">
            <a:extLst xmlns:a="http://schemas.openxmlformats.org/drawingml/2006/main">
              <a:ext uri="{FF2B5EF4-FFF2-40B4-BE49-F238E27FC236}">
                <a16:creationId xmlns:a16="http://schemas.microsoft.com/office/drawing/2014/main" id="{A573C3C8-CA22-4FFA-97DD-11B4510649CA}"/>
              </a:ext>
            </a:extLst>
          </p:cNvPr>
          <p:cNvSpPr>
            <a:spLocks xmlns:a="http://schemas.openxmlformats.org/drawingml/2006/main" noGrp="1"/>
          </p:cNvSpPr>
          <p:nvPr/>
        </p:nvSpPr>
        <p:spPr>
          <a:xfrm xmlns:a="http://schemas.openxmlformats.org/drawingml/2006/main">
            <a:off x="838200" y="26670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Apply immediate escalation at "A qualifying matter escalated late, or an escalation routed only through an implicated manager." and deliver the exact control design: The Head of Risk must publish escalation criteria defining what must be escalated, to whom and within what time, grant monitoring staff explicit authority to escalate directly to the fraud-risk executive or audit-committee chair where a manager is implicated, protect escalators from retaliation, train the monitoring team annually, and review escalation timeliness against criteria each quarter.</a:t>
            </a:r>
          </a:p>
        </p:txBody>
      </p:sp>
      <p:sp>
        <p:nvSpPr>
          <p:cNvPr id="14" name="">
            <a:extLst xmlns:a="http://schemas.openxmlformats.org/drawingml/2006/main">
              <a:ext uri="{FF2B5EF4-FFF2-40B4-BE49-F238E27FC236}">
                <a16:creationId xmlns:a16="http://schemas.microsoft.com/office/drawing/2014/main" id="{60243C32-ABF9-4C06-A425-C62FBEE85CF8}"/>
              </a:ext>
            </a:extLst>
          </p:cNvPr>
          <p:cNvSpPr>
            <a:spLocks xmlns:a="http://schemas.openxmlformats.org/drawingml/2006/main" noGrp="1"/>
          </p:cNvSpPr>
          <p:nvPr/>
        </p:nvSpPr>
        <p:spPr>
          <a:xfrm xmlns:a="http://schemas.openxmlformats.org/drawingml/2006/main">
            <a:off x="4286250" y="26670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Head of Risk</a:t>
            </a:r>
          </a:p>
        </p:txBody>
      </p:sp>
      <p:sp>
        <p:nvSpPr>
          <p:cNvPr id="15" name="">
            <a:extLst xmlns:a="http://schemas.openxmlformats.org/drawingml/2006/main">
              <a:ext uri="{FF2B5EF4-FFF2-40B4-BE49-F238E27FC236}">
                <a16:creationId xmlns:a16="http://schemas.microsoft.com/office/drawing/2014/main" id="{73649EB1-1565-4CA5-AAF1-8C2BC13D043C}"/>
              </a:ext>
            </a:extLst>
          </p:cNvPr>
          <p:cNvSpPr>
            <a:spLocks xmlns:a="http://schemas.openxmlformats.org/drawingml/2006/main" noGrp="1"/>
          </p:cNvSpPr>
          <p:nvPr/>
        </p:nvSpPr>
        <p:spPr>
          <a:xfrm xmlns:a="http://schemas.openxmlformats.org/drawingml/2006/main">
            <a:off x="6334125" y="26670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30 days</a:t>
            </a:r>
          </a:p>
        </p:txBody>
      </p:sp>
      <p:sp>
        <p:nvSpPr>
          <p:cNvPr id="16" name="">
            <a:extLst xmlns:a="http://schemas.openxmlformats.org/drawingml/2006/main">
              <a:ext uri="{FF2B5EF4-FFF2-40B4-BE49-F238E27FC236}">
                <a16:creationId xmlns:a16="http://schemas.microsoft.com/office/drawing/2014/main" id="{E68B8FE0-DBE9-47AF-BCC9-2359C377F2B3}"/>
              </a:ext>
            </a:extLst>
          </p:cNvPr>
          <p:cNvSpPr>
            <a:spLocks xmlns:a="http://schemas.openxmlformats.org/drawingml/2006/main" noGrp="1"/>
          </p:cNvSpPr>
          <p:nvPr/>
        </p:nvSpPr>
        <p:spPr>
          <a:xfrm xmlns:a="http://schemas.openxmlformats.org/drawingml/2006/main">
            <a:off x="7524750" y="26670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100% of qualifying matters escalated within the stated timeframe, with an available conflict-free route.</a:t>
            </a:r>
          </a:p>
        </p:txBody>
      </p:sp>
      <p:sp>
        <p:nvSpPr>
          <p:cNvPr id="17" name="">
            <a:extLst xmlns:a="http://schemas.openxmlformats.org/drawingml/2006/main">
              <a:ext uri="{FF2B5EF4-FFF2-40B4-BE49-F238E27FC236}">
                <a16:creationId xmlns:a16="http://schemas.microsoft.com/office/drawing/2014/main" id="{BDA2875C-9373-4B45-A2B8-0E44F86847D2}"/>
              </a:ext>
            </a:extLst>
          </p:cNvPr>
          <p:cNvSpPr>
            <a:spLocks xmlns:a="http://schemas.openxmlformats.org/drawingml/2006/main" noGrp="1"/>
          </p:cNvSpPr>
          <p:nvPr/>
        </p:nvSpPr>
        <p:spPr>
          <a:xfrm xmlns:a="http://schemas.openxmlformats.org/drawingml/2006/main">
            <a:off x="838200" y="38671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18" name="">
            <a:extLst xmlns:a="http://schemas.openxmlformats.org/drawingml/2006/main">
              <a:ext uri="{FF2B5EF4-FFF2-40B4-BE49-F238E27FC236}">
                <a16:creationId xmlns:a16="http://schemas.microsoft.com/office/drawing/2014/main" id="{9CC0CEB2-1E98-4549-A9DC-9CD221F36E68}"/>
              </a:ext>
            </a:extLst>
          </p:cNvPr>
          <p:cNvSpPr>
            <a:spLocks xmlns:a="http://schemas.openxmlformats.org/drawingml/2006/main" noGrp="1"/>
          </p:cNvSpPr>
          <p:nvPr/>
        </p:nvSpPr>
        <p:spPr>
          <a:xfrm xmlns:a="http://schemas.openxmlformats.org/drawingml/2006/main">
            <a:off x="838200" y="33528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Apply immediate escalation at "Any site or worker group below the awareness threshold, or reporting material not reaching non-desk staff." and deliver the exact control design: The ethics owner must publish reporting routes in plain language across the channels the workforce actually uses — induction packs, payslip inserts, notice boards at depots and sites, intranet and supervisor briefings — covering line manager, confidential channel and conflict-free alternate route; awareness is tested periodically by short survey or spot check, and results below threshold trigger a targeted re-communication for the affected sites or teams.</a:t>
            </a:r>
          </a:p>
        </p:txBody>
      </p:sp>
      <p:sp>
        <p:nvSpPr>
          <p:cNvPr id="19" name="">
            <a:extLst xmlns:a="http://schemas.openxmlformats.org/drawingml/2006/main">
              <a:ext uri="{FF2B5EF4-FFF2-40B4-BE49-F238E27FC236}">
                <a16:creationId xmlns:a16="http://schemas.microsoft.com/office/drawing/2014/main" id="{F0DBFF6A-7209-40C9-BF0B-FCA2E1DDA55F}"/>
              </a:ext>
            </a:extLst>
          </p:cNvPr>
          <p:cNvSpPr>
            <a:spLocks xmlns:a="http://schemas.openxmlformats.org/drawingml/2006/main" noGrp="1"/>
          </p:cNvSpPr>
          <p:nvPr/>
        </p:nvSpPr>
        <p:spPr>
          <a:xfrm xmlns:a="http://schemas.openxmlformats.org/drawingml/2006/main">
            <a:off x="4286250" y="33528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Chief People Officer / COO</a:t>
            </a:r>
          </a:p>
        </p:txBody>
      </p:sp>
      <p:sp>
        <p:nvSpPr>
          <p:cNvPr id="20" name="">
            <a:extLst xmlns:a="http://schemas.openxmlformats.org/drawingml/2006/main">
              <a:ext uri="{FF2B5EF4-FFF2-40B4-BE49-F238E27FC236}">
                <a16:creationId xmlns:a16="http://schemas.microsoft.com/office/drawing/2014/main" id="{EDC908C6-4732-4E4E-87B6-11D72CB77B04}"/>
              </a:ext>
            </a:extLst>
          </p:cNvPr>
          <p:cNvSpPr>
            <a:spLocks xmlns:a="http://schemas.openxmlformats.org/drawingml/2006/main" noGrp="1"/>
          </p:cNvSpPr>
          <p:nvPr/>
        </p:nvSpPr>
        <p:spPr>
          <a:xfrm xmlns:a="http://schemas.openxmlformats.org/drawingml/2006/main">
            <a:off x="6334125" y="33528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30 days</a:t>
            </a:r>
          </a:p>
        </p:txBody>
      </p:sp>
      <p:sp>
        <p:nvSpPr>
          <p:cNvPr id="21" name="">
            <a:extLst xmlns:a="http://schemas.openxmlformats.org/drawingml/2006/main">
              <a:ext uri="{FF2B5EF4-FFF2-40B4-BE49-F238E27FC236}">
                <a16:creationId xmlns:a16="http://schemas.microsoft.com/office/drawing/2014/main" id="{1AB66553-FD10-4458-8FD7-57EF54108E64}"/>
              </a:ext>
            </a:extLst>
          </p:cNvPr>
          <p:cNvSpPr>
            <a:spLocks xmlns:a="http://schemas.openxmlformats.org/drawingml/2006/main" noGrp="1"/>
          </p:cNvSpPr>
          <p:nvPr/>
        </p:nvSpPr>
        <p:spPr>
          <a:xfrm xmlns:a="http://schemas.openxmlformats.org/drawingml/2006/main">
            <a:off x="7524750" y="33528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At least 90% of surveyed staff can correctly identify a fraud reporting route, across all sites and worker types.</a:t>
            </a:r>
          </a:p>
        </p:txBody>
      </p:sp>
      <p:sp>
        <p:nvSpPr>
          <p:cNvPr id="22" name="">
            <a:extLst xmlns:a="http://schemas.openxmlformats.org/drawingml/2006/main">
              <a:ext uri="{FF2B5EF4-FFF2-40B4-BE49-F238E27FC236}">
                <a16:creationId xmlns:a16="http://schemas.microsoft.com/office/drawing/2014/main" id="{02DD1571-6492-4EE9-A25F-B4549E89619E}"/>
              </a:ext>
            </a:extLst>
          </p:cNvPr>
          <p:cNvSpPr>
            <a:spLocks xmlns:a="http://schemas.openxmlformats.org/drawingml/2006/main" noGrp="1"/>
          </p:cNvSpPr>
          <p:nvPr/>
        </p:nvSpPr>
        <p:spPr>
          <a:xfrm xmlns:a="http://schemas.openxmlformats.org/drawingml/2006/main">
            <a:off x="838200" y="45529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23" name="">
            <a:extLst xmlns:a="http://schemas.openxmlformats.org/drawingml/2006/main">
              <a:ext uri="{FF2B5EF4-FFF2-40B4-BE49-F238E27FC236}">
                <a16:creationId xmlns:a16="http://schemas.microsoft.com/office/drawing/2014/main" id="{B5FE2902-A16B-4966-BB95-F11FB2874FFB}"/>
              </a:ext>
            </a:extLst>
          </p:cNvPr>
          <p:cNvSpPr>
            <a:spLocks xmlns:a="http://schemas.openxmlformats.org/drawingml/2006/main" noGrp="1"/>
          </p:cNvSpPr>
          <p:nvPr/>
        </p:nvSpPr>
        <p:spPr>
          <a:xfrm xmlns:a="http://schemas.openxmlformats.org/drawingml/2006/main">
            <a:off x="838200" y="40386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Apply immediate escalation at "Any unknown or unjustified privileged account, missed recertification or leaver access beyond 24 hours." and deliver the exact control design: IT Security maintains a complete privileged-account register, links each human and service account to an owner and approved justification, enforces separate named admin identities and MFA, records privileged sessions, and sends the full population quarterly to system owners and Risk for independent keep/remove certification; removals close within 24 hours for leavers and five business days otherwise.</a:t>
            </a:r>
          </a:p>
        </p:txBody>
      </p:sp>
      <p:sp>
        <p:nvSpPr>
          <p:cNvPr id="24" name="">
            <a:extLst xmlns:a="http://schemas.openxmlformats.org/drawingml/2006/main">
              <a:ext uri="{FF2B5EF4-FFF2-40B4-BE49-F238E27FC236}">
                <a16:creationId xmlns:a16="http://schemas.microsoft.com/office/drawing/2014/main" id="{3F63745D-1458-4623-ADD4-F87CC6A4DE9A}"/>
              </a:ext>
            </a:extLst>
          </p:cNvPr>
          <p:cNvSpPr>
            <a:spLocks xmlns:a="http://schemas.openxmlformats.org/drawingml/2006/main" noGrp="1"/>
          </p:cNvSpPr>
          <p:nvPr/>
        </p:nvSpPr>
        <p:spPr>
          <a:xfrm xmlns:a="http://schemas.openxmlformats.org/drawingml/2006/main">
            <a:off x="4286250" y="40386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Chief Technology Officer</a:t>
            </a:r>
          </a:p>
        </p:txBody>
      </p:sp>
      <p:sp>
        <p:nvSpPr>
          <p:cNvPr id="25" name="">
            <a:extLst xmlns:a="http://schemas.openxmlformats.org/drawingml/2006/main">
              <a:ext uri="{FF2B5EF4-FFF2-40B4-BE49-F238E27FC236}">
                <a16:creationId xmlns:a16="http://schemas.microsoft.com/office/drawing/2014/main" id="{9F6512A1-F1B0-4151-B883-B446A9DFB1E6}"/>
              </a:ext>
            </a:extLst>
          </p:cNvPr>
          <p:cNvSpPr>
            <a:spLocks xmlns:a="http://schemas.openxmlformats.org/drawingml/2006/main" noGrp="1"/>
          </p:cNvSpPr>
          <p:nvPr/>
        </p:nvSpPr>
        <p:spPr>
          <a:xfrm xmlns:a="http://schemas.openxmlformats.org/drawingml/2006/main">
            <a:off x="6334125" y="40386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60 days</a:t>
            </a:r>
          </a:p>
        </p:txBody>
      </p:sp>
      <p:sp>
        <p:nvSpPr>
          <p:cNvPr id="26" name="">
            <a:extLst xmlns:a="http://schemas.openxmlformats.org/drawingml/2006/main">
              <a:ext uri="{FF2B5EF4-FFF2-40B4-BE49-F238E27FC236}">
                <a16:creationId xmlns:a16="http://schemas.microsoft.com/office/drawing/2014/main" id="{93820A22-2EAC-4773-9705-8CD72E3782B9}"/>
              </a:ext>
            </a:extLst>
          </p:cNvPr>
          <p:cNvSpPr>
            <a:spLocks xmlns:a="http://schemas.openxmlformats.org/drawingml/2006/main" noGrp="1"/>
          </p:cNvSpPr>
          <p:nvPr/>
        </p:nvSpPr>
        <p:spPr>
          <a:xfrm xmlns:a="http://schemas.openxmlformats.org/drawingml/2006/main">
            <a:off x="7524750" y="4038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100% privileged accounts recertified quarterly; leaver access removed within 24 hours; zero unjustified shared admin accounts.</a:t>
            </a:r>
          </a:p>
        </p:txBody>
      </p:sp>
      <p:sp>
        <p:nvSpPr>
          <p:cNvPr id="27" name="">
            <a:extLst xmlns:a="http://schemas.openxmlformats.org/drawingml/2006/main">
              <a:ext uri="{FF2B5EF4-FFF2-40B4-BE49-F238E27FC236}">
                <a16:creationId xmlns:a16="http://schemas.microsoft.com/office/drawing/2014/main" id="{E50E61F9-3DEE-4FE1-8D42-3422697B4A7C}"/>
              </a:ext>
            </a:extLst>
          </p:cNvPr>
          <p:cNvSpPr>
            <a:spLocks xmlns:a="http://schemas.openxmlformats.org/drawingml/2006/main" noGrp="1"/>
          </p:cNvSpPr>
          <p:nvPr/>
        </p:nvSpPr>
        <p:spPr>
          <a:xfrm xmlns:a="http://schemas.openxmlformats.org/drawingml/2006/main">
            <a:off x="838200" y="52387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28" name="">
            <a:extLst xmlns:a="http://schemas.openxmlformats.org/drawingml/2006/main">
              <a:ext uri="{FF2B5EF4-FFF2-40B4-BE49-F238E27FC236}">
                <a16:creationId xmlns:a16="http://schemas.microsoft.com/office/drawing/2014/main" id="{2CBBD8CB-5E8F-4D65-B01D-750EC3F8DAFE}"/>
              </a:ext>
            </a:extLst>
          </p:cNvPr>
          <p:cNvSpPr>
            <a:spLocks xmlns:a="http://schemas.openxmlformats.org/drawingml/2006/main" noGrp="1"/>
          </p:cNvSpPr>
          <p:nvPr/>
        </p:nvSpPr>
        <p:spPr>
          <a:xfrm xmlns:a="http://schemas.openxmlformats.org/drawingml/2006/main">
            <a:off x="838200" y="47244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Apply immediate escalation at "Activation before verification, an unapproved exception, or a sensitive change without re-verification." and deliver the exact control design: The process owner must define the risk points requiring verification — customer or beneficiary enrolment, employee onboarding, supplier activation and counterparty contracting — and apply proportionate checks against independent sources such as identity documents validated for authenticity, company registration records, and confirmation of contact details through independently obtained channels; results and evidence are retained under applicable data-protection obligations, exceptions require documented approval, and sensitive profile or banking changes trigger re-verification.</a:t>
            </a:r>
          </a:p>
        </p:txBody>
      </p:sp>
      <p:sp>
        <p:nvSpPr>
          <p:cNvPr id="29" name="">
            <a:extLst xmlns:a="http://schemas.openxmlformats.org/drawingml/2006/main">
              <a:ext uri="{FF2B5EF4-FFF2-40B4-BE49-F238E27FC236}">
                <a16:creationId xmlns:a16="http://schemas.microsoft.com/office/drawing/2014/main" id="{1C2DF64B-9FFA-4340-B25D-DF065D49F446}"/>
              </a:ext>
            </a:extLst>
          </p:cNvPr>
          <p:cNvSpPr>
            <a:spLocks xmlns:a="http://schemas.openxmlformats.org/drawingml/2006/main" noGrp="1"/>
          </p:cNvSpPr>
          <p:nvPr/>
        </p:nvSpPr>
        <p:spPr>
          <a:xfrm xmlns:a="http://schemas.openxmlformats.org/drawingml/2006/main">
            <a:off x="428625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COO / CFO</a:t>
            </a:r>
          </a:p>
        </p:txBody>
      </p:sp>
      <p:sp>
        <p:nvSpPr>
          <p:cNvPr id="30" name="">
            <a:extLst xmlns:a="http://schemas.openxmlformats.org/drawingml/2006/main">
              <a:ext uri="{FF2B5EF4-FFF2-40B4-BE49-F238E27FC236}">
                <a16:creationId xmlns:a16="http://schemas.microsoft.com/office/drawing/2014/main" id="{A7FC2E35-86FA-4DDB-B5CF-6843F25CCE6E}"/>
              </a:ext>
            </a:extLst>
          </p:cNvPr>
          <p:cNvSpPr>
            <a:spLocks xmlns:a="http://schemas.openxmlformats.org/drawingml/2006/main" noGrp="1"/>
          </p:cNvSpPr>
          <p:nvPr/>
        </p:nvSpPr>
        <p:spPr>
          <a:xfrm xmlns:a="http://schemas.openxmlformats.org/drawingml/2006/main">
            <a:off x="6334125" y="47244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60 days</a:t>
            </a:r>
          </a:p>
        </p:txBody>
      </p:sp>
      <p:sp>
        <p:nvSpPr>
          <p:cNvPr id="31" name="">
            <a:extLst xmlns:a="http://schemas.openxmlformats.org/drawingml/2006/main">
              <a:ext uri="{FF2B5EF4-FFF2-40B4-BE49-F238E27FC236}">
                <a16:creationId xmlns:a16="http://schemas.microsoft.com/office/drawing/2014/main" id="{69A7FB38-F15A-410E-8056-7FA442211B1D}"/>
              </a:ext>
            </a:extLst>
          </p:cNvPr>
          <p:cNvSpPr>
            <a:spLocks xmlns:a="http://schemas.openxmlformats.org/drawingml/2006/main" noGrp="1"/>
          </p:cNvSpPr>
          <p:nvPr/>
        </p:nvSpPr>
        <p:spPr>
          <a:xfrm xmlns:a="http://schemas.openxmlformats.org/drawingml/2006/main">
            <a:off x="7524750" y="47244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100% of in-scope enrolments and activations carry completed verification before activation, with all exceptions approved.</a:t>
            </a:r>
          </a:p>
        </p:txBody>
      </p:sp>
      <p:sp>
        <p:nvSpPr>
          <p:cNvPr id="32" name="">
            <a:extLst xmlns:a="http://schemas.openxmlformats.org/drawingml/2006/main">
              <a:ext uri="{FF2B5EF4-FFF2-40B4-BE49-F238E27FC236}">
                <a16:creationId xmlns:a16="http://schemas.microsoft.com/office/drawing/2014/main" id="{F8878E1A-8991-476A-8568-21E81E8D8DB0}"/>
              </a:ext>
            </a:extLst>
          </p:cNvPr>
          <p:cNvSpPr>
            <a:spLocks xmlns:a="http://schemas.openxmlformats.org/drawingml/2006/main" noGrp="1"/>
          </p:cNvSpPr>
          <p:nvPr/>
        </p:nvSpPr>
        <p:spPr>
          <a:xfrm xmlns:a="http://schemas.openxmlformats.org/drawingml/2006/main">
            <a:off x="4286250" y="16954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5A6B7C"/>
                </a:solidFill>
              </a:defRPr>
            </a:pPr>
            <a:r>
              <a:rPr sz="1050" b="1">
                <a:solidFill>
                  <a:srgbClr val="5A6B7C"/>
                </a:solidFill>
              </a:rPr>
              <a:t>Owner</a:t>
            </a:r>
          </a:p>
        </p:txBody>
      </p:sp>
      <p:sp>
        <p:nvSpPr>
          <p:cNvPr id="33" name="">
            <a:extLst xmlns:a="http://schemas.openxmlformats.org/drawingml/2006/main">
              <a:ext uri="{FF2B5EF4-FFF2-40B4-BE49-F238E27FC236}">
                <a16:creationId xmlns:a16="http://schemas.microsoft.com/office/drawing/2014/main" id="{35D286EB-D350-4FE6-92B3-6C4B474723F4}"/>
              </a:ext>
            </a:extLst>
          </p:cNvPr>
          <p:cNvSpPr>
            <a:spLocks xmlns:a="http://schemas.openxmlformats.org/drawingml/2006/main" noGrp="1"/>
          </p:cNvSpPr>
          <p:nvPr/>
        </p:nvSpPr>
        <p:spPr>
          <a:xfrm xmlns:a="http://schemas.openxmlformats.org/drawingml/2006/main">
            <a:off x="6334125" y="169545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5A6B7C"/>
                </a:solidFill>
              </a:defRPr>
            </a:pPr>
            <a:r>
              <a:rPr sz="1050" b="1">
                <a:solidFill>
                  <a:srgbClr val="5A6B7C"/>
                </a:solidFill>
              </a:rPr>
              <a:t>Timing</a:t>
            </a:r>
          </a:p>
        </p:txBody>
      </p:sp>
      <p:sp>
        <p:nvSpPr>
          <p:cNvPr id="34" name="">
            <a:extLst xmlns:a="http://schemas.openxmlformats.org/drawingml/2006/main">
              <a:ext uri="{FF2B5EF4-FFF2-40B4-BE49-F238E27FC236}">
                <a16:creationId xmlns:a16="http://schemas.microsoft.com/office/drawing/2014/main" id="{4E13429B-2954-4A50-A30F-F83B56AA5F92}"/>
              </a:ext>
            </a:extLst>
          </p:cNvPr>
          <p:cNvSpPr>
            <a:spLocks xmlns:a="http://schemas.openxmlformats.org/drawingml/2006/main" noGrp="1"/>
          </p:cNvSpPr>
          <p:nvPr/>
        </p:nvSpPr>
        <p:spPr>
          <a:xfrm xmlns:a="http://schemas.openxmlformats.org/drawingml/2006/main">
            <a:off x="7524750" y="16954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5A6B7C"/>
                </a:solidFill>
              </a:defRPr>
            </a:pPr>
            <a:r>
              <a:rPr sz="1050" b="1">
                <a:solidFill>
                  <a:srgbClr val="5A6B7C"/>
                </a:solidFill>
              </a:rPr>
              <a:t>Effectiveness measure</a:t>
            </a:r>
          </a:p>
        </p:txBody>
      </p:sp>
    </p:spTree>
    <p:extLst>
      <p:ext uri="{BB962C8B-B14F-4D97-AF65-F5344CB8AC3E}">
        <p14:creationId xmlns:p14="http://schemas.microsoft.com/office/powerpoint/2010/main" val="979697871"/>
      </p:ext>
    </p:extLst>
  </p:cSld>
</p:sld>
</file>

<file path=ppt/slides/slide10.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50A3F27-B6A8-4DE1-A7F6-89B7923691B3}"/>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10</a:t>
            </a:r>
          </a:p>
        </p:txBody>
      </p:sp>
      <p:sp>
        <p:nvSpPr>
          <p:cNvPr id="2" name="">
            <a:extLst xmlns:a="http://schemas.openxmlformats.org/drawingml/2006/main">
              <a:ext uri="{FF2B5EF4-FFF2-40B4-BE49-F238E27FC236}">
                <a16:creationId xmlns:a16="http://schemas.microsoft.com/office/drawing/2014/main" id="{9EEC2D83-3EF7-46AE-9888-DC20495324D3}"/>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Next checkpoint: review evidence closure and overdue action ageing.</a:t>
            </a:r>
          </a:p>
        </p:txBody>
      </p:sp>
      <p:sp>
        <p:nvSpPr>
          <p:cNvPr id="3" name="">
            <a:extLst xmlns:a="http://schemas.openxmlformats.org/drawingml/2006/main">
              <a:ext uri="{FF2B5EF4-FFF2-40B4-BE49-F238E27FC236}">
                <a16:creationId xmlns:a16="http://schemas.microsoft.com/office/drawing/2014/main" id="{E8C9D97D-79DD-4C04-AD84-FB38006372EB}"/>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The deliverable is complete when the decision record and proof of operation are both maintained.</a:t>
            </a:r>
          </a:p>
        </p:txBody>
      </p:sp>
      <p:sp>
        <p:nvSpPr>
          <p:cNvPr id="4" name="">
            <a:extLst xmlns:a="http://schemas.openxmlformats.org/drawingml/2006/main">
              <a:ext uri="{FF2B5EF4-FFF2-40B4-BE49-F238E27FC236}">
                <a16:creationId xmlns:a16="http://schemas.microsoft.com/office/drawing/2014/main" id="{7EAB70CA-FF1B-47F8-8C95-69AADEEABFEC}"/>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6386DBAE-46DD-420A-A6C8-FE6807E4B4B7}"/>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C071C59B-6947-4452-A3CC-83A082CB086F}"/>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10 / 10</a:t>
            </a:r>
          </a:p>
        </p:txBody>
      </p:sp>
      <p:sp>
        <p:nvSpPr>
          <p:cNvPr id="7" name="">
            <a:extLst xmlns:a="http://schemas.openxmlformats.org/drawingml/2006/main">
              <a:ext uri="{FF2B5EF4-FFF2-40B4-BE49-F238E27FC236}">
                <a16:creationId xmlns:a16="http://schemas.microsoft.com/office/drawing/2014/main" id="{ED845C07-63F9-4944-BA94-2678359D557A}"/>
              </a:ext>
            </a:extLst>
          </p:cNvPr>
          <p:cNvSpPr>
            <a:spLocks xmlns:a="http://schemas.openxmlformats.org/drawingml/2006/main" noGrp="1"/>
          </p:cNvSpPr>
          <p:nvPr/>
        </p:nvSpPr>
        <p:spPr>
          <a:xfrm xmlns:a="http://schemas.openxmlformats.org/drawingml/2006/main">
            <a:off x="838200" y="2171700"/>
            <a:ext cx="9048750" cy="2095500"/>
          </a:xfrm>
          <a:prstGeom xmlns:a="http://schemas.openxmlformats.org/drawingml/2006/main" prst="roundRect">
            <a:avLst>
              <a:gd name="adj" fmla="val 5455"/>
            </a:avLst>
          </a:prstGeom>
          <a:solidFill xmlns:a="http://schemas.openxmlformats.org/drawingml/2006/main">
            <a:srgbClr val="142F4C"/>
          </a:solidFill>
          <a:ln xmlns:a="http://schemas.openxmlformats.org/drawingml/2006/main" w="0">
            <a:solidFill>
              <a:srgbClr val="142F4C"/>
            </a:solidFill>
            <a:prstDash val="solid"/>
          </a:ln>
        </p:spPr>
      </p:sp>
      <p:sp>
        <p:nvSpPr>
          <p:cNvPr id="8" name="">
            <a:extLst xmlns:a="http://schemas.openxmlformats.org/drawingml/2006/main">
              <a:ext uri="{FF2B5EF4-FFF2-40B4-BE49-F238E27FC236}">
                <a16:creationId xmlns:a16="http://schemas.microsoft.com/office/drawing/2014/main" id="{BA5B8D1E-4654-459A-AEE2-16DD21F3B37C}"/>
              </a:ext>
            </a:extLst>
          </p:cNvPr>
          <p:cNvSpPr>
            <a:spLocks xmlns:a="http://schemas.openxmlformats.org/drawingml/2006/main" noGrp="1"/>
          </p:cNvSpPr>
          <p:nvPr/>
        </p:nvSpPr>
        <p:spPr>
          <a:xfrm xmlns:a="http://schemas.openxmlformats.org/drawingml/2006/main">
            <a:off x="1162050" y="24765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1">
                <a:solidFill>
                  <a:srgbClr val="C9A227"/>
                </a:solidFill>
              </a:defRPr>
            </a:pPr>
            <a:r>
              <a:rPr sz="1725" b="1">
                <a:solidFill>
                  <a:srgbClr val="C9A227"/>
                </a:solidFill>
              </a:rPr>
              <a:t>Bring four things to the next review</a:t>
            </a:r>
          </a:p>
        </p:txBody>
      </p:sp>
      <p:sp>
        <p:nvSpPr>
          <p:cNvPr id="9" name="">
            <a:extLst xmlns:a="http://schemas.openxmlformats.org/drawingml/2006/main">
              <a:ext uri="{FF2B5EF4-FFF2-40B4-BE49-F238E27FC236}">
                <a16:creationId xmlns:a16="http://schemas.microsoft.com/office/drawing/2014/main" id="{23CDDF9C-CE7D-4579-86AA-7D87D98F0594}"/>
              </a:ext>
            </a:extLst>
          </p:cNvPr>
          <p:cNvSpPr>
            <a:spLocks xmlns:a="http://schemas.openxmlformats.org/drawingml/2006/main" noGrp="1"/>
          </p:cNvSpPr>
          <p:nvPr/>
        </p:nvSpPr>
        <p:spPr>
          <a:xfrm xmlns:a="http://schemas.openxmlformats.org/drawingml/2006/main">
            <a:off x="1181100" y="30480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0" name="">
            <a:extLst xmlns:a="http://schemas.openxmlformats.org/drawingml/2006/main">
              <a:ext uri="{FF2B5EF4-FFF2-40B4-BE49-F238E27FC236}">
                <a16:creationId xmlns:a16="http://schemas.microsoft.com/office/drawing/2014/main" id="{EF1675F7-C4C5-4F1C-8F1E-0B6C023BB4F9}"/>
              </a:ext>
            </a:extLst>
          </p:cNvPr>
          <p:cNvSpPr>
            <a:spLocks xmlns:a="http://schemas.openxmlformats.org/drawingml/2006/main" noGrp="1"/>
          </p:cNvSpPr>
          <p:nvPr/>
        </p:nvSpPr>
        <p:spPr>
          <a:xfrm xmlns:a="http://schemas.openxmlformats.org/drawingml/2006/main">
            <a:off x="1409700" y="297180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Completed evidence items with a clear scope statement</a:t>
            </a:r>
          </a:p>
        </p:txBody>
      </p:sp>
      <p:sp>
        <p:nvSpPr>
          <p:cNvPr id="11" name="">
            <a:extLst xmlns:a="http://schemas.openxmlformats.org/drawingml/2006/main">
              <a:ext uri="{FF2B5EF4-FFF2-40B4-BE49-F238E27FC236}">
                <a16:creationId xmlns:a16="http://schemas.microsoft.com/office/drawing/2014/main" id="{380AA2B3-C9C5-484A-897B-E4C77881FC74}"/>
              </a:ext>
            </a:extLst>
          </p:cNvPr>
          <p:cNvSpPr>
            <a:spLocks xmlns:a="http://schemas.openxmlformats.org/drawingml/2006/main" noGrp="1"/>
          </p:cNvSpPr>
          <p:nvPr/>
        </p:nvSpPr>
        <p:spPr>
          <a:xfrm xmlns:a="http://schemas.openxmlformats.org/drawingml/2006/main">
            <a:off x="1181100" y="340995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2" name="">
            <a:extLst xmlns:a="http://schemas.openxmlformats.org/drawingml/2006/main">
              <a:ext uri="{FF2B5EF4-FFF2-40B4-BE49-F238E27FC236}">
                <a16:creationId xmlns:a16="http://schemas.microsoft.com/office/drawing/2014/main" id="{EB905C43-778C-4B38-8FED-53CDA91F0592}"/>
              </a:ext>
            </a:extLst>
          </p:cNvPr>
          <p:cNvSpPr>
            <a:spLocks xmlns:a="http://schemas.openxmlformats.org/drawingml/2006/main" noGrp="1"/>
          </p:cNvSpPr>
          <p:nvPr/>
        </p:nvSpPr>
        <p:spPr>
          <a:xfrm xmlns:a="http://schemas.openxmlformats.org/drawingml/2006/main">
            <a:off x="1409700" y="333375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Open action ageing by accountable owner</a:t>
            </a:r>
          </a:p>
        </p:txBody>
      </p:sp>
      <p:sp>
        <p:nvSpPr>
          <p:cNvPr id="13" name="">
            <a:extLst xmlns:a="http://schemas.openxmlformats.org/drawingml/2006/main">
              <a:ext uri="{FF2B5EF4-FFF2-40B4-BE49-F238E27FC236}">
                <a16:creationId xmlns:a16="http://schemas.microsoft.com/office/drawing/2014/main" id="{EC2815C2-D4AC-45F7-BD43-AD97D96A3010}"/>
              </a:ext>
            </a:extLst>
          </p:cNvPr>
          <p:cNvSpPr>
            <a:spLocks xmlns:a="http://schemas.openxmlformats.org/drawingml/2006/main" noGrp="1"/>
          </p:cNvSpPr>
          <p:nvPr/>
        </p:nvSpPr>
        <p:spPr>
          <a:xfrm xmlns:a="http://schemas.openxmlformats.org/drawingml/2006/main">
            <a:off x="1181100" y="37719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4" name="">
            <a:extLst xmlns:a="http://schemas.openxmlformats.org/drawingml/2006/main">
              <a:ext uri="{FF2B5EF4-FFF2-40B4-BE49-F238E27FC236}">
                <a16:creationId xmlns:a16="http://schemas.microsoft.com/office/drawing/2014/main" id="{8902B4A0-BC1A-4DC7-ADAB-6B76A90710DB}"/>
              </a:ext>
            </a:extLst>
          </p:cNvPr>
          <p:cNvSpPr>
            <a:spLocks xmlns:a="http://schemas.openxmlformats.org/drawingml/2006/main" noGrp="1"/>
          </p:cNvSpPr>
          <p:nvPr/>
        </p:nvSpPr>
        <p:spPr>
          <a:xfrm xmlns:a="http://schemas.openxmlformats.org/drawingml/2006/main">
            <a:off x="1409700" y="369570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Effectiveness measures for the highest-priority controls</a:t>
            </a:r>
          </a:p>
        </p:txBody>
      </p:sp>
      <p:sp>
        <p:nvSpPr>
          <p:cNvPr id="15" name="">
            <a:extLst xmlns:a="http://schemas.openxmlformats.org/drawingml/2006/main">
              <a:ext uri="{FF2B5EF4-FFF2-40B4-BE49-F238E27FC236}">
                <a16:creationId xmlns:a16="http://schemas.microsoft.com/office/drawing/2014/main" id="{188AEC13-3B9A-4352-BE90-B51005647D67}"/>
              </a:ext>
            </a:extLst>
          </p:cNvPr>
          <p:cNvSpPr>
            <a:spLocks xmlns:a="http://schemas.openxmlformats.org/drawingml/2006/main" noGrp="1"/>
          </p:cNvSpPr>
          <p:nvPr/>
        </p:nvSpPr>
        <p:spPr>
          <a:xfrm xmlns:a="http://schemas.openxmlformats.org/drawingml/2006/main">
            <a:off x="1181100" y="413385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6" name="">
            <a:extLst xmlns:a="http://schemas.openxmlformats.org/drawingml/2006/main">
              <a:ext uri="{FF2B5EF4-FFF2-40B4-BE49-F238E27FC236}">
                <a16:creationId xmlns:a16="http://schemas.microsoft.com/office/drawing/2014/main" id="{1268A67D-4BA5-445D-8A56-7B288A7B056C}"/>
              </a:ext>
            </a:extLst>
          </p:cNvPr>
          <p:cNvSpPr>
            <a:spLocks xmlns:a="http://schemas.openxmlformats.org/drawingml/2006/main" noGrp="1"/>
          </p:cNvSpPr>
          <p:nvPr/>
        </p:nvSpPr>
        <p:spPr>
          <a:xfrm xmlns:a="http://schemas.openxmlformats.org/drawingml/2006/main">
            <a:off x="1409700" y="405765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Explicit residual-risk and escalation decisions</a:t>
            </a:r>
          </a:p>
        </p:txBody>
      </p:sp>
      <p:sp>
        <p:nvSpPr>
          <p:cNvPr id="17" name="">
            <a:extLst xmlns:a="http://schemas.openxmlformats.org/drawingml/2006/main">
              <a:ext uri="{FF2B5EF4-FFF2-40B4-BE49-F238E27FC236}">
                <a16:creationId xmlns:a16="http://schemas.microsoft.com/office/drawing/2014/main" id="{3792D049-BBE2-49BF-AA1D-BAB11586B77B}"/>
              </a:ext>
            </a:extLst>
          </p:cNvPr>
          <p:cNvSpPr>
            <a:spLocks xmlns:a="http://schemas.openxmlformats.org/drawingml/2006/main" noGrp="1"/>
          </p:cNvSpPr>
          <p:nvPr/>
        </p:nvSpPr>
        <p:spPr>
          <a:xfrm xmlns:a="http://schemas.openxmlformats.org/drawingml/2006/main">
            <a:off x="838200" y="4810125"/>
            <a:ext cx="904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The board should see the decision, the owner, the date and the proof - not a longer register.</a:t>
            </a:r>
          </a:p>
        </p:txBody>
      </p:sp>
    </p:spTree>
    <p:extLst>
      <p:ext uri="{BB962C8B-B14F-4D97-AF65-F5344CB8AC3E}">
        <p14:creationId xmlns:p14="http://schemas.microsoft.com/office/powerpoint/2010/main" val="19929897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2026-08-12T13:37:43.4530000Z</dcterms:created>
  <dcterms:modified xsi:type="dcterms:W3CDTF">2026-08-12T13:37:43.4530000Z</dcterms:modified>
</coreProperties>
</file>