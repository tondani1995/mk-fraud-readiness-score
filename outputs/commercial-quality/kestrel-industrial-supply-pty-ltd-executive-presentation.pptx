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19c0e77df4b86" /><Relationship Type="http://schemas.openxmlformats.org/officeDocument/2006/relationships/extended-properties" Target="/docProps/app.xml" Id="R5ef0d1cb87b54aeb" /><Relationship Type="http://schemas.openxmlformats.org/officeDocument/2006/relationships/officeDocument" Target="/ppt/presentation.xml" Id="Rdd4134d6178e4b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90985409fd40d1"/>
  </p:sldMasterIdLst>
  <p:notesMasterIdLst>
    <p:notesMasterId xmlns:r="http://schemas.openxmlformats.org/officeDocument/2006/relationships" r:id="R373def8abd1a43b6"/>
  </p:notesMasterIdLst>
  <p:sldIdLst>
    <p:sldId xmlns:r="http://schemas.openxmlformats.org/officeDocument/2006/relationships" id="256" r:id="R22ff5accfc364381"/>
    <p:sldId xmlns:r="http://schemas.openxmlformats.org/officeDocument/2006/relationships" id="257" r:id="R85afeca740264a20"/>
    <p:sldId xmlns:r="http://schemas.openxmlformats.org/officeDocument/2006/relationships" id="258" r:id="Re0eb7aac568140c8"/>
    <p:sldId xmlns:r="http://schemas.openxmlformats.org/officeDocument/2006/relationships" id="259" r:id="R01947e7880b24e18"/>
    <p:sldId xmlns:r="http://schemas.openxmlformats.org/officeDocument/2006/relationships" id="260" r:id="R067217ad35f345ce"/>
    <p:sldId xmlns:r="http://schemas.openxmlformats.org/officeDocument/2006/relationships" id="261" r:id="Rf428882c43de4ff9"/>
    <p:sldId xmlns:r="http://schemas.openxmlformats.org/officeDocument/2006/relationships" id="262" r:id="R625d0630143647e4"/>
    <p:sldId xmlns:r="http://schemas.openxmlformats.org/officeDocument/2006/relationships" id="263" r:id="Rbeb1a6bd0e184894"/>
    <p:sldId xmlns:r="http://schemas.openxmlformats.org/officeDocument/2006/relationships" id="264" r:id="R5fe1f650f2c748ad"/>
    <p:sldId xmlns:r="http://schemas.openxmlformats.org/officeDocument/2006/relationships" id="265" r:id="R2c333bbcbcde4b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1bd2d25ec401a" /><Relationship Type="http://schemas.openxmlformats.org/officeDocument/2006/relationships/slideMaster" Target="/ppt/slideMasters/slideMaster1.xml" Id="Rba90985409fd40d1" /><Relationship Type="http://schemas.openxmlformats.org/officeDocument/2006/relationships/notesMaster" Target="/ppt/notesMasters/notesMaster1.xml" Id="R373def8abd1a43b6" /><Relationship Type="http://schemas.openxmlformats.org/officeDocument/2006/relationships/presProps" Target="/ppt/presProps.xml" Id="R83c0bcb758834107" /><Relationship Type="http://schemas.openxmlformats.org/officeDocument/2006/relationships/tableStyles" Target="/ppt/tableStyles.xml" Id="Rf04cd62a5a994ce8" /><Relationship Type="http://schemas.openxmlformats.org/officeDocument/2006/relationships/slide" Target="/ppt/slides/slide1.xml" Id="R22ff5accfc364381" /><Relationship Type="http://schemas.openxmlformats.org/officeDocument/2006/relationships/slide" Target="/ppt/slides/slide2.xml" Id="R85afeca740264a20" /><Relationship Type="http://schemas.openxmlformats.org/officeDocument/2006/relationships/slide" Target="/ppt/slides/slide3.xml" Id="Re0eb7aac568140c8" /><Relationship Type="http://schemas.openxmlformats.org/officeDocument/2006/relationships/slide" Target="/ppt/slides/slide4.xml" Id="R01947e7880b24e18" /><Relationship Type="http://schemas.openxmlformats.org/officeDocument/2006/relationships/slide" Target="/ppt/slides/slide5.xml" Id="R067217ad35f345ce" /><Relationship Type="http://schemas.openxmlformats.org/officeDocument/2006/relationships/slide" Target="/ppt/slides/slide6.xml" Id="Rf428882c43de4ff9" /><Relationship Type="http://schemas.openxmlformats.org/officeDocument/2006/relationships/slide" Target="/ppt/slides/slide7.xml" Id="R625d0630143647e4" /><Relationship Type="http://schemas.openxmlformats.org/officeDocument/2006/relationships/slide" Target="/ppt/slides/slide8.xml" Id="Rbeb1a6bd0e184894" /><Relationship Type="http://schemas.openxmlformats.org/officeDocument/2006/relationships/slide" Target="/ppt/slides/slide9.xml" Id="R5fe1f650f2c748ad" /><Relationship Type="http://schemas.openxmlformats.org/officeDocument/2006/relationships/slide" Target="/ppt/slides/slide10.xml" Id="R2c333bbcbcde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21501267644c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ba4a62649e4c50" /><Relationship Type="http://schemas.openxmlformats.org/officeDocument/2006/relationships/notesMaster" Target="/ppt/notesMasters/notesMaster1.xml" Id="R60049e769136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ef1fd10fe14ad3" /><Relationship Type="http://schemas.openxmlformats.org/officeDocument/2006/relationships/notesMaster" Target="/ppt/notesMasters/notesMaster1.xml" Id="Re63eef811986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495f71fb84e5e" /><Relationship Type="http://schemas.openxmlformats.org/officeDocument/2006/relationships/notesMaster" Target="/ppt/notesMasters/notesMaster1.xml" Id="R7b0472af357d42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02e4148474e9c" /><Relationship Type="http://schemas.openxmlformats.org/officeDocument/2006/relationships/notesMaster" Target="/ppt/notesMasters/notesMaster1.xml" Id="R9e5955b9920a43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664c30dc5e4902" /><Relationship Type="http://schemas.openxmlformats.org/officeDocument/2006/relationships/notesMaster" Target="/ppt/notesMasters/notesMaster1.xml" Id="Re2147f6df5cc43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e5e7c0488e431d" /><Relationship Type="http://schemas.openxmlformats.org/officeDocument/2006/relationships/notesMaster" Target="/ppt/notesMasters/notesMaster1.xml" Id="R86cb67bba5894c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e3d11d2b17480f" /><Relationship Type="http://schemas.openxmlformats.org/officeDocument/2006/relationships/notesMaster" Target="/ppt/notesMasters/notesMaster1.xml" Id="R3ea70f760b9242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4dd5460eed4bd0" /><Relationship Type="http://schemas.openxmlformats.org/officeDocument/2006/relationships/notesMaster" Target="/ppt/notesMasters/notesMaster1.xml" Id="Rb92b4a8ebdaa4f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64eb8af603492a" /><Relationship Type="http://schemas.openxmlformats.org/officeDocument/2006/relationships/notesMaster" Target="/ppt/notesMasters/notesMaster1.xml" Id="Re535531fcdfb4a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19c635aa5948a8" /><Relationship Type="http://schemas.openxmlformats.org/officeDocument/2006/relationships/notesMaster" Target="/ppt/notesMasters/notesMaster1.xml" Id="Rc732fdb18ca9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>Cover claim is a narrative description of this deck, not a sourced external statistic.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Assessment and reviewer source: persisted Kestrel engagement MKORD-2026-7FBBEE23.</a:t>
            </a:r>
          </a:p>
          <a:p xmlns:a="http://schemas.openxmlformats.org/drawingml/2006/main">
            <a:r>
              <a:t>- McKinsey, A board perspective on enterprise risk management: https://www.mckinsey.com/~/media/mckinsey/dotcom/client_service/risk/working%20papers/18_a_board_perspective_on_enterprise_risk_management.pdf</a:t>
            </a:r>
          </a:p>
          <a:p xmlns:a="http://schemas.openxmlformats.org/drawingml/2006/main">
            <a:r>
              <a:t>- Deloitte, Fraud Risk Management: https://www.deloitte.com/ch/en/services/financial-advisory/perspectives/fraud-risk-management-strategic-imperative.html</a:t>
            </a:r>
          </a:p>
          <a:p xmlns:a="http://schemas.openxmlformats.org/drawingml/2006/main">
            <a:r>
              <a:t>- BCG, The Expanding Agenda for Boards of Directors: https://www.bcg.com/publications/2024/expanding-agenda-for-boards-of-directors</a:t>
            </a:r>
          </a:p>
          <a:p xmlns:a="http://schemas.openxmlformats.org/drawingml/2006/main">
            <a:r>
              <a:t>- Bain, TCFD recommendations: https://www.bain.com/contentassets/6b37083d53dc4e9aa676993fa0c4c7dc/2022-tcfd-recommendations.pdf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bc8ba8429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0e052b8f254eb7" /><Relationship Type="http://schemas.openxmlformats.org/officeDocument/2006/relationships/slideLayout" Target="/ppt/slideLayouts/slideLayout1.xml" Id="R9635701622a8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5701622a8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e1feb19644870" /><Relationship Type="http://schemas.openxmlformats.org/officeDocument/2006/relationships/notesSlide" Target="/ppt/notesSlides/notesSlide1.xml" Id="Re6c6ffe2f74c42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2727c33ad463e" /><Relationship Type="http://schemas.openxmlformats.org/officeDocument/2006/relationships/notesSlide" Target="/ppt/notesSlides/notesSlide2.xml" Id="Rf76ca964b3c04f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48cdf6db34995" /><Relationship Type="http://schemas.openxmlformats.org/officeDocument/2006/relationships/notesSlide" Target="/ppt/notesSlides/notesSlide3.xml" Id="R8ae713af6904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f60360a764a76" /><Relationship Type="http://schemas.openxmlformats.org/officeDocument/2006/relationships/notesSlide" Target="/ppt/notesSlides/notesSlide4.xml" Id="Rd26680a6b8d841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71c78ade462c" /><Relationship Type="http://schemas.openxmlformats.org/officeDocument/2006/relationships/notesSlide" Target="/ppt/notesSlides/notesSlide5.xml" Id="R58a1542ec3fd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23e12c5d43c4" /><Relationship Type="http://schemas.openxmlformats.org/officeDocument/2006/relationships/notesSlide" Target="/ppt/notesSlides/notesSlide6.xml" Id="Rce6c573d9c3c44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4a1b635d94de6" /><Relationship Type="http://schemas.openxmlformats.org/officeDocument/2006/relationships/notesSlide" Target="/ppt/notesSlides/notesSlide7.xml" Id="Rf34ae8889f52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e3bfc7574b4e" /><Relationship Type="http://schemas.openxmlformats.org/officeDocument/2006/relationships/notesSlide" Target="/ppt/notesSlides/notesSlide8.xml" Id="Rfd167e1b7dd74c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0db8ecdc04e7d" /><Relationship Type="http://schemas.openxmlformats.org/officeDocument/2006/relationships/notesSlide" Target="/ppt/notesSlides/notesSlide9.xml" Id="Rc0ccab1639454e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8626dad474ad5" /><Relationship Type="http://schemas.openxmlformats.org/officeDocument/2006/relationships/notesSlide" Target="/ppt/notesSlides/notesSlide10.xml" Id="Rc65e73d7a5c94c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F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6FA7A-5023-4505-91E7-6246654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6328F-7E19-4539-87CE-C770FBA5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FDDE7"/>
                </a:solidFill>
              </a:defRPr>
            </a:pPr>
            <a:r>
              <a:rPr sz="1200" b="1">
                <a:solidFill>
                  <a:srgbClr val="CFDDE7"/>
                </a:solidFill>
              </a:rPr>
              <a:t>MK FRAUD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7ADA6-D187-4E7C-A043-3BFC8599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The evidence review turns a diagnostic into a management decision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DB511-39F8-4189-9CE4-896E4E2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CE7F1"/>
                </a:solidFill>
              </a:defRPr>
            </a:pPr>
            <a:r>
              <a:rPr sz="1650">
                <a:solidFill>
                  <a:srgbClr val="DCE7F1"/>
                </a:solidFill>
              </a:rPr>
              <a:t>Kestrel Industrial Supply (Pty) Ltd</a:t>
            </a:r>
          </a:p>
          <a:p xmlns:a="http://schemas.openxmlformats.org/drawingml/2006/main">
            <a:pPr>
              <a:defRPr sz="1650">
                <a:solidFill>
                  <a:srgbClr val="DCE7F1"/>
                </a:solidFill>
              </a:defRPr>
            </a:pPr>
            <a:r>
              <a:rPr sz="1650">
                <a:solidFill>
                  <a:srgbClr val="DCE7F1"/>
                </a:solidFill>
              </a:rPr>
              <a:t>Comprehensive review · evidence-led engagement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890E4-DC79-4D57-90FF-30CF3ABA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CFDF"/>
                </a:solidFill>
              </a:defRPr>
            </a:pPr>
            <a:r>
              <a:rPr sz="1200">
                <a:solidFill>
                  <a:srgbClr val="B9CFDF"/>
                </a:solidFill>
              </a:rPr>
              <a:t>Named reviewer: Independent review lead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0C5D1-1C0E-4DD4-AC85-1759C0F3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7B35"/>
                </a:solidFill>
              </a:defRPr>
            </a:pPr>
            <a:r>
              <a:rPr sz="975" b="1">
                <a:solidFill>
                  <a:srgbClr val="C77B35"/>
                </a:solidFill>
              </a:rPr>
              <a:t>CONFIDENTIAL ·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902019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014FB-1CD8-4523-A1A4-A7FADAE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5E539-64AE-4712-82D5-182618FB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The recorded position is developing; assurance is narrower than the 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8C2AD-9881-47E3-9A42-62236C4B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Separate the deterministic result from what the evidence review can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AC30B-6B5B-46DF-A9C1-27EA0B2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AA95C-B79D-496C-89AC-DE01B13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867B0-F4C7-4C90-9DAC-CB6C8AB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A54FC-5918-48EF-9C80-B75B4514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578D-E148-4349-B300-C9CB9C4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4C"/>
          </a:solidFill>
          <a:ln xmlns:a="http://schemas.openxmlformats.org/drawingml/2006/main" w="0">
            <a:solidFill>
              <a:srgbClr val="142F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C91B8-5005-4EFB-B1DF-0EC6E36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E7080"/>
                </a:solidFill>
              </a:defRPr>
            </a:pPr>
            <a:r>
              <a:rPr sz="1125" b="1">
                <a:solidFill>
                  <a:srgbClr val="5E7080"/>
                </a:solidFill>
              </a:rPr>
              <a:t>Reported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3CAE-A098-4EE7-8FC1-42F4FBC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F4C"/>
                </a:solidFill>
              </a:defRPr>
            </a:pPr>
            <a:r>
              <a:rPr sz="2400" b="1">
                <a:solidFill>
                  <a:srgbClr val="142F4C"/>
                </a:solidFill>
              </a:rPr>
              <a:t>55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B3694-3FE0-4988-BAE7-AAE0DE3C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Developing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64139-6C64-483C-A776-ADFCA981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812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E37E0-2F03-44EC-B453-103DE098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812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E38"/>
          </a:solidFill>
          <a:ln xmlns:a="http://schemas.openxmlformats.org/drawingml/2006/main" w="0">
            <a:solidFill>
              <a:srgbClr val="A93E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30AB9-F2D0-45CF-AD64-05A4E8EC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E7080"/>
                </a:solidFill>
              </a:defRPr>
            </a:pPr>
            <a:r>
              <a:rPr sz="1125" b="1">
                <a:solidFill>
                  <a:srgbClr val="5E7080"/>
                </a:solidFill>
              </a:rPr>
              <a:t>Exposure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ECFC7-90A6-4CF5-945E-17E474F0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288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F4C"/>
                </a:solidFill>
              </a:defRPr>
            </a:pPr>
            <a:r>
              <a:rPr sz="2400" b="1">
                <a:solidFill>
                  <a:srgbClr val="142F4C"/>
                </a:solidFill>
              </a:rPr>
              <a:t>0 / 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35721-0EDC-4C69-9ECA-4234313D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Not assessed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867D1-24A9-417C-92BC-46111A5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812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C252E-0CB9-441E-92EA-1E2A056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812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C57"/>
          </a:solidFill>
          <a:ln xmlns:a="http://schemas.openxmlformats.org/drawingml/2006/main" w="0">
            <a:solidFill>
              <a:srgbClr val="2D7C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222C7-C5EB-4643-AABA-EEECC946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E7080"/>
                </a:solidFill>
              </a:defRPr>
            </a:pPr>
            <a:r>
              <a:rPr sz="1125" b="1">
                <a:solidFill>
                  <a:srgbClr val="5E7080"/>
                </a:solidFill>
              </a:rPr>
              <a:t>Supported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DA5D9-B314-45E1-90F0-ADD74B58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288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F4C"/>
                </a:solidFill>
              </a:defRPr>
            </a:pPr>
            <a:r>
              <a:rPr sz="2400" b="1">
                <a:solidFill>
                  <a:srgbClr val="142F4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A956B-64DE-43F5-8B14-02B8F304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of 12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90845-B6BD-40B2-BCBF-BB417C8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286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FD64B-B68D-4576-B9A6-E0EDB771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96D25-C3EA-4B23-A057-3BE7D9F6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E7080"/>
                </a:solidFill>
              </a:defRPr>
            </a:pPr>
            <a:r>
              <a:rPr sz="1125" b="1">
                <a:solidFill>
                  <a:srgbClr val="5E7080"/>
                </a:solidFill>
              </a:rPr>
              <a:t>Unresolved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7592B-65E7-4BFF-B9B7-5C35F7FC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288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F4C"/>
                </a:solidFill>
              </a:defRPr>
            </a:pPr>
            <a:r>
              <a:rPr sz="2400" b="1">
                <a:solidFill>
                  <a:srgbClr val="142F4C"/>
                </a:solidFill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9E1A6-D26B-4C37-BACE-5D201DE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items requiring 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032D5-C145-43EF-9A1B-1923459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7726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3B2A6-09C5-47F4-AA3F-B86C9C3B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Management reading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C479BF-D2C6-4922-9182-529DEB61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F4C"/>
                </a:solidFill>
              </a:defRPr>
            </a:pPr>
            <a:r>
              <a:rPr sz="1500">
                <a:solidFill>
                  <a:srgbClr val="142F4C"/>
                </a:solidFill>
              </a:rPr>
              <a:t>The score is the locked recorded result. Human review changes the confidence, scope and decision implications around that result; it does not silently recalculate it.</a:t>
            </a:r>
          </a:p>
        </p:txBody>
      </p:sp>
    </p:spTree>
    <p:extLst>
      <p:ext uri="{BB962C8B-B14F-4D97-AF65-F5344CB8AC3E}">
        <p14:creationId xmlns:p14="http://schemas.microsoft.com/office/powerpoint/2010/main" val="1243259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AAEEC-0435-46C2-A31E-A8DF777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1DE62-CBC3-4740-8742-B78CF0C2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Evidence review supports selected positions, but the scope is not fully closed.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42336-9817-448F-8366-060726EA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The evidence ledger makes the reliance boundary visible in one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D4578-6F42-4844-A7ED-3AE49A9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185C6-4B33-4383-98E4-61EEBFC8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831CF-9E8C-4450-9038-FC39C09B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CD90C-A78E-474D-BAE4-DD7E764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Supported for stated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5931B-4460-452A-AEC4-69C6FD0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EFA2B-F720-4C1D-BD68-93C5B25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C57"/>
          </a:solidFill>
          <a:ln xmlns:a="http://schemas.openxmlformats.org/drawingml/2006/main" w="0">
            <a:solidFill>
              <a:srgbClr val="2D7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C1B34-21EA-4419-9CDF-81876EFE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F4C"/>
                </a:solidFill>
              </a:defRPr>
            </a:pPr>
            <a:r>
              <a:rPr sz="1650" b="1">
                <a:solidFill>
                  <a:srgbClr val="142F4C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84588-8180-42EF-B549-98F741AE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Evidence reviewed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807D6-F6A6-4500-B202-A292C93C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336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9F9C1-FABD-4CDF-89B1-0F6C4A0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33675"/>
            <a:ext cx="41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58C"/>
          </a:solidFill>
          <a:ln xmlns:a="http://schemas.openxmlformats.org/drawingml/2006/main" w="0">
            <a:solidFill>
              <a:srgbClr val="2565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61447-A436-4C97-9059-83200237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86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F4C"/>
                </a:solidFill>
              </a:defRPr>
            </a:pPr>
            <a:r>
              <a:rPr sz="1650" b="1">
                <a:solidFill>
                  <a:srgbClr val="142F4C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C038C-6638-4444-8D32-8D973313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Insufficient for 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F93EC-7B73-4D45-877F-FE0759A0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3DF77-D24D-4E62-A02A-752A0808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82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E38"/>
          </a:solidFill>
          <a:ln xmlns:a="http://schemas.openxmlformats.org/drawingml/2006/main" w="0">
            <a:solidFill>
              <a:srgbClr val="A93E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28D56-CC1E-444F-8701-215FEA90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76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F4C"/>
                </a:solidFill>
              </a:defRPr>
            </a:pPr>
            <a:r>
              <a:rPr sz="1650" b="1">
                <a:solidFill>
                  <a:srgbClr val="142F4C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502D5-2049-42BE-8470-3A06F73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Self-reported / 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9F4DE-A9A0-4ACB-99BB-583C7032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883B9-882B-47C2-A588-B98BB23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165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718B2-4405-4193-B794-BF91335F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67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42F4C"/>
                </a:solidFill>
              </a:defRPr>
            </a:pPr>
            <a:r>
              <a:rPr sz="1650" b="1">
                <a:solidFill>
                  <a:srgbClr val="142F4C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8EFC3-3E57-4406-A8A6-04D8FEB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19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31E15-BF5C-4D84-8AEB-3CE8A99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What the board can rely 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7B2FE-4FE8-4E4A-A693-0BE0B2AB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232"/>
                </a:solidFill>
              </a:defRPr>
            </a:pPr>
            <a:r>
              <a:rPr sz="1350">
                <a:solidFill>
                  <a:srgbClr val="172232"/>
                </a:solidFill>
              </a:rPr>
              <a:t>Only the named evidence scope. “Insufficient” means the evidence did not establish a conclusion; it does not mean misconduct occurred.</a:t>
            </a:r>
          </a:p>
        </p:txBody>
      </p:sp>
    </p:spTree>
    <p:extLst>
      <p:ext uri="{BB962C8B-B14F-4D97-AF65-F5344CB8AC3E}">
        <p14:creationId xmlns:p14="http://schemas.microsoft.com/office/powerpoint/2010/main" val="85255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D6905-1F88-45A2-93D5-745F580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9942C-78AF-4F79-B427-0E126BB4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Human review adds judgement where the self-assessment is too broad.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35857-6DB8-4F27-A88A-0CDDC032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The review narrows claims to the population and artefacts actually examined.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9660B-E22D-4654-A04B-436F1D4D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CC038-C505-4541-ACD6-88D55B0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2371B-BA82-4C45-A0F8-8F500E35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522C7-6606-4EB4-A766-B3338373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C57"/>
          </a:solidFill>
          <a:ln xmlns:a="http://schemas.openxmlformats.org/drawingml/2006/main" w="0">
            <a:solidFill>
              <a:srgbClr val="2D7C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52361-4FF1-484A-8893-E30AEF03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Awareness completion is not reconciled to higher-risk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6DE4F-54B1-4C5C-8ED4-E025CA20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Recorded: Self-reported position: Exists only informally or inconsistently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A3EE4-6490-47A2-B16F-9BC0AE06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Reviewer view: Retain the deterministic issue while keeping assurance bounded.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CFDA2-6B33-4F51-92DD-082AC10E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5948F-72D4-4621-817A-33509685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Committee oversight does not yet evidence a complete fraud-risk 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26368-C287-445F-A49A-7B0C79AE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Recorded: Self-reported position: No control exists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5E5F6-2289-4342-A1F9-51A154ED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Reviewer view: Retain the conclusion for the reviewed scope only.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BFC1D-176D-4305-A5F1-80B707DF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C57"/>
          </a:solidFill>
          <a:ln xmlns:a="http://schemas.openxmlformats.org/drawingml/2006/main" w="0">
            <a:solidFill>
              <a:srgbClr val="2D7C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66423-278B-48AF-B501-BE45FD7C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Detection tuning and alert ageing need a fixed management rhythm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8148D-BF8F-4855-95E8-AE08C2C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Recorded: Self-reported position: No control exists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F8CAD-364A-4EFC-B5AA-5A804557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719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Reviewer view: Retain the deterministic issue while keeping assurance bounded.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56377-1E63-4994-9159-A55F9254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83B2E-C012-4A1D-A84E-DFD5789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F4C"/>
                </a:solidFill>
              </a:defRPr>
            </a:pPr>
            <a:r>
              <a:rPr sz="1350" b="1">
                <a:solidFill>
                  <a:srgbClr val="142F4C"/>
                </a:solidFill>
              </a:rPr>
              <a:t>Evidence review: Approved fraud risk management policy and committee terms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86A56-78CD-4D04-9C3B-BF7F7520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Recorded: Self-reported position retained unless separately evidenced.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D8307-E061-45D7-A992-7193265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672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Reviewer view: The reviewed artefact supports the stated scope.</a:t>
            </a:r>
          </a:p>
        </p:txBody>
      </p:sp>
    </p:spTree>
    <p:extLst>
      <p:ext uri="{BB962C8B-B14F-4D97-AF65-F5344CB8AC3E}">
        <p14:creationId xmlns:p14="http://schemas.microsoft.com/office/powerpoint/2010/main" val="938005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638CD4-3E4C-4EE9-B3E2-8EAC1C88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7EEB0-8A3B-4011-9EC0-AD43DE8D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Risk concentrates where ownership, detection and response do not yet connect.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925E9-94CC-4442-8877-03F3573E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Top risk pathways are shown as operating exposure, not as allegations.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44A9B-90E5-4335-A8D2-F033B577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B8E5A-D955-4317-9C31-72F0E59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38FAB-1F24-462A-8875-29BB639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D8229-3F80-49F5-88C2-69AC99AF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A supplier bank change may redirect a legitimate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0502E-CABD-42EE-BB9C-8D84AD7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574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492A1-F12E-4885-96EA-E2258904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574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E38"/>
          </a:solidFill>
          <a:ln xmlns:a="http://schemas.openxmlformats.org/drawingml/2006/main" w="0">
            <a:solidFill>
              <a:srgbClr val="A93E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C7966-57CD-4D2F-91BA-F6F593D3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3E38"/>
                </a:solidFill>
              </a:defRPr>
            </a:pPr>
            <a:r>
              <a:rPr sz="1200" b="1">
                <a:solidFill>
                  <a:srgbClr val="A93E38"/>
                </a:solidFill>
              </a:rPr>
              <a:t>Critical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B1D5E-D8F4-47DB-885D-4E8C57C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Implement a complete role-based access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2B8BE-7352-40A1-9D9F-43F97E6D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Privileged access may enable unauthorised record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976F8-B154-418A-A997-31DB22CE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DC740-4321-42E5-86E4-4824FBE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E38"/>
          </a:solidFill>
          <a:ln xmlns:a="http://schemas.openxmlformats.org/drawingml/2006/main" w="0">
            <a:solidFill>
              <a:srgbClr val="A93E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6A9C5-F62A-49A1-826C-DDEA68D6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3E38"/>
                </a:solidFill>
              </a:defRPr>
            </a:pPr>
            <a:r>
              <a:rPr sz="1200" b="1">
                <a:solidFill>
                  <a:srgbClr val="A93E38"/>
                </a:solidFill>
              </a:rPr>
              <a:t>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0472F-A954-45A5-80BE-71A6FF2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Implement a complete role-based access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35C66-6185-4D08-AF71-0E23A08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Fraud-risk decisions may remain unchallenged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09170-F475-4B84-90B7-C3656BA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9A0BE-3145-45BD-8781-E2904D07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56546-8A13-4C98-97CB-3E15ACA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913E6-5E5E-479F-95E3-74D5449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Implement a complete role-based access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79DC5-81AF-435B-8D9B-9FB2A8E2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Stale detection rules may delay an alert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152A7-DD42-4AA1-8999-41DF5451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576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AA508-BE06-4C31-AA1D-5C526AB5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576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A4429-1C94-41B6-919B-6C728474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00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23DDBB-7EB6-4F59-AAAA-7BCF0358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Implement a complete role-based access review.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13233-D681-479B-BB26-1BBADFFB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Incident lessons may not reduce repeat exposure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FB5A4-410D-48B9-A77C-42D9DEC3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244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E4EA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9323D-1618-4FD9-97C7-CEB1BD0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24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FDAB0-51CA-4878-9648-248E1805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67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High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C320DD-4BE1-473C-8AB5-F05ED75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7080"/>
                </a:solidFill>
              </a:defRPr>
            </a:pPr>
            <a:r>
              <a:rPr sz="1050">
                <a:solidFill>
                  <a:srgbClr val="5E7080"/>
                </a:solidFill>
              </a:rPr>
              <a:t>Implement a complete role-based access review.</a:t>
            </a:r>
          </a:p>
        </p:txBody>
      </p:sp>
    </p:spTree>
    <p:extLst>
      <p:ext uri="{BB962C8B-B14F-4D97-AF65-F5344CB8AC3E}">
        <p14:creationId xmlns:p14="http://schemas.microsoft.com/office/powerpoint/2010/main" val="1453008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1B15A-622A-469E-98C2-277EDCE2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9E5D3-835A-414C-8FB6-9AE4444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Three plausible pathways show how control gaps can compound.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01A46-6E46-46AA-A839-87A857CE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Scenario logic helps management validate prevention, detection and containment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C986D-F77D-4510-B325-44BB82B2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E440D-DF43-487A-8373-8CA65A55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E4CDB-8405-401E-8255-84C63091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F6CC6-7570-4437-AC93-440E5AB0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60E0B-D4B4-4366-A1B6-DB7710C5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77B35"/>
                </a:solidFill>
              </a:defRPr>
            </a:pPr>
            <a:r>
              <a:rPr sz="1950" b="1">
                <a:solidFill>
                  <a:srgbClr val="C77B3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B9CA2-83AE-44A5-9FCA-BBD5C94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F4C"/>
                </a:solidFill>
              </a:defRPr>
            </a:pPr>
            <a:r>
              <a:rPr sz="1500" b="1">
                <a:solidFill>
                  <a:srgbClr val="142F4C"/>
                </a:solidFill>
              </a:rPr>
              <a:t>Supplier bank-detail redirection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6D2E7-833E-49DA-92E4-878A902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A stale or excessive account remains active.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A2789-4685-4414-9289-0148C41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An unauthorised change is made and the audit trail is obscured or discovered late.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E3407-1AC5-4BE4-BD2B-CA759E52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BCCED-470C-4608-9810-0E7B114C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77B35"/>
                </a:solidFill>
              </a:defRPr>
            </a:pPr>
            <a:r>
              <a:rPr sz="1950" b="1">
                <a:solidFill>
                  <a:srgbClr val="C77B3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DCA2B-E84B-4E66-82D9-D86FBB3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F4C"/>
                </a:solidFill>
              </a:defRPr>
            </a:pPr>
            <a:r>
              <a:rPr sz="1500" b="1">
                <a:solidFill>
                  <a:srgbClr val="142F4C"/>
                </a:solidFill>
              </a:rPr>
              <a:t>Incident escalation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3A694-966C-4BB8-A4A4-5F2F2C87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A stale or excessive account remains active.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30647-EA7A-4642-9C1D-7304E4D6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An unauthorised change is made and the audit trail is obscured or discovered late.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B23D4-8A9B-4554-B83D-CA70ADC4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19491-D21B-44EF-AE1E-19609373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93E38"/>
                </a:solidFill>
              </a:defRPr>
            </a:pPr>
            <a:r>
              <a:rPr sz="1950" b="1">
                <a:solidFill>
                  <a:srgbClr val="A93E3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A2CD1-816D-4F5D-A612-A36FB916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F4C"/>
                </a:solidFill>
              </a:defRPr>
            </a:pPr>
            <a:r>
              <a:rPr sz="1500" b="1">
                <a:solidFill>
                  <a:srgbClr val="142F4C"/>
                </a:solidFill>
              </a:rPr>
              <a:t>Privileged access misuse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091A3-1543-478C-B793-80CFD1AE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7080"/>
                </a:solidFill>
              </a:defRPr>
            </a:pPr>
            <a:r>
              <a:rPr sz="1200">
                <a:solidFill>
                  <a:srgbClr val="5E7080"/>
                </a:solidFill>
              </a:rPr>
              <a:t>A pattern changes after the last rule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26910-F183-492A-8264-788AEC54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386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Activity continues below or outside stale thresholds until a manual review identifies it.</a:t>
            </a:r>
          </a:p>
        </p:txBody>
      </p:sp>
    </p:spTree>
    <p:extLst>
      <p:ext uri="{BB962C8B-B14F-4D97-AF65-F5344CB8AC3E}">
        <p14:creationId xmlns:p14="http://schemas.microsoft.com/office/powerpoint/2010/main" val="2079374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07482-47BA-436B-A678-E93E74CE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7F7ED-08C8-415C-A589-2DF50A11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Management must choose how to close the access-review gap.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A3749-EEC1-489C-B9BC-D5BA017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Options and trade-offs make the decision explicit before the action plan is agreed.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B4F36-51EE-4069-874A-624FB0A4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A6070-5F43-4C51-A8FB-5503A119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0ECF4-49D6-43A0-9498-E71F3643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8665A-484B-43EC-8918-7A6AB60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F4C"/>
                </a:solidFill>
              </a:defRPr>
            </a:pPr>
            <a:r>
              <a:rPr sz="1800" b="1">
                <a:solidFill>
                  <a:srgbClr val="142F4C"/>
                </a:solidFill>
              </a:rPr>
              <a:t>Approve the Financial Controller mandate for detection ownership and evidence-led oversight.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FFC90-A214-4D62-99CE-40ECA4E3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809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08494-DD69-48C8-A3EE-274D2D23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OPTION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AB4B1-0A22-426F-ACCD-E8502439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F4C"/>
                </a:solidFill>
              </a:defRPr>
            </a:pPr>
            <a:r>
              <a:rPr sz="1500" b="1">
                <a:solidFill>
                  <a:srgbClr val="142F4C"/>
                </a:solidFill>
              </a:rPr>
              <a:t>Option A: assign ownership internally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57184-1DD5-493B-849D-685FEFB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71800"/>
            <a:ext cx="2809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2B465-F59A-4EA9-8CE3-7D24607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62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OPTION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BE748-878E-4328-B7DB-85C94B30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F4C"/>
                </a:solidFill>
              </a:defRPr>
            </a:pPr>
            <a:r>
              <a:rPr sz="1500" b="1">
                <a:solidFill>
                  <a:srgbClr val="142F4C"/>
                </a:solidFill>
              </a:rPr>
              <a:t>Option B: appoint a specialist partner for the first 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007B1-B791-4F59-8D9B-A5A6A1E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28098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0A214-9DCD-41B4-91B1-5544CE4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OPTION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218EC-8F1E-428C-95E3-52A6A331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F4C"/>
                </a:solidFill>
              </a:defRPr>
            </a:pPr>
            <a:r>
              <a:rPr sz="1500" b="1">
                <a:solidFill>
                  <a:srgbClr val="142F4C"/>
                </a:solidFill>
              </a:rPr>
              <a:t>Option C: combine internal ownership with targeted specialist validation.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C24E1-3990-4009-A5B2-F0ED0B1E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91916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E8D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AC121-57D1-40C8-B8A4-4D7A9DD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F4C"/>
                </a:solidFill>
              </a:defRPr>
            </a:pPr>
            <a:r>
              <a:rPr sz="1350">
                <a:solidFill>
                  <a:srgbClr val="142F4C"/>
                </a:solidFill>
              </a:rPr>
              <a:t>Trade-off to record: Option B provides the fastest independent capability uplift but creates recurring cost and a handover dependency.</a:t>
            </a:r>
          </a:p>
        </p:txBody>
      </p:sp>
    </p:spTree>
    <p:extLst>
      <p:ext uri="{BB962C8B-B14F-4D97-AF65-F5344CB8AC3E}">
        <p14:creationId xmlns:p14="http://schemas.microsoft.com/office/powerpoint/2010/main" val="1344896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EE0D8-0628-4A64-9BBA-CC3EEE1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8BCD4-8B1C-44A8-BF10-DBA3360B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The first 90 days should establish population, ownership and validate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9A460-C3B5-4708-AF5C-67F69D64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Sequence the work so early progress creates a reliable control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40E8D-C801-4448-AB04-D6617E25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572F7-B78C-47DC-B7CC-27F91E2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6C95-6774-4419-AE86-988EF5E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AF544-8F55-4391-AC92-C50C276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BA3C0-810C-4D36-A4EA-56DE46F1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142F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905FF-77DB-4F5B-98CA-4135EACA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F4C"/>
                </a:solidFill>
              </a:defRPr>
            </a:pPr>
            <a:r>
              <a:rPr sz="1800" b="1">
                <a:solidFill>
                  <a:srgbClr val="142F4C"/>
                </a:solidFill>
              </a:rPr>
              <a:t>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23953-3509-428F-BE70-9F8A63BB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5040F-FD6D-479B-A14C-38311A40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Approve the detection ownership mandate and first evidence 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A03B5-44DC-422D-AC2B-6BCDFA58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28805-C9A8-4986-B9B5-CC5476A9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Run the first fixed-cycle detection tuning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41966-D798-40E3-8A9D-F0A558B4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88164-0A6B-47F3-954F-B3D74DD4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529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Review segregation-of-duties overrides and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E0FC4-51BE-442B-B752-926CD960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8EAFC-E19F-4C15-92DC-A4228174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F4C"/>
          </a:solidFill>
          <a:ln xmlns:a="http://schemas.openxmlformats.org/drawingml/2006/main" w="0">
            <a:solidFill>
              <a:srgbClr val="142F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CEDDE-B5C0-4DD0-9ABA-502EAA5B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F4C"/>
                </a:solidFill>
              </a:defRPr>
            </a:pPr>
            <a:r>
              <a:rPr sz="1800" b="1">
                <a:solidFill>
                  <a:srgbClr val="142F4C"/>
                </a:solidFill>
              </a:rPr>
              <a:t>60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B1EEC-53DD-4804-A2A5-F61DA29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62FDE-1FB6-42CC-A1B9-5AE9F6B0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Reconcile supplier bank-detail changes and add independent verification.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64F76-A3C5-4DB9-AFEA-12431CEE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9DD65-C1EA-4527-9BEC-E55D63C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052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Reconcile role-based awareness coverage.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44F31-F2BB-49D9-8452-CC61DDB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9E7F1-0928-4D40-912F-8316056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Link incident closure to root cause and control improvement.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C516D-7CE3-41D4-AA5A-3D65B6F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69FB7-2FFB-4BF3-9BB4-3737867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C57"/>
          </a:solidFill>
          <a:ln xmlns:a="http://schemas.openxmlformats.org/drawingml/2006/main" w="0">
            <a:solidFill>
              <a:srgbClr val="142F4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E0B0D3-F859-4CB6-AAC3-C6DBF034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62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F4C"/>
                </a:solidFill>
              </a:defRPr>
            </a:pPr>
            <a:r>
              <a:rPr sz="1800" b="1">
                <a:solidFill>
                  <a:srgbClr val="142F4C"/>
                </a:solidFill>
              </a:rPr>
              <a:t>90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223064-4F57-474F-9A42-202C7703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EFCBA-55EB-4EA9-BE21-F75C9CB3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2"/>
                </a:solidFill>
              </a:defRPr>
            </a:pPr>
            <a:r>
              <a:rPr sz="1125">
                <a:solidFill>
                  <a:srgbClr val="172232"/>
                </a:solidFill>
              </a:rPr>
              <a:t>Approve the detection ownership mandate and first evidence cycle.</a:t>
            </a:r>
          </a:p>
        </p:txBody>
      </p:sp>
    </p:spTree>
    <p:extLst>
      <p:ext uri="{BB962C8B-B14F-4D97-AF65-F5344CB8AC3E}">
        <p14:creationId xmlns:p14="http://schemas.microsoft.com/office/powerpoint/2010/main" val="897711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0897A6-A405-4A68-8C4E-EDD3309E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41675-5D7F-4D96-BA41-8C4AD231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Every action needs an owner, an effectiveness measure and a board checkpoint.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A45E7-E8EA-4A93-915B-4295D5E7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Accountability is the mechanism that turns advisory judgement into operating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F9C91-7DFE-493D-BD79-A2D1443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AD61-999A-43D0-9F3F-A59FC12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337A1-D72F-45C0-A0B9-3AF1E149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7F918-9B5C-4305-8276-C93EF353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7CB09-7473-4306-B856-F0CAC41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Approve the detection ownership mandate and first evidence cycle.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94379-648A-4B0C-BBA4-78E38BA7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Financial 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F8B33-A804-4AA5-8D18-F84D4A75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81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30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E19A1-89A4-4270-B306-35E9931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080"/>
                </a:solidFill>
              </a:defRPr>
            </a:pPr>
            <a:r>
              <a:rPr sz="1125">
                <a:solidFill>
                  <a:srgbClr val="5E7080"/>
                </a:solidFill>
              </a:rPr>
              <a:t>100% of in-scope access reviewed.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FFC82-5E05-46DB-B3C8-F02D02C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9762B-CE87-4931-B99F-F085F84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Run the first fixed-cycle detection tuning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4D2B4-574B-400E-B52E-9859E54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Chief Information Officer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F0BDD-374F-4B58-8D02-EC12B96E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30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5D7D9-FC54-4AEB-8D77-1C2875E3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080"/>
                </a:solidFill>
              </a:defRPr>
            </a:pPr>
            <a:r>
              <a:rPr sz="1125">
                <a:solidFill>
                  <a:srgbClr val="5E7080"/>
                </a:solidFill>
              </a:rPr>
              <a:t>100% of in-scope access reviewed.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B6F26-50A0-48AA-8280-207AA76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F9817-6149-420B-AAD4-A0074AA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Review segregation-of-duties overrides and expiry.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1364C-94C3-433E-847C-07D1CAA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Financial 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F5ADD-B80B-46BF-95A3-2CD977E8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528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30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1AA12-AA4A-458C-9BD9-13E93472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080"/>
                </a:solidFill>
              </a:defRPr>
            </a:pPr>
            <a:r>
              <a:rPr sz="1125">
                <a:solidFill>
                  <a:srgbClr val="5E7080"/>
                </a:solidFill>
              </a:rPr>
              <a:t>100% of in-scope access reviewed.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01E41-C3DE-4792-B3EB-EC29D12A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569D4-9BC1-4C78-A5F4-6471EB19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Reconcile supplier bank-detail changes and add independent verification.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8E41D-5836-4354-B552-7BD9DE1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8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Chief Information Officer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C57DB-F888-4BBA-9A0F-06DB4D2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386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30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81F16-2704-485D-A4C9-B24F1D6A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080"/>
                </a:solidFill>
              </a:defRPr>
            </a:pPr>
            <a:r>
              <a:rPr sz="1125">
                <a:solidFill>
                  <a:srgbClr val="5E7080"/>
                </a:solidFill>
              </a:rPr>
              <a:t>100% of in-scope access reviewed.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54413-F235-459B-91A5-90524253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5FB748-2567-48F5-BC12-6F47F2F9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F4C"/>
                </a:solidFill>
              </a:defRPr>
            </a:pPr>
            <a:r>
              <a:rPr sz="1275" b="1">
                <a:solidFill>
                  <a:srgbClr val="142F4C"/>
                </a:solidFill>
              </a:rPr>
              <a:t>Reconcile supplier bank-detail changes and add independent verification.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ABFE9-70B0-4791-8A71-227414E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2"/>
                </a:solidFill>
              </a:defRPr>
            </a:pPr>
            <a:r>
              <a:rPr sz="1200">
                <a:solidFill>
                  <a:srgbClr val="172232"/>
                </a:solidFill>
              </a:rPr>
              <a:t>Chief Information Officer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A3266C-F443-4D4E-986F-AA4DA49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244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7B35"/>
                </a:solidFill>
              </a:defRPr>
            </a:pPr>
            <a:r>
              <a:rPr sz="1200" b="1">
                <a:solidFill>
                  <a:srgbClr val="C77B35"/>
                </a:solidFill>
              </a:rPr>
              <a:t>60 days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D4B57-4A4E-4047-B0AB-69D80715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7080"/>
                </a:solidFill>
              </a:defRPr>
            </a:pPr>
            <a:r>
              <a:rPr sz="1125">
                <a:solidFill>
                  <a:srgbClr val="5E7080"/>
                </a:solidFill>
              </a:rPr>
              <a:t>All active rules reviewed monthly.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DDBAD-386C-4D26-81F0-A2EE033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7080"/>
                </a:solidFill>
              </a:defRPr>
            </a:pPr>
            <a:r>
              <a:rPr sz="1050" b="1">
                <a:solidFill>
                  <a:srgbClr val="5E7080"/>
                </a:solidFill>
              </a:rPr>
              <a:t>Owner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BF7D3-EE7F-4A89-85F8-E4E2BDEF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7080"/>
                </a:solidFill>
              </a:defRPr>
            </a:pPr>
            <a:r>
              <a:rPr sz="1050" b="1">
                <a:solidFill>
                  <a:srgbClr val="5E7080"/>
                </a:solidFill>
              </a:rPr>
              <a:t>Timing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54AB7-E331-459A-BB00-3ACB77AF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7080"/>
                </a:solidFill>
              </a:defRPr>
            </a:pPr>
            <a:r>
              <a:rPr sz="1050" b="1">
                <a:solidFill>
                  <a:srgbClr val="5E7080"/>
                </a:solidFill>
              </a:rPr>
              <a:t>Effectiveness measure</a:t>
            </a:r>
          </a:p>
        </p:txBody>
      </p:sp>
    </p:spTree>
    <p:extLst>
      <p:ext uri="{BB962C8B-B14F-4D97-AF65-F5344CB8AC3E}">
        <p14:creationId xmlns:p14="http://schemas.microsoft.com/office/powerpoint/2010/main" val="733999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F4546-5F39-41DF-9105-795F972D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7B35"/>
                </a:solidFill>
              </a:defRPr>
            </a:pPr>
            <a:r>
              <a:rPr sz="1050" b="1">
                <a:solidFill>
                  <a:srgbClr val="C77B35"/>
                </a:solidFill>
              </a:rPr>
              <a:t>COMPREHENSIVE REVIEW ·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57FC0-AD1F-4BEE-9BB5-B99B345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F4C"/>
                </a:solidFill>
              </a:defRPr>
            </a:pPr>
            <a:r>
              <a:rPr sz="2925" b="1">
                <a:solidFill>
                  <a:srgbClr val="142F4C"/>
                </a:solidFill>
              </a:rPr>
              <a:t>Next checkpoint: review evidence closure and overdue action ageing.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9C893-CA6E-4552-B9A4-286A334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7080"/>
                </a:solidFill>
              </a:defRPr>
            </a:pPr>
            <a:r>
              <a:rPr sz="1350">
                <a:solidFill>
                  <a:srgbClr val="5E7080"/>
                </a:solidFill>
              </a:rPr>
              <a:t>The deliverable is complete when the decision record and proof of operation are both maintained.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F9D15-4CBD-4FDB-A1CE-B867C8AD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AB56F-7C0C-48CF-89AD-5945792D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MK Fraud Readiness · Comprehensive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379FF-732E-4547-97C8-4C3CC2A5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7080"/>
                </a:solidFill>
              </a:defRPr>
            </a:pPr>
            <a:r>
              <a:rPr sz="975">
                <a:solidFill>
                  <a:srgbClr val="5E7080"/>
                </a:solidFill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B6A4B-540D-4984-99D9-F39B2965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9048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42F4C"/>
          </a:solidFill>
          <a:ln xmlns:a="http://schemas.openxmlformats.org/drawingml/2006/main" w="0">
            <a:solidFill>
              <a:srgbClr val="142F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9FCA2-3C6F-4013-9E2D-8DD2848E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77B35"/>
                </a:solidFill>
              </a:defRPr>
            </a:pPr>
            <a:r>
              <a:rPr sz="1725" b="1">
                <a:solidFill>
                  <a:srgbClr val="C77B35"/>
                </a:solidFill>
              </a:rPr>
              <a:t>Bring four things to the next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C3726-03CC-4543-9356-A810DE03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DEF0F-B71A-43DB-8B3F-2D4B881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Completed evidence items with a clear scope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82A88-06F6-4362-8D3A-862D5C4D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567FE-DBB2-4CF5-9C20-6FF54A4D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33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Open action ageing by accountable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02B6B-BF90-4C3F-B995-94957565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00F71-75D6-4DC5-85D0-796A8FF2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Effectiveness measures for the highest-priority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2B177-D86C-4E7F-8999-01DA0355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B35"/>
          </a:solidFill>
          <a:ln xmlns:a="http://schemas.openxmlformats.org/drawingml/2006/main" w="0">
            <a:solidFill>
              <a:srgbClr val="C77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B3BB4-B75B-48EE-BFE3-3D473632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Explicit residual-risk and escalation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F521B-74D4-4263-B387-4F45C87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F4C"/>
                </a:solidFill>
              </a:defRPr>
            </a:pPr>
            <a:r>
              <a:rPr sz="1800" b="1">
                <a:solidFill>
                  <a:srgbClr val="142F4C"/>
                </a:solidFill>
              </a:rPr>
              <a:t>The board should see the decision, the owner, the date and the proof - not a longer register.</a:t>
            </a:r>
          </a:p>
        </p:txBody>
      </p:sp>
    </p:spTree>
    <p:extLst>
      <p:ext uri="{BB962C8B-B14F-4D97-AF65-F5344CB8AC3E}">
        <p14:creationId xmlns:p14="http://schemas.microsoft.com/office/powerpoint/2010/main" val="120739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2026-08-12T09:14:13.7230000Z</dcterms:created>
  <dcterms:modified xsi:type="dcterms:W3CDTF">2026-08-12T09:14:13.7230000Z</dcterms:modified>
</coreProperties>
</file>