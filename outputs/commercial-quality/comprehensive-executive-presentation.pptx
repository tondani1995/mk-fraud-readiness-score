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7c6cfaf5fc48f7" /><Relationship Type="http://schemas.openxmlformats.org/officeDocument/2006/relationships/extended-properties" Target="/docProps/app.xml" Id="R4281ab62336942f8" /><Relationship Type="http://schemas.openxmlformats.org/officeDocument/2006/relationships/officeDocument" Target="/ppt/presentation.xml" Id="R3fe75e0d08fc49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f83f5ef40b4703"/>
  </p:sldMasterIdLst>
  <p:notesMasterIdLst>
    <p:notesMasterId xmlns:r="http://schemas.openxmlformats.org/officeDocument/2006/relationships" r:id="Rd4fc60f006e444cf"/>
  </p:notesMasterIdLst>
  <p:sldIdLst>
    <p:sldId xmlns:r="http://schemas.openxmlformats.org/officeDocument/2006/relationships" id="256" r:id="R6db4dd886dfe4e14"/>
    <p:sldId xmlns:r="http://schemas.openxmlformats.org/officeDocument/2006/relationships" id="257" r:id="Rf8f08bfcb5ac4ab4"/>
    <p:sldId xmlns:r="http://schemas.openxmlformats.org/officeDocument/2006/relationships" id="258" r:id="R1c3601a1928e43ed"/>
    <p:sldId xmlns:r="http://schemas.openxmlformats.org/officeDocument/2006/relationships" id="259" r:id="R3e10845eb7434e12"/>
    <p:sldId xmlns:r="http://schemas.openxmlformats.org/officeDocument/2006/relationships" id="260" r:id="Rc8a28fe315e24fcc"/>
    <p:sldId xmlns:r="http://schemas.openxmlformats.org/officeDocument/2006/relationships" id="261" r:id="R285b5c0f682d450f"/>
    <p:sldId xmlns:r="http://schemas.openxmlformats.org/officeDocument/2006/relationships" id="262" r:id="R42a8a17a328846de"/>
    <p:sldId xmlns:r="http://schemas.openxmlformats.org/officeDocument/2006/relationships" id="263" r:id="Ra5112cd5a59749b5"/>
    <p:sldId xmlns:r="http://schemas.openxmlformats.org/officeDocument/2006/relationships" id="264" r:id="Rae8e2639f4804d34"/>
    <p:sldId xmlns:r="http://schemas.openxmlformats.org/officeDocument/2006/relationships" id="265" r:id="R9391b7aa699a4d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f1790eceee484b" /><Relationship Type="http://schemas.openxmlformats.org/officeDocument/2006/relationships/slideMaster" Target="/ppt/slideMasters/slideMaster1.xml" Id="Rfff83f5ef40b4703" /><Relationship Type="http://schemas.openxmlformats.org/officeDocument/2006/relationships/notesMaster" Target="/ppt/notesMasters/notesMaster1.xml" Id="Rd4fc60f006e444cf" /><Relationship Type="http://schemas.openxmlformats.org/officeDocument/2006/relationships/presProps" Target="/ppt/presProps.xml" Id="Rf612f99bf50244bf" /><Relationship Type="http://schemas.openxmlformats.org/officeDocument/2006/relationships/tableStyles" Target="/ppt/tableStyles.xml" Id="Ra51b2ffa39744d41" /><Relationship Type="http://schemas.openxmlformats.org/officeDocument/2006/relationships/slide" Target="/ppt/slides/slide1.xml" Id="R6db4dd886dfe4e14" /><Relationship Type="http://schemas.openxmlformats.org/officeDocument/2006/relationships/slide" Target="/ppt/slides/slide2.xml" Id="Rf8f08bfcb5ac4ab4" /><Relationship Type="http://schemas.openxmlformats.org/officeDocument/2006/relationships/slide" Target="/ppt/slides/slide3.xml" Id="R1c3601a1928e43ed" /><Relationship Type="http://schemas.openxmlformats.org/officeDocument/2006/relationships/slide" Target="/ppt/slides/slide4.xml" Id="R3e10845eb7434e12" /><Relationship Type="http://schemas.openxmlformats.org/officeDocument/2006/relationships/slide" Target="/ppt/slides/slide5.xml" Id="Rc8a28fe315e24fcc" /><Relationship Type="http://schemas.openxmlformats.org/officeDocument/2006/relationships/slide" Target="/ppt/slides/slide6.xml" Id="R285b5c0f682d450f" /><Relationship Type="http://schemas.openxmlformats.org/officeDocument/2006/relationships/slide" Target="/ppt/slides/slide7.xml" Id="R42a8a17a328846de" /><Relationship Type="http://schemas.openxmlformats.org/officeDocument/2006/relationships/slide" Target="/ppt/slides/slide8.xml" Id="Ra5112cd5a59749b5" /><Relationship Type="http://schemas.openxmlformats.org/officeDocument/2006/relationships/slide" Target="/ppt/slides/slide9.xml" Id="Rae8e2639f4804d34" /><Relationship Type="http://schemas.openxmlformats.org/officeDocument/2006/relationships/slide" Target="/ppt/slides/slide10.xml" Id="R9391b7aa699a4d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9df630afa640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41d18bccce47f7" /><Relationship Type="http://schemas.openxmlformats.org/officeDocument/2006/relationships/notesMaster" Target="/ppt/notesMasters/notesMaster1.xml" Id="R07c31438683c4c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19a1538bfa4f3c" /><Relationship Type="http://schemas.openxmlformats.org/officeDocument/2006/relationships/notesMaster" Target="/ppt/notesMasters/notesMaster1.xml" Id="R0deb806e539946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faaf03980e4086" /><Relationship Type="http://schemas.openxmlformats.org/officeDocument/2006/relationships/notesMaster" Target="/ppt/notesMasters/notesMaster1.xml" Id="R7284a7a2c04443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55a68aac3c49bb" /><Relationship Type="http://schemas.openxmlformats.org/officeDocument/2006/relationships/notesMaster" Target="/ppt/notesMasters/notesMaster1.xml" Id="Re43e9d6db9e94b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15260e8a714e42" /><Relationship Type="http://schemas.openxmlformats.org/officeDocument/2006/relationships/notesMaster" Target="/ppt/notesMasters/notesMaster1.xml" Id="R2e3a0bfef13244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34e82cb754450e" /><Relationship Type="http://schemas.openxmlformats.org/officeDocument/2006/relationships/notesMaster" Target="/ppt/notesMasters/notesMaster1.xml" Id="R52cfc1fb74d54d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5b18019c7c4035" /><Relationship Type="http://schemas.openxmlformats.org/officeDocument/2006/relationships/notesMaster" Target="/ppt/notesMasters/notesMaster1.xml" Id="R9faac4fa5f2248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ef296d1bc14781" /><Relationship Type="http://schemas.openxmlformats.org/officeDocument/2006/relationships/notesMaster" Target="/ppt/notesMasters/notesMaster1.xml" Id="Rd274b20b5a054e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fae5421aee4040" /><Relationship Type="http://schemas.openxmlformats.org/officeDocument/2006/relationships/notesMaster" Target="/ppt/notesMasters/notesMaster1.xml" Id="Rde0553faf323473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f0a014c44c4ee2" /><Relationship Type="http://schemas.openxmlformats.org/officeDocument/2006/relationships/notesMaster" Target="/ppt/notesMasters/notesMaster1.xml" Id="R747030fda53149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Source: persisted Kestrel engagement MKORD-2026-7FBBEE23.</a:t>
            </a:r>
          </a:p>
          <a:p xmlns:a="http://schemas.openxmlformats.org/drawingml/2006/main">
            <a:r>
              <a:t>- McKinsey board risk perspective: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Preserve scope, position, evidence boundary, owner, date and proof in the annotated register.</a:t>
            </a:r>
          </a:p>
          <a:p xmlns:a="http://schemas.openxmlformats.org/drawingml/2006/main">
            <a:r>
              <a:t>- Scenarios: actor, opportunity, entry point, mechanism, bypassed control, concealment, consequence, warning, containment, long-term response.</a:t>
            </a:r>
          </a:p>
          <a:p xmlns:a="http://schemas.openxmlformats.org/drawingml/2006/main">
            <a:r>
              <a:t>- Controls: What (control objective), Who, Population, Frequency, Evidence retained, Independent check, Escalation, SLA, Effectiveness measure, Failure response.</a:t>
            </a:r>
          </a:p>
          <a:p xmlns:a="http://schemas.openxmlformats.org/drawingml/2006/main">
            <a:r>
              <a:t>- Decisions: three options with cost, benefit, trade-off; recommendation, rationale, rejection reason, owner, deadline.</a:t>
            </a:r>
          </a:p>
          <a:p xmlns:a="http://schemas.openxmlformats.org/drawingml/2006/main">
            <a:r>
              <a:t>- Traceability: annotated register preserves the source chain.</a:t>
            </a:r>
          </a:p>
          <a:p xmlns:a="http://schemas.openxmlformats.org/drawingml/2006/main">
            <a:r>
              <a:t>- Exhibits: E1, E2, E3, E4, E5, E6, E7, E8, E9, E10.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73284e103548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3cdb943c004024" /><Relationship Type="http://schemas.openxmlformats.org/officeDocument/2006/relationships/slideLayout" Target="/ppt/slideLayouts/slideLayout1.xml" Id="Ra57c76b3ef4d4a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7c76b3ef4d4a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558f2cbd742f6" /><Relationship Type="http://schemas.openxmlformats.org/officeDocument/2006/relationships/notesSlide" Target="/ppt/notesSlides/notesSlide1.xml" Id="R5aa7c8b2b1e349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767760ff84802" /><Relationship Type="http://schemas.openxmlformats.org/officeDocument/2006/relationships/notesSlide" Target="/ppt/notesSlides/notesSlide2.xml" Id="R45a83f476dff44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f0a738f7b45cd" /><Relationship Type="http://schemas.openxmlformats.org/officeDocument/2006/relationships/notesSlide" Target="/ppt/notesSlides/notesSlide3.xml" Id="Rb1e6e9ecc54647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9bfeabc04448a" /><Relationship Type="http://schemas.openxmlformats.org/officeDocument/2006/relationships/notesSlide" Target="/ppt/notesSlides/notesSlide4.xml" Id="R3b61c6ac621841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58e2bb0d048df" /><Relationship Type="http://schemas.openxmlformats.org/officeDocument/2006/relationships/notesSlide" Target="/ppt/notesSlides/notesSlide5.xml" Id="R19c8bf7dc6c046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c036247f74d93" /><Relationship Type="http://schemas.openxmlformats.org/officeDocument/2006/relationships/notesSlide" Target="/ppt/notesSlides/notesSlide6.xml" Id="Re8a1399f443c42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6356e285d44d5" /><Relationship Type="http://schemas.openxmlformats.org/officeDocument/2006/relationships/notesSlide" Target="/ppt/notesSlides/notesSlide7.xml" Id="R8e0cc920bb7d43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042835b5d4b51" /><Relationship Type="http://schemas.openxmlformats.org/officeDocument/2006/relationships/notesSlide" Target="/ppt/notesSlides/notesSlide8.xml" Id="R44e84ad58f6d4b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8f98a35cd4043" /><Relationship Type="http://schemas.openxmlformats.org/officeDocument/2006/relationships/notesSlide" Target="/ppt/notesSlides/notesSlide9.xml" Id="R4c7d49655e3641e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6360b160d4cb5" /><Relationship Type="http://schemas.openxmlformats.org/officeDocument/2006/relationships/notesSlide" Target="/ppt/notesSlides/notesSlide10.xml" Id="Rcb3fb4d2430546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F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EF23B-E830-4DDE-AF36-0FD5F5FF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D56B8-B8A9-41E7-BE53-71C63B3F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763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E1E7"/>
                </a:solidFill>
              </a:defRPr>
            </a:pPr>
            <a:r>
              <a:rPr sz="1200" b="1">
                <a:solidFill>
                  <a:srgbClr val="D9E1E7"/>
                </a:solidFill>
              </a:rPr>
              <a:t>MK FRAUD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7BEB53-E27C-4635-B608-8810D759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The evidence review turns a diagnostic into a management decision record.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9F060-D6BD-46A1-8C20-E4E17A98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E1E7"/>
                </a:solidFill>
              </a:defRPr>
            </a:pPr>
            <a:r>
              <a:rPr sz="1650">
                <a:solidFill>
                  <a:srgbClr val="D9E1E7"/>
                </a:solidFill>
              </a:rPr>
              <a:t>Kestrel Industrial Supply (Pty) Ltd</a:t>
            </a:r>
          </a:p>
          <a:p xmlns:a="http://schemas.openxmlformats.org/drawingml/2006/main">
            <a:pPr>
              <a:defRPr sz="1650">
                <a:solidFill>
                  <a:srgbClr val="D9E1E7"/>
                </a:solidFill>
              </a:defRPr>
            </a:pPr>
            <a:r>
              <a:rPr sz="1650">
                <a:solidFill>
                  <a:srgbClr val="D9E1E7"/>
                </a:solidFill>
              </a:rPr>
              <a:t>Comprehensive review · evidence-led engagement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BAE6D-CEDF-44E6-B5C3-6D8D85B6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D9E1E7"/>
                </a:solidFill>
              </a:defRPr>
            </a:pPr>
            <a:r>
              <a:rPr sz="1200">
                <a:solidFill>
                  <a:srgbClr val="D9E1E7"/>
                </a:solidFill>
              </a:rPr>
              <a:t>Named reviewer: Independent review lead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ADAA09-243B-499B-B195-383D40B1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9A227"/>
                </a:solidFill>
              </a:defRPr>
            </a:pPr>
            <a:r>
              <a:rPr sz="975" b="1">
                <a:solidFill>
                  <a:srgbClr val="C9A227"/>
                </a:solidFill>
              </a:rPr>
              <a:t>CONFIDENTIAL · DECISION SUPPORT</a:t>
            </a:r>
          </a:p>
        </p:txBody>
      </p:sp>
    </p:spTree>
    <p:extLst>
      <p:ext uri="{BB962C8B-B14F-4D97-AF65-F5344CB8AC3E}">
        <p14:creationId xmlns:p14="http://schemas.microsoft.com/office/powerpoint/2010/main" val="20335504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80E0E2-06F2-4AFC-9503-02A18270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9C016-C89B-4F55-8F5F-4DDEA3AA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The recorded position is developing; assurance is narrower than the score.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F57B3-2AFD-4C2D-9150-0C1629E9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Separate the deterministic result from what the evidence review can support.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067EC-93B0-42A0-9ADA-73E85FA4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3D77E-B926-406E-BF04-27BEC376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70D9A-C496-4ED6-A79A-F0B5F1EA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7BBB8-3F5B-42AB-A17D-43AB8933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4F9F2-CD90-47DE-BDC8-683E039E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F4C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748FB-2532-4BE2-9900-9D1575D8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A6B7C"/>
                </a:solidFill>
              </a:defRPr>
            </a:pPr>
            <a:r>
              <a:rPr sz="1125" b="1">
                <a:solidFill>
                  <a:srgbClr val="5A6B7C"/>
                </a:solidFill>
              </a:rPr>
              <a:t>Reported 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E6F074-FD90-4E70-8F71-24216576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55 / 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F4EADA-B388-4367-BA22-034178AF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Developing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0E501-F3D6-4A24-9314-0B08C1C1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5B36C-9B0D-4486-AF10-32C7E78D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2020"/>
          </a:solidFill>
          <a:ln xmlns:a="http://schemas.openxmlformats.org/drawingml/2006/main" w="0">
            <a:solidFill>
              <a:srgbClr val="A320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CF9EA8-B5B4-4689-BF62-7079E2A4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A6B7C"/>
                </a:solidFill>
              </a:defRPr>
            </a:pPr>
            <a:r>
              <a:rPr sz="1125" b="1">
                <a:solidFill>
                  <a:srgbClr val="5A6B7C"/>
                </a:solidFill>
              </a:rPr>
              <a:t>Exposure 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904534-E6C8-4A3A-8269-7443A981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0 / 100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1669D8-7594-4FB3-B1B8-2171452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Not assessed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40974-CA0A-4692-8347-4EF70DE4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53C07-790C-468D-AFCF-33038E40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B4A"/>
          </a:solidFill>
          <a:ln xmlns:a="http://schemas.openxmlformats.org/drawingml/2006/main" w="0">
            <a:solidFill>
              <a:srgbClr val="1F6B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412124-CA8D-45E2-951D-13377614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A6B7C"/>
                </a:solidFill>
              </a:defRPr>
            </a:pPr>
            <a:r>
              <a:rPr sz="1125" b="1">
                <a:solidFill>
                  <a:srgbClr val="5A6B7C"/>
                </a:solidFill>
              </a:rPr>
              <a:t>Supported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8AFEB8-B4A1-42D6-B2A6-179D5853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AB3BF-3BC9-43B7-A4E4-FF32B454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of 12 items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999258-981D-4748-B337-05D7B4AD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7D2998-FA29-4BD4-B510-72FED31A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765BE2-B5CC-4C56-ACA0-94E3DB99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A6B7C"/>
                </a:solidFill>
              </a:defRPr>
            </a:pPr>
            <a:r>
              <a:rPr sz="1125" b="1">
                <a:solidFill>
                  <a:srgbClr val="5A6B7C"/>
                </a:solidFill>
              </a:rPr>
              <a:t>Unresolved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445BB2-AD75-4D82-B8FA-E17190CB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43601B-53ED-41C4-A846-C4C4B932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items requiring closure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6F4EDA-A602-4C1F-B602-24FD1ECB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7726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BF9F5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D41E78-1784-412A-BEA7-5E41A894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62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Management reading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B5026-37BF-42CC-B626-D2234A77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42F4C"/>
                </a:solidFill>
              </a:defRPr>
            </a:pPr>
            <a:r>
              <a:rPr sz="1500">
                <a:solidFill>
                  <a:srgbClr val="142F4C"/>
                </a:solidFill>
              </a:rPr>
              <a:t>The score is the locked recorded result. Human review changes the confidence, scope and decision implications around that result; it does not silently recalculate it.</a:t>
            </a:r>
          </a:p>
        </p:txBody>
      </p:sp>
    </p:spTree>
    <p:extLst>
      <p:ext uri="{BB962C8B-B14F-4D97-AF65-F5344CB8AC3E}">
        <p14:creationId xmlns:p14="http://schemas.microsoft.com/office/powerpoint/2010/main" val="9268490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1A76F9-D7E0-4CC3-A82F-9247EE29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15BF5F-4B74-4063-A390-06C503F8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Evidence review supports selected positions, but the scope is not fully closed.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AC73B-39DE-46DE-9215-2F1F7E70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The evidence ledger makes the reliance boundary visible in one 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4BC18-0B25-4307-AC71-02167ACC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F18AF-E614-445B-BE58-BD651388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80547-DFCE-4167-8A9C-93CBEC2F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03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D3862-F26A-462D-88F9-9F09304F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Supported for stated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1A698-D5D6-423F-BB95-2E520CD8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36953C-92EF-4C35-904C-018A43A6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B4A"/>
          </a:solidFill>
          <a:ln xmlns:a="http://schemas.openxmlformats.org/drawingml/2006/main" w="0">
            <a:solidFill>
              <a:srgbClr val="1F6B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B4A45-5B46-4912-A29D-7179E772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955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5BD54-067C-44B8-97C2-ABECB93D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Evidence reviewed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B404F-EBCA-4C69-8F13-4E1271C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51973-4A8F-4E90-8497-CAAD2E27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41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4A6B"/>
          </a:solidFill>
          <a:ln xmlns:a="http://schemas.openxmlformats.org/drawingml/2006/main" w="0">
            <a:solidFill>
              <a:srgbClr val="2C4A6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6F3F77-A292-4090-9759-A1604CD8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86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EBCB1-E2E7-481A-8468-A08CBC31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Insufficient for conclusion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1A1A7-9D58-4055-B4AB-65BE3DF3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C0EA3B-CF54-46DD-BD98-61B556E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82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2020"/>
          </a:solidFill>
          <a:ln xmlns:a="http://schemas.openxmlformats.org/drawingml/2006/main" w="0">
            <a:solidFill>
              <a:srgbClr val="A3202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442A53-50C2-4E6D-8761-0A2B739E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766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9D670D-74BB-4450-934D-D6C7EF20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Self-reported / 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6847E-6E98-47E0-8B89-62157E9C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69D5D4-0648-4EA7-94E5-9106AEC5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165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9D9A08-723C-4790-8BA5-4FF409C3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867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86E08-F1E2-4935-A0F7-A4A0374A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919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EC7FFA-89E7-4AE0-ACA9-09D2FFB1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720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What the board can rely 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A7E6C4-EE00-40E3-B6D2-53ACD303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959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A2634"/>
                </a:solidFill>
              </a:defRPr>
            </a:pPr>
            <a:r>
              <a:rPr sz="1350">
                <a:solidFill>
                  <a:srgbClr val="1A2634"/>
                </a:solidFill>
              </a:rPr>
              <a:t>Only the named evidence scope. “Insufficient” means the evidence did not establish a conclusion; it does not mean misconduct occurred.</a:t>
            </a:r>
          </a:p>
        </p:txBody>
      </p:sp>
    </p:spTree>
    <p:extLst>
      <p:ext uri="{BB962C8B-B14F-4D97-AF65-F5344CB8AC3E}">
        <p14:creationId xmlns:p14="http://schemas.microsoft.com/office/powerpoint/2010/main" val="1247056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4B91A0-254B-470B-85CB-54CAD0BB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B29F8-8F63-4C87-8385-1A2A6E90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Human review adds judgement where the self-assessment is too broad.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2EA8C3-A01D-425B-8CF8-9A4A955F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The review narrows claims to the population and artefacts actually examined.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D066C-6167-4CE8-BB67-B403D2A6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AF78F-F1BE-434F-8A26-0EF3FA90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6AAE6-C063-4924-BD79-F420C9CB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CAC77-23C8-48BD-BAA8-174E9F4B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B4A"/>
          </a:solidFill>
          <a:ln xmlns:a="http://schemas.openxmlformats.org/drawingml/2006/main" w="0">
            <a:solidFill>
              <a:srgbClr val="1F6B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FDDF4B-A98E-490E-8C8D-2E497BC4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Awareness completion is not reconciled to higher-risk roles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96C2E-AF97-41BB-BC85-60182B1E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81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Recorded: Self-reported position: Exists only informally or inconsistently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A07A3-B89D-4728-ACC3-5659D445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Reviewer view: Retain the deterministic issue while keeping assurance bounded.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672D0-77EE-4F61-8EC9-75C6DE37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89EA5-76C3-40BF-BCF0-98F9D20C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Committee oversight does not yet evidence a complete fraud-risk cycle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0BE57-5857-4FAA-93D9-5B705BFC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76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Recorded: Self-reported position: No control exists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894032-4B76-460C-9B52-067DE4FF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76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Reviewer view: Retain the conclusion for the reviewed scope only.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C3D078-5504-4B30-96F4-BC626167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B4A"/>
          </a:solidFill>
          <a:ln xmlns:a="http://schemas.openxmlformats.org/drawingml/2006/main" w="0">
            <a:solidFill>
              <a:srgbClr val="1F6B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9AE348-A1DC-466B-99D5-D49BA5F1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Detection tuning and alert ageing need a fixed management rhythm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63CCD-2560-470E-A844-EEDBABC5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719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Recorded: Self-reported position: No control exists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3DD82E-3916-457F-8DD7-FB334D10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719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Reviewer view: Retain the deterministic issue while keeping assurance bounded.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69F127-C3E5-4CD0-A97A-A27BDAFB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0B79B2-54F5-4885-BDAD-965C461A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67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Evidence review: Approved fraud risk management policy and committee terms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1AC1AB-2784-43DB-B15B-0B0A0258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67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Recorded: Self-reported position retained unless separately evidenced.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ABD61-AE5A-432C-B9C7-3712C2D4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672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Reviewer view: The reviewed artefact supports the stated scope.</a:t>
            </a:r>
          </a:p>
        </p:txBody>
      </p:sp>
    </p:spTree>
    <p:extLst>
      <p:ext uri="{BB962C8B-B14F-4D97-AF65-F5344CB8AC3E}">
        <p14:creationId xmlns:p14="http://schemas.microsoft.com/office/powerpoint/2010/main" val="17023269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820C72-0B6A-4852-ACE5-0793EAB2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ED855-B3FA-4CB9-ABDB-C1D642EB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Risk concentrates where ownership, detection and response do not yet connect.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1275F3-F78A-482B-9E62-F7E56D03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Top risk pathways are shown as operating exposure, not as allegations.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73C39-5C66-4391-B7C3-8830400C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89845-A97A-4366-8397-C4752F83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B0574-1473-4717-B1F9-FA128532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05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5804D-FAE5-4D73-802C-148B4B75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A supplier bank change may redirect a legitimate payment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56F36-EFCD-4965-A400-2ABEF293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574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9769F-99DD-4A63-B92E-4E025B37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574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2020"/>
          </a:solidFill>
          <a:ln xmlns:a="http://schemas.openxmlformats.org/drawingml/2006/main" w="0">
            <a:solidFill>
              <a:srgbClr val="A320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47DA6-0B29-41C2-A280-83BF023B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32020"/>
                </a:solidFill>
              </a:defRPr>
            </a:pPr>
            <a:r>
              <a:rPr sz="1200" b="1">
                <a:solidFill>
                  <a:srgbClr val="A32020"/>
                </a:solidFill>
              </a:rPr>
              <a:t>Critical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54F37-4721-47F6-A3F1-B90BC371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812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Implement a complete role-based access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A5233-9FFC-49A1-BAFD-C768F502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Privileged access may enable unauthorised record changes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9D5BA-7107-43B9-AFC5-694E4CA5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D55166-0FF2-488E-A59A-F72484BE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2020"/>
          </a:solidFill>
          <a:ln xmlns:a="http://schemas.openxmlformats.org/drawingml/2006/main" w="0">
            <a:solidFill>
              <a:srgbClr val="A3202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3AABE6-8E94-4A7E-B017-3D558F12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670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32020"/>
                </a:solidFill>
              </a:defRPr>
            </a:pPr>
            <a:r>
              <a:rPr sz="1200" b="1">
                <a:solidFill>
                  <a:srgbClr val="A32020"/>
                </a:solidFill>
              </a:rPr>
              <a:t>Critical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53CEF8-55EC-4AC0-9E87-BC76CF18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479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Implement a complete role-based access review.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C8374A-002D-4094-BD13-940ACC85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Fraud-risk decisions may remain unchallenged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2013CD-BBB8-4267-A858-82F78371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909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FB07FC-EAD7-49CE-8440-8C2D06F5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909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FCF11C-688C-4DEC-B3B6-507B5A4D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337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C89847-674C-4081-B766-E9BDF060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147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Implement a complete role-based access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E8A65-235E-4F29-8F2B-9CD830E5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814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Stale detection rules may delay an alert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3A0119-3A2C-46CD-BE72-D5F923B9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576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78670E-828F-4CE3-8D6F-72A168C7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576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CCD584-CE3D-4800-83F3-F667931B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00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High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EA9A06-692F-4744-AB8C-EE4FE55A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814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Implement a complete role-based access review.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298E6F-EDAC-41E5-80F7-7391CDE7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Incident lessons may not reduce repeat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87085D-F130-436E-B45E-F77965C0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7244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1F8DA2-64F1-4E6A-8915-E2156D98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7244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5CDB23-4208-46D2-B726-442ABB1E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67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High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7B20BD-346B-4787-AF66-7779D472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482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C"/>
                </a:solidFill>
              </a:defRPr>
            </a:pPr>
            <a:r>
              <a:rPr sz="1050">
                <a:solidFill>
                  <a:srgbClr val="5A6B7C"/>
                </a:solidFill>
              </a:rPr>
              <a:t>Implement a complete role-based access review.</a:t>
            </a:r>
          </a:p>
        </p:txBody>
      </p:sp>
    </p:spTree>
    <p:extLst>
      <p:ext uri="{BB962C8B-B14F-4D97-AF65-F5344CB8AC3E}">
        <p14:creationId xmlns:p14="http://schemas.microsoft.com/office/powerpoint/2010/main" val="5065167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929952-6B7E-40B5-8C37-27636D81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C5893-9771-4B28-89D5-97C21BAA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Three plausible pathways show how control gaps can compound.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E1151-C766-40BE-ABD0-406DCCF6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Scenario logic helps management validate prevention, detection and containment together.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9B5329-445E-4AA4-AC2E-5AAADC72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1D55F-8768-42C4-AE3D-C28400E7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3BBC7-B10A-4E14-B832-18104E9D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4F1EA-DCD9-4A98-9731-5DC6E565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F9F5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9BDB2-C603-4A2F-9540-63A576DF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860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9A227"/>
                </a:solidFill>
              </a:defRPr>
            </a:pPr>
            <a:r>
              <a:rPr sz="1950" b="1">
                <a:solidFill>
                  <a:srgbClr val="C9A227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4ADEB-54E9-480A-B224-D6F94BD0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Supplier bank-detail redirection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BB96A3-BE40-4DA0-ABA1-98105C92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A stale or excessive account remains active.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3AFEA4-C678-4623-8C45-7433CBE1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An unauthorised change is made and the audit trail is obscured or discovered late.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0921F-970B-49B0-8428-BF950DDA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DF4E7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79B96B-721C-4C08-BF1C-0529565C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860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9A227"/>
                </a:solidFill>
              </a:defRPr>
            </a:pPr>
            <a:r>
              <a:rPr sz="1950" b="1">
                <a:solidFill>
                  <a:srgbClr val="C9A227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107113-1728-4C26-8C4F-CD54F984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813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Incident escalation delay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E0A075-F0C4-4260-A365-D7BB2BC7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A stale or excessive account remains active.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05FEBB-DFCC-4551-B01A-04F576D8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386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An unauthorised change is made and the audit trail is obscured or discovered late.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D8056-976D-4F6A-A190-D1C124D0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EDED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6A378-9577-4A8B-8259-8F14AA41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860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32020"/>
                </a:solidFill>
              </a:defRPr>
            </a:pPr>
            <a:r>
              <a:rPr sz="1950" b="1">
                <a:solidFill>
                  <a:srgbClr val="A32020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847F8-534A-43C5-9151-D49CE04D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813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Privileged access misuse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0E4A9-2CD4-4697-808B-2E820A3C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A6B7C"/>
                </a:solidFill>
              </a:defRPr>
            </a:pPr>
            <a:r>
              <a:rPr sz="1200">
                <a:solidFill>
                  <a:srgbClr val="5A6B7C"/>
                </a:solidFill>
              </a:rPr>
              <a:t>A pattern changes after the last rule review.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67B69-7A3E-4DDD-9974-C3C7439A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Activity continues below or outside stale thresholds until a manual review identifies it.</a:t>
            </a:r>
          </a:p>
        </p:txBody>
      </p:sp>
    </p:spTree>
    <p:extLst>
      <p:ext uri="{BB962C8B-B14F-4D97-AF65-F5344CB8AC3E}">
        <p14:creationId xmlns:p14="http://schemas.microsoft.com/office/powerpoint/2010/main" val="20067760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3AC0AA-7B18-4DFD-B5FB-0AFB5CF7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720C5-11B5-414B-92D9-D826EFA4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Management must choose how to close the access-review gap.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1BF51-E8AE-4C94-A917-8C03467B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Options and trade-offs make the decision explicit before the action plan is agreed.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F905C2-5FD7-4A76-AE54-60E8CFE3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3D648-D1EF-44F7-AA42-F9D3BE68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62AE2-C64F-44CF-A9DD-D9BADAD0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07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E2B4E-375D-4ECE-BBAC-C5B44361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Approve the Financial Controller mandate for detection ownership and evidence-led oversight.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9706E-85D7-42E3-8B47-82DD975B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28098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9F24B-B9E3-43FE-A98A-F413E48B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OPTION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C5EBED-73E8-4B6E-B737-471D54DD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433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Option A: assign ownership internally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2F5C2-FAF1-4E13-AE99-06CE4D47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971800"/>
            <a:ext cx="28098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A36A1-18D6-4AF3-923B-5B731C26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162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OPTION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BDE31-02A8-4764-ADD1-4EA3A965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433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Option B: appoint a specialist partner for the first cycle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787FB-B887-4639-A420-3428A212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71800"/>
            <a:ext cx="28098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A31C2-C5B4-4172-8A1B-1D1CAF0A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62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OPTION 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9A49F-D3B0-43F2-8C9D-B7AD2907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Option C: combine internal ownership with targeted specialist validation.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8F20C9-9DA4-4032-85A7-2C68ED09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9191625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DF4E7"/>
          </a:solidFill>
          <a:ln xmlns:a="http://schemas.openxmlformats.org/drawingml/2006/main" w="9525">
            <a:solidFill>
              <a:srgbClr val="F0E6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A41098-D00B-45D6-B786-91DC28E4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81600"/>
            <a:ext cx="866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42F4C"/>
                </a:solidFill>
              </a:defRPr>
            </a:pPr>
            <a:r>
              <a:rPr sz="1350">
                <a:solidFill>
                  <a:srgbClr val="142F4C"/>
                </a:solidFill>
              </a:rPr>
              <a:t>Trade-off to record: Option B provides the fastest independent capability uplift but creates recurring cost and a handover dependency.</a:t>
            </a:r>
          </a:p>
        </p:txBody>
      </p:sp>
    </p:spTree>
    <p:extLst>
      <p:ext uri="{BB962C8B-B14F-4D97-AF65-F5344CB8AC3E}">
        <p14:creationId xmlns:p14="http://schemas.microsoft.com/office/powerpoint/2010/main" val="8321030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CF539A-36C5-41FA-9CE2-537673BF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F067D-9D94-4CF0-9A3A-7C9CC9C9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The first 90 days should establish population, ownership and validate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D8543-C3F4-417D-99D8-C09B1D96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Sequence the work so early progress creates a reliable control baseline.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9B004-52C5-431F-9F16-9FA2A40A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940FF-7164-47AA-ADC9-4C88B8CB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92477-FD69-4C9D-8A29-6FB28137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1BD9C-5A7D-4AEC-A184-0CA3DDCA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2857500" cy="3143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2B1A3-1C51-4CBE-B5F7-80383898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608BD-D0E1-47BF-88FD-DA1324A3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30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D7C75-5242-4AE2-9930-0FC05DA8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6E25E-542F-4546-89D4-9861CEA2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57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Approve the detection ownership mandate and first evidence cycle.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81755-BD0A-40AB-B2B8-9C22C0B1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A0CFD-B8A0-4D0A-AEB2-A8CEEC1C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052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Run the first fixed-cycle detection tuning review.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EE14D5-BD78-45F1-9D41-DB94117F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D8E08-EE24-42CC-AB9A-4A9DDE5D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529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Review segregation-of-duties overrides and expiry.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A6480E-B026-4ADC-898A-93A83067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2857500" cy="3143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EBBFA5-1E70-43D0-80C2-BE77E607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F4C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1C7394-CEFD-4641-B6C2-38222A69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62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60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BB8D4-C630-47A5-AA36-BE356B1F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33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C742E2-2501-4758-9286-C10CA1AA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199FE2-B282-4DA2-97B0-3CF4AAE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81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4B7EC-ABDF-4ACA-8D76-3563241F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052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Reconcile role-based awareness coverage.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C3A27F-12C0-4C0D-AAD1-7E285DF9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06C593-08CD-4809-9E7C-6DE070B5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529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Link incident closure to root cause and control improvement.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EB7BC4-30FB-42C0-B8B4-F42D5385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2857500" cy="3143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3F2B34-D105-4948-89EF-ED69697E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B4A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296343-7BD7-452E-BC7E-D3CE2EAA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90 days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DB30CA-E84F-4901-8CA5-35FAD1CB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33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C2C1BD-1DBB-4EF1-BB78-2A101EB7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57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A2634"/>
                </a:solidFill>
              </a:defRPr>
            </a:pPr>
            <a:r>
              <a:rPr sz="1125">
                <a:solidFill>
                  <a:srgbClr val="1A2634"/>
                </a:solidFill>
              </a:rPr>
              <a:t>Approve the detection ownership mandate and first evidence cycle.</a:t>
            </a:r>
          </a:p>
        </p:txBody>
      </p:sp>
    </p:spTree>
    <p:extLst>
      <p:ext uri="{BB962C8B-B14F-4D97-AF65-F5344CB8AC3E}">
        <p14:creationId xmlns:p14="http://schemas.microsoft.com/office/powerpoint/2010/main" val="18914888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B095A5-F85D-4A8E-BECB-14F929F6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311EA-C8FB-4816-913C-DD9FE198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Every action needs an owner, an effectiveness measure and a board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4F271-0966-4C19-9A96-ABE8C054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Accountability is the mechanism that turns advisory judgement into operating change.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FDF4F-D90B-462C-B06A-6530EA51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67BB4-90F9-4FA9-A707-0F5479F0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6B903-D3D9-431B-AEDC-9FE22086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41F0F-8196-461E-B25D-3AA08C3A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4FE6A-62C8-421A-8C7C-8E2C8ACB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Approve the detection ownership mandate and first evidence cycle.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B1FFC-2B5C-4BAE-B82F-E0E811F6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812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Financial Controller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2651C-4B6E-4A16-BD2F-FD2D5C6F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81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30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EC274-EA14-4947-BF4E-4DACED03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81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A6B7C"/>
                </a:solidFill>
              </a:defRPr>
            </a:pPr>
            <a:r>
              <a:rPr sz="1125">
                <a:solidFill>
                  <a:srgbClr val="5A6B7C"/>
                </a:solidFill>
              </a:rPr>
              <a:t>100% of in-scope access reviewed.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41198-A522-42E2-8A7F-2FE39F1A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AD2DF1-65A2-4103-9805-D949FADF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Run the first fixed-cycle detection tuning review.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8CC41E-910A-475E-AFB0-2D94C6B5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Chief Information Officer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66A71-DF36-4ABA-9BDB-7B44E48B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30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F0FE5-7BF5-4245-96E0-C1E5639D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A6B7C"/>
                </a:solidFill>
              </a:defRPr>
            </a:pPr>
            <a:r>
              <a:rPr sz="1125">
                <a:solidFill>
                  <a:srgbClr val="5A6B7C"/>
                </a:solidFill>
              </a:rPr>
              <a:t>100% of in-scope access reviewed.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0EC43-65E2-47E2-AE25-E43A4C78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BCD9A-E5D2-4DC2-8984-E7FCF269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Review segregation-of-duties overrides and expiry.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08EF75-A117-4515-B106-F6D752C6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528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Financial Controller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A0BD4E-12AA-43F0-BEFC-9C5B4B74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528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30 days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BCBF53-E21B-458C-A927-867A04B7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52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A6B7C"/>
                </a:solidFill>
              </a:defRPr>
            </a:pPr>
            <a:r>
              <a:rPr sz="1125">
                <a:solidFill>
                  <a:srgbClr val="5A6B7C"/>
                </a:solidFill>
              </a:rPr>
              <a:t>100% of in-scope access reviewed.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A45BA4-DFC2-4791-B43E-FE9E4176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888A79-F5D7-4CD0-9282-F0973403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87D3FC-9E12-40C3-80BA-3E0C1808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8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Chief Information Officer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CFF5C3-D301-4FC6-B2D3-C96AA563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30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538F4E-AC0A-4028-AE7B-F2F5DB9E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38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A6B7C"/>
                </a:solidFill>
              </a:defRPr>
            </a:pPr>
            <a:r>
              <a:rPr sz="1125">
                <a:solidFill>
                  <a:srgbClr val="5A6B7C"/>
                </a:solidFill>
              </a:rPr>
              <a:t>100% of in-scope access reviewed.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1DF1D8-4E6D-4512-B05C-8AD5FDE9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27232D-F730-42C9-A593-B111499F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71E93D-0905-4CE7-B6E5-BCCE000C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A2634"/>
                </a:solidFill>
              </a:defRPr>
            </a:pPr>
            <a:r>
              <a:rPr sz="1200">
                <a:solidFill>
                  <a:srgbClr val="1A2634"/>
                </a:solidFill>
              </a:rPr>
              <a:t>Chief Information Officer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4B520A-7CC1-44F5-B963-6B7ED3C3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244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A227"/>
                </a:solidFill>
              </a:defRPr>
            </a:pPr>
            <a:r>
              <a:rPr sz="1200" b="1">
                <a:solidFill>
                  <a:srgbClr val="C9A227"/>
                </a:solidFill>
              </a:rPr>
              <a:t>60 days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E38FFE-1D9E-436F-8846-2CB6E2AA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24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A6B7C"/>
                </a:solidFill>
              </a:defRPr>
            </a:pPr>
            <a:r>
              <a:rPr sz="1125">
                <a:solidFill>
                  <a:srgbClr val="5A6B7C"/>
                </a:solidFill>
              </a:rPr>
              <a:t>All active rules reviewed monthly.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1B94E0-471C-4C93-A68C-922DD4AB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A6B7C"/>
                </a:solidFill>
              </a:defRPr>
            </a:pPr>
            <a:r>
              <a:rPr sz="1050" b="1">
                <a:solidFill>
                  <a:srgbClr val="5A6B7C"/>
                </a:solidFill>
              </a:rPr>
              <a:t>Owner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D9D673-93AA-4B20-8FE4-B93FA5C8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95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A6B7C"/>
                </a:solidFill>
              </a:defRPr>
            </a:pPr>
            <a:r>
              <a:rPr sz="1050" b="1">
                <a:solidFill>
                  <a:srgbClr val="5A6B7C"/>
                </a:solidFill>
              </a:rPr>
              <a:t>Timing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E2DAF9-59F9-4E9D-8ED9-266B7FEB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A6B7C"/>
                </a:solidFill>
              </a:defRPr>
            </a:pPr>
            <a:r>
              <a:rPr sz="1050" b="1">
                <a:solidFill>
                  <a:srgbClr val="5A6B7C"/>
                </a:solidFill>
              </a:rPr>
              <a:t>Effectiveness measure</a:t>
            </a:r>
          </a:p>
        </p:txBody>
      </p:sp>
    </p:spTree>
    <p:extLst>
      <p:ext uri="{BB962C8B-B14F-4D97-AF65-F5344CB8AC3E}">
        <p14:creationId xmlns:p14="http://schemas.microsoft.com/office/powerpoint/2010/main" val="19080845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2BB3AE-9C7B-48A8-8F84-9CB486C0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COMPREHENSIVE REVIEW ·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2C90E-3D61-4EC4-89B5-EFE62BCF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Next checkpoint: review evidence closure and overdue action ageing.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072A94-7071-409E-9DEB-2C32D07F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A6B7C"/>
                </a:solidFill>
              </a:defRPr>
            </a:pPr>
            <a:r>
              <a:rPr sz="1350">
                <a:solidFill>
                  <a:srgbClr val="5A6B7C"/>
                </a:solidFill>
              </a:rPr>
              <a:t>The deliverable is complete when the decision record and proof of operation are both maintained.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D8B3A-C3EA-46D2-A5AE-A108AB74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00E52-180E-41A8-B469-3B49858D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625887-201D-4271-BBD6-93455BED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A6B7C"/>
                </a:solidFill>
              </a:defRPr>
            </a:pPr>
            <a:r>
              <a:rPr sz="975">
                <a:solidFill>
                  <a:srgbClr val="5A6B7C"/>
                </a:solidFill>
              </a:rPr>
              <a:t>10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E6F51-08AE-45FA-A3E5-F657A3E5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9048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42F4C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CF041-B15A-4550-88F3-0D355BD9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9A227"/>
                </a:solidFill>
              </a:defRPr>
            </a:pPr>
            <a:r>
              <a:rPr sz="1725" b="1">
                <a:solidFill>
                  <a:srgbClr val="C9A227"/>
                </a:solidFill>
              </a:rPr>
              <a:t>Bring four things to the next 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D8EDF-D9BB-4236-91B1-19CE0857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D5786A-A60F-4AFC-9A5A-3A42E63C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718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Completed evidence items with a clear scope statement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AD77EE-3406-4B06-9290-43A9C3E4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2C5C1-DE45-408B-B330-B6679171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337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Open action ageing by accountable 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74EC9-A1C1-4E4D-A415-989BE5F8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0524DC-1CBF-4648-9A9D-9D9D88F6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957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Effectiveness measures for the highest-priority controls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25629-8204-42CE-8FB7-69179B97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BA8C4-1302-422E-A85A-62EE1260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576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Explicit residual-risk and escalation decisions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C34322-6163-4A1C-9E13-5B77AFC6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The board should see the decision, the owner, the date and the proof - not a longer register.</a:t>
            </a:r>
          </a:p>
        </p:txBody>
      </p:sp>
    </p:spTree>
    <p:extLst>
      <p:ext uri="{BB962C8B-B14F-4D97-AF65-F5344CB8AC3E}">
        <p14:creationId xmlns:p14="http://schemas.microsoft.com/office/powerpoint/2010/main" val="7217590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2026-08-12T11:25:54.2150000Z</dcterms:created>
  <dcterms:modified xsi:type="dcterms:W3CDTF">2026-08-12T11:25:54.2150000Z</dcterms:modified>
</coreProperties>
</file>