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b6c4912d6fa4196" /><Relationship Type="http://schemas.openxmlformats.org/officeDocument/2006/relationships/extended-properties" Target="/docProps/app.xml" Id="R907a6c6323704a48" /><Relationship Type="http://schemas.openxmlformats.org/officeDocument/2006/relationships/officeDocument" Target="/ppt/presentation.xml" Id="R582db37c602c4cf4" /></Relationships>
</file>

<file path=ppt/presentation.xml><?xml version="1.0" encoding="utf-8"?>
<p:presentation xmlns:p="http://schemas.openxmlformats.org/presentationml/2006/main">
  <p:sldMasterIdLst>
    <p:sldMasterId xmlns:r="http://schemas.openxmlformats.org/officeDocument/2006/relationships" id="2147483648" r:id="Rbc8fdca0378545cc"/>
  </p:sldMasterIdLst>
  <p:notesMasterIdLst>
    <p:notesMasterId xmlns:r="http://schemas.openxmlformats.org/officeDocument/2006/relationships" r:id="Refa7e803820844bc"/>
  </p:notesMasterIdLst>
  <p:sldIdLst>
    <p:sldId xmlns:r="http://schemas.openxmlformats.org/officeDocument/2006/relationships" id="256" r:id="Rdc80dca792114131"/>
    <p:sldId xmlns:r="http://schemas.openxmlformats.org/officeDocument/2006/relationships" id="257" r:id="R1c66a3f64b904bca"/>
    <p:sldId xmlns:r="http://schemas.openxmlformats.org/officeDocument/2006/relationships" id="258" r:id="Rf08038cf7e4f48f6"/>
    <p:sldId xmlns:r="http://schemas.openxmlformats.org/officeDocument/2006/relationships" id="259" r:id="R272dc053a96143b8"/>
    <p:sldId xmlns:r="http://schemas.openxmlformats.org/officeDocument/2006/relationships" id="260" r:id="Ra80898965cb7407d"/>
    <p:sldId xmlns:r="http://schemas.openxmlformats.org/officeDocument/2006/relationships" id="261" r:id="R754d2d02113d498d"/>
    <p:sldId xmlns:r="http://schemas.openxmlformats.org/officeDocument/2006/relationships" id="262" r:id="R111487fa306c4972"/>
    <p:sldId xmlns:r="http://schemas.openxmlformats.org/officeDocument/2006/relationships" id="263" r:id="R70ad29d0efef405f"/>
    <p:sldId xmlns:r="http://schemas.openxmlformats.org/officeDocument/2006/relationships" id="264" r:id="Rf524070479f04417"/>
    <p:sldId xmlns:r="http://schemas.openxmlformats.org/officeDocument/2006/relationships" id="265" r:id="Ref41d1f2946f47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56019288054167" /><Relationship Type="http://schemas.openxmlformats.org/officeDocument/2006/relationships/slideMaster" Target="/ppt/slideMasters/slideMaster1.xml" Id="Rbc8fdca0378545cc" /><Relationship Type="http://schemas.openxmlformats.org/officeDocument/2006/relationships/notesMaster" Target="/ppt/notesMasters/notesMaster1.xml" Id="Refa7e803820844bc" /><Relationship Type="http://schemas.openxmlformats.org/officeDocument/2006/relationships/presProps" Target="/ppt/presProps.xml" Id="Rc1ab8121318249b7" /><Relationship Type="http://schemas.openxmlformats.org/officeDocument/2006/relationships/tableStyles" Target="/ppt/tableStyles.xml" Id="R22311f390a174fc9" /><Relationship Type="http://schemas.openxmlformats.org/officeDocument/2006/relationships/slide" Target="/ppt/slides/slide1.xml" Id="Rdc80dca792114131" /><Relationship Type="http://schemas.openxmlformats.org/officeDocument/2006/relationships/slide" Target="/ppt/slides/slide2.xml" Id="R1c66a3f64b904bca" /><Relationship Type="http://schemas.openxmlformats.org/officeDocument/2006/relationships/slide" Target="/ppt/slides/slide3.xml" Id="Rf08038cf7e4f48f6" /><Relationship Type="http://schemas.openxmlformats.org/officeDocument/2006/relationships/slide" Target="/ppt/slides/slide4.xml" Id="R272dc053a96143b8" /><Relationship Type="http://schemas.openxmlformats.org/officeDocument/2006/relationships/slide" Target="/ppt/slides/slide5.xml" Id="Ra80898965cb7407d" /><Relationship Type="http://schemas.openxmlformats.org/officeDocument/2006/relationships/slide" Target="/ppt/slides/slide6.xml" Id="R754d2d02113d498d" /><Relationship Type="http://schemas.openxmlformats.org/officeDocument/2006/relationships/slide" Target="/ppt/slides/slide7.xml" Id="R111487fa306c4972" /><Relationship Type="http://schemas.openxmlformats.org/officeDocument/2006/relationships/slide" Target="/ppt/slides/slide8.xml" Id="R70ad29d0efef405f" /><Relationship Type="http://schemas.openxmlformats.org/officeDocument/2006/relationships/slide" Target="/ppt/slides/slide9.xml" Id="Rf524070479f04417" /><Relationship Type="http://schemas.openxmlformats.org/officeDocument/2006/relationships/slide" Target="/ppt/slides/slide10.xml" Id="Ref41d1f2946f47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756cdbd73b4eb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8f19664d324592" /><Relationship Type="http://schemas.openxmlformats.org/officeDocument/2006/relationships/notesMaster" Target="/ppt/notesMasters/notesMaster1.xml" Id="R67295ce5b09448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9b642516694e49" /><Relationship Type="http://schemas.openxmlformats.org/officeDocument/2006/relationships/notesMaster" Target="/ppt/notesMasters/notesMaster1.xml" Id="Ra06592e8712342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739d0b858047e8" /><Relationship Type="http://schemas.openxmlformats.org/officeDocument/2006/relationships/notesMaster" Target="/ppt/notesMasters/notesMaster1.xml" Id="Raa6efc56bfae4a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f445626ad54f03" /><Relationship Type="http://schemas.openxmlformats.org/officeDocument/2006/relationships/notesMaster" Target="/ppt/notesMasters/notesMaster1.xml" Id="R485e28fee3c04a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cca1b667ab486f" /><Relationship Type="http://schemas.openxmlformats.org/officeDocument/2006/relationships/notesMaster" Target="/ppt/notesMasters/notesMaster1.xml" Id="Rf8b7885d26c747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bd5a6aaf9f24eb5" /><Relationship Type="http://schemas.openxmlformats.org/officeDocument/2006/relationships/notesMaster" Target="/ppt/notesMasters/notesMaster1.xml" Id="R4e9746b8db0d4d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6a504f74f9846a1" /><Relationship Type="http://schemas.openxmlformats.org/officeDocument/2006/relationships/notesMaster" Target="/ppt/notesMasters/notesMaster1.xml" Id="Re9eda83b4c1245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ff642ffd834826" /><Relationship Type="http://schemas.openxmlformats.org/officeDocument/2006/relationships/notesMaster" Target="/ppt/notesMasters/notesMaster1.xml" Id="R71315d69900f4e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3383f71eb1540a8" /><Relationship Type="http://schemas.openxmlformats.org/officeDocument/2006/relationships/notesMaster" Target="/ppt/notesMasters/notesMaster1.xml" Id="R625d7c36590149a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dd3edda5f04408d" /><Relationship Type="http://schemas.openxmlformats.org/officeDocument/2006/relationships/notesMaster" Target="/ppt/notesMasters/notesMaster1.xml" Id="Rb45876e6fe2b491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Source: persisted Kestrel assessment MKORD-2026-7FBBEE23.</a:t>
            </a:r>
          </a:p>
          <a:p xmlns:a="http://schemas.openxmlformats.org/drawingml/2006/main">
            <a:r>
              <a:t>- McKinsey board risk perspective: https://www.mckinsey.com/~/media/mckinsey/dotcom/client_service/risk/working%20papers/18_a_board_perspective_on_enterprise_risk_management.pdf</a:t>
            </a:r>
          </a:p>
          <a:p xmlns:a="http://schemas.openxmlformats.org/drawingml/2006/main">
            <a:r>
              <a:t>- Deloitte fraud risk management: https://www.deloitte.com/ch/en/services/financial-advisory/perspectives/fraud-risk-management-strategic-imperative.html</a:t>
            </a:r>
          </a:p>
          <a:p xmlns:a="http://schemas.openxmlformats.org/drawingml/2006/main">
            <a:r>
              <a:t>- Preserve scope, position, information boundary, owner, date and proof in the annotated register.</a:t>
            </a:r>
          </a:p>
          <a:p xmlns:a="http://schemas.openxmlformats.org/drawingml/2006/main">
            <a:r>
              <a:t>- Scenarios: actor, opportunity, entry point, mechanism, bypassed control, concealment, consequence, warning, containment, long-term response.</a:t>
            </a:r>
          </a:p>
          <a:p xmlns:a="http://schemas.openxmlformats.org/drawingml/2006/main">
            <a:r>
              <a:t>- Controls: What (control objective), Who, Population, Frequency, Evidence retained, Independent check, Escalation, SLA, Effectiveness measure, Failure response.</a:t>
            </a:r>
          </a:p>
          <a:p xmlns:a="http://schemas.openxmlformats.org/drawingml/2006/main">
            <a:r>
              <a:t>- Decisions: three options with cost, benefit, trade-off; recommendation, rationale, rejection reason, owner, deadline.</a:t>
            </a:r>
          </a:p>
          <a:p xmlns:a="http://schemas.openxmlformats.org/drawingml/2006/main">
            <a:r>
              <a:t>- Traceability: annotated register preserves the source chain.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d33265f0c74d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73b86a6ff74601" /><Relationship Type="http://schemas.openxmlformats.org/officeDocument/2006/relationships/slideLayout" Target="/ppt/slideLayouts/slideLayout1.xml" Id="R3f15ed3c209d47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15ed3c209d47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678d9c517214f08" /><Relationship Type="http://schemas.openxmlformats.org/officeDocument/2006/relationships/notesSlide" Target="/ppt/notesSlides/notesSlide1.xml" Id="Rf0b23b462f5a49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032567ca5e544b2" /><Relationship Type="http://schemas.openxmlformats.org/officeDocument/2006/relationships/notesSlide" Target="/ppt/notesSlides/notesSlide2.xml" Id="R75a7130d63ca49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a09b478aa045b7" /><Relationship Type="http://schemas.openxmlformats.org/officeDocument/2006/relationships/notesSlide" Target="/ppt/notesSlides/notesSlide3.xml" Id="R83f4b0062eaf4b5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b69f9a27f194115" /><Relationship Type="http://schemas.openxmlformats.org/officeDocument/2006/relationships/notesSlide" Target="/ppt/notesSlides/notesSlide4.xml" Id="Rf97e6f652b7745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8d69100e61f43fd" /><Relationship Type="http://schemas.openxmlformats.org/officeDocument/2006/relationships/notesSlide" Target="/ppt/notesSlides/notesSlide5.xml" Id="R760c515353ff4a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c67a8cb9e7b467f" /><Relationship Type="http://schemas.openxmlformats.org/officeDocument/2006/relationships/notesSlide" Target="/ppt/notesSlides/notesSlide6.xml" Id="R5c4b6fe89fc3459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6ebe2a6105426e" /><Relationship Type="http://schemas.openxmlformats.org/officeDocument/2006/relationships/notesSlide" Target="/ppt/notesSlides/notesSlide7.xml" Id="R2aa3320890934b2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320cc2ca88434f" /><Relationship Type="http://schemas.openxmlformats.org/officeDocument/2006/relationships/notesSlide" Target="/ppt/notesSlides/notesSlide8.xml" Id="Re8fb2381e86b479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4b1116f4417414d" /><Relationship Type="http://schemas.openxmlformats.org/officeDocument/2006/relationships/notesSlide" Target="/ppt/notesSlides/notesSlide9.xml" Id="R6a0e743150a040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393cdb194dc47e3" /><Relationship Type="http://schemas.openxmlformats.org/officeDocument/2006/relationships/notesSlide" Target="/ppt/notesSlides/notesSlide10.xml" Id="Rfe70db2fc9314576" /></Relationships>
</file>

<file path=ppt/slides/slide1.xml><?xml version="1.0" encoding="utf-8"?>
<p:sld xmlns:p="http://schemas.openxmlformats.org/presentationml/2006/main">
  <p:cSld>
    <p:bg>
      <p:bgPr>
        <a:solidFill xmlns:a="http://schemas.openxmlformats.org/drawingml/2006/main">
          <a:srgbClr val="142F4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0B2B45-0451-4CE4-8F41-DF3C59C439C7}"/>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 name="">
            <a:extLst xmlns:a="http://schemas.openxmlformats.org/drawingml/2006/main">
              <a:ext uri="{FF2B5EF4-FFF2-40B4-BE49-F238E27FC236}">
                <a16:creationId xmlns:a16="http://schemas.microsoft.com/office/drawing/2014/main" id="{2A35DC8A-93D5-4290-A7EC-D1370E35B088}"/>
              </a:ext>
            </a:extLst>
          </p:cNvPr>
          <p:cNvSpPr>
            <a:spLocks xmlns:a="http://schemas.openxmlformats.org/drawingml/2006/main" noGrp="1"/>
          </p:cNvSpPr>
          <p:nvPr/>
        </p:nvSpPr>
        <p:spPr>
          <a:xfrm xmlns:a="http://schemas.openxmlformats.org/drawingml/2006/main">
            <a:off x="838200" y="8763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D9E1E7"/>
                </a:solidFill>
              </a:defRPr>
            </a:pPr>
            <a:r>
              <a:rPr sz="1200" b="1">
                <a:solidFill>
                  <a:srgbClr val="D9E1E7"/>
                </a:solidFill>
              </a:rPr>
              <a:t>MK FRAUD READINESS</a:t>
            </a:r>
          </a:p>
        </p:txBody>
      </p:sp>
      <p:sp>
        <p:nvSpPr>
          <p:cNvPr id="3" name="">
            <a:extLst xmlns:a="http://schemas.openxmlformats.org/drawingml/2006/main">
              <a:ext uri="{FF2B5EF4-FFF2-40B4-BE49-F238E27FC236}">
                <a16:creationId xmlns:a16="http://schemas.microsoft.com/office/drawing/2014/main" id="{287411AC-9405-49E1-8ACA-7996BAD7E2B5}"/>
              </a:ext>
            </a:extLst>
          </p:cNvPr>
          <p:cNvSpPr>
            <a:spLocks xmlns:a="http://schemas.openxmlformats.org/drawingml/2006/main" noGrp="1"/>
          </p:cNvSpPr>
          <p:nvPr/>
        </p:nvSpPr>
        <p:spPr>
          <a:xfrm xmlns:a="http://schemas.openxmlformats.org/drawingml/2006/main">
            <a:off x="838200" y="1790700"/>
            <a:ext cx="8572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3750" b="1">
                <a:solidFill>
                  <a:srgbClr val="FFFFFF"/>
                </a:solidFill>
              </a:defRPr>
            </a:pPr>
            <a:r>
              <a:rPr sz="3750" b="1">
                <a:solidFill>
                  <a:srgbClr val="FFFFFF"/>
                </a:solidFill>
              </a:rPr>
              <a:t>The target-state blueprint turns a diagnostic into a management decision record.</a:t>
            </a:r>
          </a:p>
        </p:txBody>
      </p:sp>
      <p:sp>
        <p:nvSpPr>
          <p:cNvPr id="4" name="">
            <a:extLst xmlns:a="http://schemas.openxmlformats.org/drawingml/2006/main">
              <a:ext uri="{FF2B5EF4-FFF2-40B4-BE49-F238E27FC236}">
                <a16:creationId xmlns:a16="http://schemas.microsoft.com/office/drawing/2014/main" id="{81E5AFE0-EAAD-4140-8F80-44284D927D2F}"/>
              </a:ext>
            </a:extLst>
          </p:cNvPr>
          <p:cNvSpPr>
            <a:spLocks xmlns:a="http://schemas.openxmlformats.org/drawingml/2006/main" noGrp="1"/>
          </p:cNvSpPr>
          <p:nvPr/>
        </p:nvSpPr>
        <p:spPr>
          <a:xfrm xmlns:a="http://schemas.openxmlformats.org/drawingml/2006/main">
            <a:off x="857250" y="4095750"/>
            <a:ext cx="6096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650">
                <a:solidFill>
                  <a:srgbClr val="D9E1E7"/>
                </a:solidFill>
              </a:defRPr>
            </a:pPr>
            <a:r>
              <a:rPr sz="1650">
                <a:solidFill>
                  <a:srgbClr val="D9E1E7"/>
                </a:solidFill>
              </a:rPr>
              <a:t>Kestrel Industrial Supply (Pty) Ltd</a:t>
            </a:r>
          </a:p>
          <a:p xmlns:a="http://schemas.openxmlformats.org/drawingml/2006/main">
            <a:pPr>
              <a:defRPr sz="1650">
                <a:solidFill>
                  <a:srgbClr val="D9E1E7"/>
                </a:solidFill>
              </a:defRPr>
            </a:pPr>
            <a:r>
              <a:rPr sz="1650">
                <a:solidFill>
                  <a:srgbClr val="D9E1E7"/>
                </a:solidFill>
              </a:rPr>
              <a:t>Comprehensive blueprint · strategic design engagement</a:t>
            </a:r>
          </a:p>
        </p:txBody>
      </p:sp>
      <p:sp>
        <p:nvSpPr>
          <p:cNvPr id="5" name="">
            <a:extLst xmlns:a="http://schemas.openxmlformats.org/drawingml/2006/main">
              <a:ext uri="{FF2B5EF4-FFF2-40B4-BE49-F238E27FC236}">
                <a16:creationId xmlns:a16="http://schemas.microsoft.com/office/drawing/2014/main" id="{003C4E5E-CABD-4937-861F-DC0F920F8B9C}"/>
              </a:ext>
            </a:extLst>
          </p:cNvPr>
          <p:cNvSpPr>
            <a:spLocks xmlns:a="http://schemas.openxmlformats.org/drawingml/2006/main" noGrp="1"/>
          </p:cNvSpPr>
          <p:nvPr/>
        </p:nvSpPr>
        <p:spPr>
          <a:xfrm xmlns:a="http://schemas.openxmlformats.org/drawingml/2006/main">
            <a:off x="857250" y="561975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D9E1E7"/>
                </a:solidFill>
              </a:defRPr>
            </a:pPr>
            <a:r>
              <a:rPr sz="1200">
                <a:solidFill>
                  <a:srgbClr val="D9E1E7"/>
                </a:solidFill>
              </a:rPr>
              <a:t>Based on management's recorded Fraud Readiness assessment responses</a:t>
            </a:r>
          </a:p>
        </p:txBody>
      </p:sp>
      <p:sp>
        <p:nvSpPr>
          <p:cNvPr id="6" name="">
            <a:extLst xmlns:a="http://schemas.openxmlformats.org/drawingml/2006/main">
              <a:ext uri="{FF2B5EF4-FFF2-40B4-BE49-F238E27FC236}">
                <a16:creationId xmlns:a16="http://schemas.microsoft.com/office/drawing/2014/main" id="{EDC20AFA-B770-45C7-BD8F-D4E9E1DFA56B}"/>
              </a:ext>
            </a:extLst>
          </p:cNvPr>
          <p:cNvSpPr>
            <a:spLocks xmlns:a="http://schemas.openxmlformats.org/drawingml/2006/main" noGrp="1"/>
          </p:cNvSpPr>
          <p:nvPr/>
        </p:nvSpPr>
        <p:spPr>
          <a:xfrm xmlns:a="http://schemas.openxmlformats.org/drawingml/2006/main">
            <a:off x="8858250" y="57150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C9A227"/>
                </a:solidFill>
              </a:defRPr>
            </a:pPr>
            <a:r>
              <a:rPr sz="975" b="1">
                <a:solidFill>
                  <a:srgbClr val="C9A227"/>
                </a:solidFill>
              </a:rPr>
              <a:t>CONFIDENTIAL · DECISION SUPPORT</a:t>
            </a:r>
          </a:p>
        </p:txBody>
      </p:sp>
    </p:spTree>
    <p:extLst>
      <p:ext uri="{BB962C8B-B14F-4D97-AF65-F5344CB8AC3E}">
        <p14:creationId xmlns:p14="http://schemas.microsoft.com/office/powerpoint/2010/main" val="967095293"/>
      </p:ext>
    </p:extLst>
  </p:cSld>
</p:sld>
</file>

<file path=ppt/slides/slide2.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B8EAE43-A83F-4B82-A4DC-AEB94A3292FC}"/>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02</a:t>
            </a:r>
          </a:p>
        </p:txBody>
      </p:sp>
      <p:sp>
        <p:nvSpPr>
          <p:cNvPr id="2" name="">
            <a:extLst xmlns:a="http://schemas.openxmlformats.org/drawingml/2006/main">
              <a:ext uri="{FF2B5EF4-FFF2-40B4-BE49-F238E27FC236}">
                <a16:creationId xmlns:a16="http://schemas.microsoft.com/office/drawing/2014/main" id="{16941D88-1EDC-4946-8DCC-F47AD165287B}"/>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recorded position is developing; reliance is narrower than the score.</a:t>
            </a:r>
          </a:p>
        </p:txBody>
      </p:sp>
      <p:sp>
        <p:nvSpPr>
          <p:cNvPr id="3" name="">
            <a:extLst xmlns:a="http://schemas.openxmlformats.org/drawingml/2006/main">
              <a:ext uri="{FF2B5EF4-FFF2-40B4-BE49-F238E27FC236}">
                <a16:creationId xmlns:a16="http://schemas.microsoft.com/office/drawing/2014/main" id="{FC9F53E2-BE0F-4B19-8ACE-D252728C0060}"/>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Separate the deterministic result from the information boundary.</a:t>
            </a:r>
          </a:p>
        </p:txBody>
      </p:sp>
      <p:sp>
        <p:nvSpPr>
          <p:cNvPr id="4" name="">
            <a:extLst xmlns:a="http://schemas.openxmlformats.org/drawingml/2006/main">
              <a:ext uri="{FF2B5EF4-FFF2-40B4-BE49-F238E27FC236}">
                <a16:creationId xmlns:a16="http://schemas.microsoft.com/office/drawing/2014/main" id="{3FD2FC09-5A75-448E-BB5D-A30E5185EAB6}"/>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DC340B8F-C077-4DE6-9A67-3917884BB241}"/>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B67ACCEB-B1A5-4DCA-B6A3-2F8CA36EAE63}"/>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02 / 10</a:t>
            </a:r>
          </a:p>
        </p:txBody>
      </p:sp>
      <p:sp>
        <p:nvSpPr>
          <p:cNvPr id="7" name="">
            <a:extLst xmlns:a="http://schemas.openxmlformats.org/drawingml/2006/main">
              <a:ext uri="{FF2B5EF4-FFF2-40B4-BE49-F238E27FC236}">
                <a16:creationId xmlns:a16="http://schemas.microsoft.com/office/drawing/2014/main" id="{09C62136-4DC5-463E-B5FB-B3CE396E656B}"/>
              </a:ext>
            </a:extLst>
          </p:cNvPr>
          <p:cNvSpPr>
            <a:spLocks xmlns:a="http://schemas.openxmlformats.org/drawingml/2006/main" noGrp="1"/>
          </p:cNvSpPr>
          <p:nvPr/>
        </p:nvSpPr>
        <p:spPr>
          <a:xfrm xmlns:a="http://schemas.openxmlformats.org/drawingml/2006/main">
            <a:off x="68580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30373F1F-A5C9-4F0E-BABB-317F0A1FD39F}"/>
              </a:ext>
            </a:extLst>
          </p:cNvPr>
          <p:cNvSpPr>
            <a:spLocks xmlns:a="http://schemas.openxmlformats.org/drawingml/2006/main" noGrp="1"/>
          </p:cNvSpPr>
          <p:nvPr/>
        </p:nvSpPr>
        <p:spPr>
          <a:xfrm xmlns:a="http://schemas.openxmlformats.org/drawingml/2006/main">
            <a:off x="685800" y="1981200"/>
            <a:ext cx="2286000" cy="57150"/>
          </a:xfrm>
          <a:prstGeom xmlns:a="http://schemas.openxmlformats.org/drawingml/2006/main" prst="rect">
            <a:avLst/>
          </a:prstGeom>
          <a:solidFill xmlns:a="http://schemas.openxmlformats.org/drawingml/2006/main">
            <a:srgbClr val="142F4C"/>
          </a:solidFill>
          <a:ln xmlns:a="http://schemas.openxmlformats.org/drawingml/2006/main" w="0">
            <a:solidFill>
              <a:srgbClr val="142F4C"/>
            </a:solidFill>
            <a:prstDash val="solid"/>
          </a:ln>
        </p:spPr>
      </p:sp>
      <p:sp>
        <p:nvSpPr>
          <p:cNvPr id="9" name="">
            <a:extLst xmlns:a="http://schemas.openxmlformats.org/drawingml/2006/main">
              <a:ext uri="{FF2B5EF4-FFF2-40B4-BE49-F238E27FC236}">
                <a16:creationId xmlns:a16="http://schemas.microsoft.com/office/drawing/2014/main" id="{67FDB168-288F-4A3B-961C-48555A0BEDAF}"/>
              </a:ext>
            </a:extLst>
          </p:cNvPr>
          <p:cNvSpPr>
            <a:spLocks xmlns:a="http://schemas.openxmlformats.org/drawingml/2006/main" noGrp="1"/>
          </p:cNvSpPr>
          <p:nvPr/>
        </p:nvSpPr>
        <p:spPr>
          <a:xfrm xmlns:a="http://schemas.openxmlformats.org/drawingml/2006/main">
            <a:off x="85725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Reported readiness</a:t>
            </a:r>
          </a:p>
        </p:txBody>
      </p:sp>
      <p:sp>
        <p:nvSpPr>
          <p:cNvPr id="10" name="">
            <a:extLst xmlns:a="http://schemas.openxmlformats.org/drawingml/2006/main">
              <a:ext uri="{FF2B5EF4-FFF2-40B4-BE49-F238E27FC236}">
                <a16:creationId xmlns:a16="http://schemas.microsoft.com/office/drawing/2014/main" id="{DCF9666D-0694-4D80-A2BF-9227014CEC3B}"/>
              </a:ext>
            </a:extLst>
          </p:cNvPr>
          <p:cNvSpPr>
            <a:spLocks xmlns:a="http://schemas.openxmlformats.org/drawingml/2006/main" noGrp="1"/>
          </p:cNvSpPr>
          <p:nvPr/>
        </p:nvSpPr>
        <p:spPr>
          <a:xfrm xmlns:a="http://schemas.openxmlformats.org/drawingml/2006/main">
            <a:off x="85725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55 / 100</a:t>
            </a:r>
          </a:p>
        </p:txBody>
      </p:sp>
      <p:sp>
        <p:nvSpPr>
          <p:cNvPr id="11" name="">
            <a:extLst xmlns:a="http://schemas.openxmlformats.org/drawingml/2006/main">
              <a:ext uri="{FF2B5EF4-FFF2-40B4-BE49-F238E27FC236}">
                <a16:creationId xmlns:a16="http://schemas.microsoft.com/office/drawing/2014/main" id="{44483A01-9E73-4AED-A468-1769F83B245F}"/>
              </a:ext>
            </a:extLst>
          </p:cNvPr>
          <p:cNvSpPr>
            <a:spLocks xmlns:a="http://schemas.openxmlformats.org/drawingml/2006/main" noGrp="1"/>
          </p:cNvSpPr>
          <p:nvPr/>
        </p:nvSpPr>
        <p:spPr>
          <a:xfrm xmlns:a="http://schemas.openxmlformats.org/drawingml/2006/main">
            <a:off x="85725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Developing</a:t>
            </a:r>
          </a:p>
        </p:txBody>
      </p:sp>
      <p:sp>
        <p:nvSpPr>
          <p:cNvPr id="12" name="">
            <a:extLst xmlns:a="http://schemas.openxmlformats.org/drawingml/2006/main">
              <a:ext uri="{FF2B5EF4-FFF2-40B4-BE49-F238E27FC236}">
                <a16:creationId xmlns:a16="http://schemas.microsoft.com/office/drawing/2014/main" id="{BE08C76A-08FE-433C-BA8A-1238527774E8}"/>
              </a:ext>
            </a:extLst>
          </p:cNvPr>
          <p:cNvSpPr>
            <a:spLocks xmlns:a="http://schemas.openxmlformats.org/drawingml/2006/main" noGrp="1"/>
          </p:cNvSpPr>
          <p:nvPr/>
        </p:nvSpPr>
        <p:spPr>
          <a:xfrm xmlns:a="http://schemas.openxmlformats.org/drawingml/2006/main">
            <a:off x="318135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E7C536AD-C70B-415D-A3CA-BD72BF630768}"/>
              </a:ext>
            </a:extLst>
          </p:cNvPr>
          <p:cNvSpPr>
            <a:spLocks xmlns:a="http://schemas.openxmlformats.org/drawingml/2006/main" noGrp="1"/>
          </p:cNvSpPr>
          <p:nvPr/>
        </p:nvSpPr>
        <p:spPr>
          <a:xfrm xmlns:a="http://schemas.openxmlformats.org/drawingml/2006/main">
            <a:off x="3181350" y="1981200"/>
            <a:ext cx="2286000" cy="5715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4" name="">
            <a:extLst xmlns:a="http://schemas.openxmlformats.org/drawingml/2006/main">
              <a:ext uri="{FF2B5EF4-FFF2-40B4-BE49-F238E27FC236}">
                <a16:creationId xmlns:a16="http://schemas.microsoft.com/office/drawing/2014/main" id="{BFD34E15-D860-4F02-B758-18725724439C}"/>
              </a:ext>
            </a:extLst>
          </p:cNvPr>
          <p:cNvSpPr>
            <a:spLocks xmlns:a="http://schemas.openxmlformats.org/drawingml/2006/main" noGrp="1"/>
          </p:cNvSpPr>
          <p:nvPr/>
        </p:nvSpPr>
        <p:spPr>
          <a:xfrm xmlns:a="http://schemas.openxmlformats.org/drawingml/2006/main">
            <a:off x="335280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Exposure position</a:t>
            </a:r>
          </a:p>
        </p:txBody>
      </p:sp>
      <p:sp>
        <p:nvSpPr>
          <p:cNvPr id="15" name="">
            <a:extLst xmlns:a="http://schemas.openxmlformats.org/drawingml/2006/main">
              <a:ext uri="{FF2B5EF4-FFF2-40B4-BE49-F238E27FC236}">
                <a16:creationId xmlns:a16="http://schemas.microsoft.com/office/drawing/2014/main" id="{41E48B7F-75D3-46B7-B236-D6FD5C343ED6}"/>
              </a:ext>
            </a:extLst>
          </p:cNvPr>
          <p:cNvSpPr>
            <a:spLocks xmlns:a="http://schemas.openxmlformats.org/drawingml/2006/main" noGrp="1"/>
          </p:cNvSpPr>
          <p:nvPr/>
        </p:nvSpPr>
        <p:spPr>
          <a:xfrm xmlns:a="http://schemas.openxmlformats.org/drawingml/2006/main">
            <a:off x="335280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0 / 100</a:t>
            </a:r>
          </a:p>
        </p:txBody>
      </p:sp>
      <p:sp>
        <p:nvSpPr>
          <p:cNvPr id="16" name="">
            <a:extLst xmlns:a="http://schemas.openxmlformats.org/drawingml/2006/main">
              <a:ext uri="{FF2B5EF4-FFF2-40B4-BE49-F238E27FC236}">
                <a16:creationId xmlns:a16="http://schemas.microsoft.com/office/drawing/2014/main" id="{5D0BBB86-EAE4-4845-8668-7464916CD346}"/>
              </a:ext>
            </a:extLst>
          </p:cNvPr>
          <p:cNvSpPr>
            <a:spLocks xmlns:a="http://schemas.openxmlformats.org/drawingml/2006/main" noGrp="1"/>
          </p:cNvSpPr>
          <p:nvPr/>
        </p:nvSpPr>
        <p:spPr>
          <a:xfrm xmlns:a="http://schemas.openxmlformats.org/drawingml/2006/main">
            <a:off x="335280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Not assessed</a:t>
            </a:r>
          </a:p>
        </p:txBody>
      </p:sp>
      <p:sp>
        <p:nvSpPr>
          <p:cNvPr id="17" name="">
            <a:extLst xmlns:a="http://schemas.openxmlformats.org/drawingml/2006/main">
              <a:ext uri="{FF2B5EF4-FFF2-40B4-BE49-F238E27FC236}">
                <a16:creationId xmlns:a16="http://schemas.microsoft.com/office/drawing/2014/main" id="{A9AFB841-7E20-4600-911A-6D2F976E8CBB}"/>
              </a:ext>
            </a:extLst>
          </p:cNvPr>
          <p:cNvSpPr>
            <a:spLocks xmlns:a="http://schemas.openxmlformats.org/drawingml/2006/main" noGrp="1"/>
          </p:cNvSpPr>
          <p:nvPr/>
        </p:nvSpPr>
        <p:spPr>
          <a:xfrm xmlns:a="http://schemas.openxmlformats.org/drawingml/2006/main">
            <a:off x="567690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F6D3D123-0EDF-444D-8257-27FEAF763D8D}"/>
              </a:ext>
            </a:extLst>
          </p:cNvPr>
          <p:cNvSpPr>
            <a:spLocks xmlns:a="http://schemas.openxmlformats.org/drawingml/2006/main" noGrp="1"/>
          </p:cNvSpPr>
          <p:nvPr/>
        </p:nvSpPr>
        <p:spPr>
          <a:xfrm xmlns:a="http://schemas.openxmlformats.org/drawingml/2006/main">
            <a:off x="5676900" y="1981200"/>
            <a:ext cx="2286000" cy="5715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19" name="">
            <a:extLst xmlns:a="http://schemas.openxmlformats.org/drawingml/2006/main">
              <a:ext uri="{FF2B5EF4-FFF2-40B4-BE49-F238E27FC236}">
                <a16:creationId xmlns:a16="http://schemas.microsoft.com/office/drawing/2014/main" id="{E9E7D230-759A-4B17-BA17-B333EAE83D22}"/>
              </a:ext>
            </a:extLst>
          </p:cNvPr>
          <p:cNvSpPr>
            <a:spLocks xmlns:a="http://schemas.openxmlformats.org/drawingml/2006/main" noGrp="1"/>
          </p:cNvSpPr>
          <p:nvPr/>
        </p:nvSpPr>
        <p:spPr>
          <a:xfrm xmlns:a="http://schemas.openxmlformats.org/drawingml/2006/main">
            <a:off x="584835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Material findings</a:t>
            </a:r>
          </a:p>
        </p:txBody>
      </p:sp>
      <p:sp>
        <p:nvSpPr>
          <p:cNvPr id="20" name="">
            <a:extLst xmlns:a="http://schemas.openxmlformats.org/drawingml/2006/main">
              <a:ext uri="{FF2B5EF4-FFF2-40B4-BE49-F238E27FC236}">
                <a16:creationId xmlns:a16="http://schemas.microsoft.com/office/drawing/2014/main" id="{BA0251F5-6F7B-4071-8A6E-6F9A47864E7B}"/>
              </a:ext>
            </a:extLst>
          </p:cNvPr>
          <p:cNvSpPr>
            <a:spLocks xmlns:a="http://schemas.openxmlformats.org/drawingml/2006/main" noGrp="1"/>
          </p:cNvSpPr>
          <p:nvPr/>
        </p:nvSpPr>
        <p:spPr>
          <a:xfrm xmlns:a="http://schemas.openxmlformats.org/drawingml/2006/main">
            <a:off x="584835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15</a:t>
            </a:r>
          </a:p>
        </p:txBody>
      </p:sp>
      <p:sp>
        <p:nvSpPr>
          <p:cNvPr id="21" name="">
            <a:extLst xmlns:a="http://schemas.openxmlformats.org/drawingml/2006/main">
              <a:ext uri="{FF2B5EF4-FFF2-40B4-BE49-F238E27FC236}">
                <a16:creationId xmlns:a16="http://schemas.microsoft.com/office/drawing/2014/main" id="{F3ABA5FB-B0AB-4DEE-8085-D30A77A1E6F8}"/>
              </a:ext>
            </a:extLst>
          </p:cNvPr>
          <p:cNvSpPr>
            <a:spLocks xmlns:a="http://schemas.openxmlformats.org/drawingml/2006/main" noGrp="1"/>
          </p:cNvSpPr>
          <p:nvPr/>
        </p:nvSpPr>
        <p:spPr>
          <a:xfrm xmlns:a="http://schemas.openxmlformats.org/drawingml/2006/main">
            <a:off x="584835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priority diagnosis</a:t>
            </a:r>
          </a:p>
        </p:txBody>
      </p:sp>
      <p:sp>
        <p:nvSpPr>
          <p:cNvPr id="22" name="">
            <a:extLst xmlns:a="http://schemas.openxmlformats.org/drawingml/2006/main">
              <a:ext uri="{FF2B5EF4-FFF2-40B4-BE49-F238E27FC236}">
                <a16:creationId xmlns:a16="http://schemas.microsoft.com/office/drawing/2014/main" id="{88CCC5AC-A2A5-4AC9-AC01-C61EFB2712C2}"/>
              </a:ext>
            </a:extLst>
          </p:cNvPr>
          <p:cNvSpPr>
            <a:spLocks xmlns:a="http://schemas.openxmlformats.org/drawingml/2006/main" noGrp="1"/>
          </p:cNvSpPr>
          <p:nvPr/>
        </p:nvSpPr>
        <p:spPr>
          <a:xfrm xmlns:a="http://schemas.openxmlformats.org/drawingml/2006/main">
            <a:off x="8172450" y="1981200"/>
            <a:ext cx="228600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D9E1E7"/>
            </a:solidFill>
            <a:prstDash val="solid"/>
          </a:ln>
        </p:spPr>
      </p:sp>
      <p:sp>
        <p:nvSpPr>
          <p:cNvPr id="23" name="">
            <a:extLst xmlns:a="http://schemas.openxmlformats.org/drawingml/2006/main">
              <a:ext uri="{FF2B5EF4-FFF2-40B4-BE49-F238E27FC236}">
                <a16:creationId xmlns:a16="http://schemas.microsoft.com/office/drawing/2014/main" id="{DF89159E-2530-49CD-9866-33D8BFA310D3}"/>
              </a:ext>
            </a:extLst>
          </p:cNvPr>
          <p:cNvSpPr>
            <a:spLocks xmlns:a="http://schemas.openxmlformats.org/drawingml/2006/main" noGrp="1"/>
          </p:cNvSpPr>
          <p:nvPr/>
        </p:nvSpPr>
        <p:spPr>
          <a:xfrm xmlns:a="http://schemas.openxmlformats.org/drawingml/2006/main">
            <a:off x="8172450" y="1981200"/>
            <a:ext cx="2286000" cy="5715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4" name="">
            <a:extLst xmlns:a="http://schemas.openxmlformats.org/drawingml/2006/main">
              <a:ext uri="{FF2B5EF4-FFF2-40B4-BE49-F238E27FC236}">
                <a16:creationId xmlns:a16="http://schemas.microsoft.com/office/drawing/2014/main" id="{A7363DF0-B8A5-4BDE-BD01-6F30A2821A02}"/>
              </a:ext>
            </a:extLst>
          </p:cNvPr>
          <p:cNvSpPr>
            <a:spLocks xmlns:a="http://schemas.openxmlformats.org/drawingml/2006/main" noGrp="1"/>
          </p:cNvSpPr>
          <p:nvPr/>
        </p:nvSpPr>
        <p:spPr>
          <a:xfrm xmlns:a="http://schemas.openxmlformats.org/drawingml/2006/main">
            <a:off x="8343900" y="2152650"/>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5A6B7C"/>
                </a:solidFill>
              </a:defRPr>
            </a:pPr>
            <a:r>
              <a:rPr sz="1125" b="1">
                <a:solidFill>
                  <a:srgbClr val="5A6B7C"/>
                </a:solidFill>
              </a:rPr>
              <a:t>Target controls</a:t>
            </a:r>
          </a:p>
        </p:txBody>
      </p:sp>
      <p:sp>
        <p:nvSpPr>
          <p:cNvPr id="25" name="">
            <a:extLst xmlns:a="http://schemas.openxmlformats.org/drawingml/2006/main">
              <a:ext uri="{FF2B5EF4-FFF2-40B4-BE49-F238E27FC236}">
                <a16:creationId xmlns:a16="http://schemas.microsoft.com/office/drawing/2014/main" id="{B09F610E-37BA-412C-99B8-C2CD57CF08A5}"/>
              </a:ext>
            </a:extLst>
          </p:cNvPr>
          <p:cNvSpPr>
            <a:spLocks xmlns:a="http://schemas.openxmlformats.org/drawingml/2006/main" noGrp="1"/>
          </p:cNvSpPr>
          <p:nvPr/>
        </p:nvSpPr>
        <p:spPr>
          <a:xfrm xmlns:a="http://schemas.openxmlformats.org/drawingml/2006/main">
            <a:off x="8343900" y="2428875"/>
            <a:ext cx="1943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400" b="1">
                <a:solidFill>
                  <a:srgbClr val="142F4C"/>
                </a:solidFill>
              </a:defRPr>
            </a:pPr>
            <a:r>
              <a:rPr sz="2400" b="1">
                <a:solidFill>
                  <a:srgbClr val="142F4C"/>
                </a:solidFill>
              </a:rPr>
              <a:t>15</a:t>
            </a:r>
          </a:p>
        </p:txBody>
      </p:sp>
      <p:sp>
        <p:nvSpPr>
          <p:cNvPr id="26" name="">
            <a:extLst xmlns:a="http://schemas.openxmlformats.org/drawingml/2006/main">
              <a:ext uri="{FF2B5EF4-FFF2-40B4-BE49-F238E27FC236}">
                <a16:creationId xmlns:a16="http://schemas.microsoft.com/office/drawing/2014/main" id="{E3D7EA46-7112-4E39-BDFA-1173BB45B2F9}"/>
              </a:ext>
            </a:extLst>
          </p:cNvPr>
          <p:cNvSpPr>
            <a:spLocks xmlns:a="http://schemas.openxmlformats.org/drawingml/2006/main" noGrp="1"/>
          </p:cNvSpPr>
          <p:nvPr/>
        </p:nvSpPr>
        <p:spPr>
          <a:xfrm xmlns:a="http://schemas.openxmlformats.org/drawingml/2006/main">
            <a:off x="8343900" y="2876550"/>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a:solidFill>
                  <a:srgbClr val="5A6B7C"/>
                </a:solidFill>
              </a:defRPr>
            </a:pPr>
            <a:r>
              <a:rPr sz="1050">
                <a:solidFill>
                  <a:srgbClr val="5A6B7C"/>
                </a:solidFill>
              </a:rPr>
              <a:t>blueprints to build</a:t>
            </a:r>
          </a:p>
        </p:txBody>
      </p:sp>
      <p:sp>
        <p:nvSpPr>
          <p:cNvPr id="27" name="">
            <a:extLst xmlns:a="http://schemas.openxmlformats.org/drawingml/2006/main">
              <a:ext uri="{FF2B5EF4-FFF2-40B4-BE49-F238E27FC236}">
                <a16:creationId xmlns:a16="http://schemas.microsoft.com/office/drawing/2014/main" id="{BCB6400F-F10F-4A25-B102-0EF502950CAE}"/>
              </a:ext>
            </a:extLst>
          </p:cNvPr>
          <p:cNvSpPr>
            <a:spLocks xmlns:a="http://schemas.openxmlformats.org/drawingml/2006/main" noGrp="1"/>
          </p:cNvSpPr>
          <p:nvPr/>
        </p:nvSpPr>
        <p:spPr>
          <a:xfrm xmlns:a="http://schemas.openxmlformats.org/drawingml/2006/main">
            <a:off x="685800" y="3714750"/>
            <a:ext cx="9772650" cy="1238250"/>
          </a:xfrm>
          <a:prstGeom xmlns:a="http://schemas.openxmlformats.org/drawingml/2006/main" prst="roundRect">
            <a:avLst>
              <a:gd name="adj" fmla="val 9231"/>
            </a:avLst>
          </a:prstGeom>
          <a:solidFill xmlns:a="http://schemas.openxmlformats.org/drawingml/2006/main">
            <a:srgbClr val="FBF9F5"/>
          </a:solidFill>
          <a:ln xmlns:a="http://schemas.openxmlformats.org/drawingml/2006/main" w="9525">
            <a:solidFill>
              <a:srgbClr val="D9E1E7"/>
            </a:solidFill>
            <a:prstDash val="solid"/>
          </a:ln>
        </p:spPr>
      </p:sp>
      <p:sp>
        <p:nvSpPr>
          <p:cNvPr id="28" name="">
            <a:extLst xmlns:a="http://schemas.openxmlformats.org/drawingml/2006/main">
              <a:ext uri="{FF2B5EF4-FFF2-40B4-BE49-F238E27FC236}">
                <a16:creationId xmlns:a16="http://schemas.microsoft.com/office/drawing/2014/main" id="{5A77CA33-9E3A-4AD0-A06A-4E0F29FA440B}"/>
              </a:ext>
            </a:extLst>
          </p:cNvPr>
          <p:cNvSpPr>
            <a:spLocks xmlns:a="http://schemas.openxmlformats.org/drawingml/2006/main" noGrp="1"/>
          </p:cNvSpPr>
          <p:nvPr/>
        </p:nvSpPr>
        <p:spPr>
          <a:xfrm xmlns:a="http://schemas.openxmlformats.org/drawingml/2006/main">
            <a:off x="933450" y="39624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Management reading</a:t>
            </a:r>
          </a:p>
        </p:txBody>
      </p:sp>
      <p:sp>
        <p:nvSpPr>
          <p:cNvPr id="29" name="">
            <a:extLst xmlns:a="http://schemas.openxmlformats.org/drawingml/2006/main">
              <a:ext uri="{FF2B5EF4-FFF2-40B4-BE49-F238E27FC236}">
                <a16:creationId xmlns:a16="http://schemas.microsoft.com/office/drawing/2014/main" id="{7AFA772B-FF86-481C-ACF4-C7B80117B881}"/>
              </a:ext>
            </a:extLst>
          </p:cNvPr>
          <p:cNvSpPr>
            <a:spLocks xmlns:a="http://schemas.openxmlformats.org/drawingml/2006/main" noGrp="1"/>
          </p:cNvSpPr>
          <p:nvPr/>
        </p:nvSpPr>
        <p:spPr>
          <a:xfrm xmlns:a="http://schemas.openxmlformats.org/drawingml/2006/main">
            <a:off x="933450" y="4324350"/>
            <a:ext cx="8953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a:solidFill>
                  <a:srgbClr val="142F4C"/>
                </a:solidFill>
              </a:defRPr>
            </a:pPr>
            <a:r>
              <a:rPr sz="1500">
                <a:solidFill>
                  <a:srgbClr val="142F4C"/>
                </a:solidFill>
              </a:rPr>
              <a:t>The score is the locked recorded result. The blueprint translates management's recorded responses into diagnosis, decisions and target-state control design.</a:t>
            </a:r>
          </a:p>
        </p:txBody>
      </p:sp>
    </p:spTree>
    <p:extLst>
      <p:ext uri="{BB962C8B-B14F-4D97-AF65-F5344CB8AC3E}">
        <p14:creationId xmlns:p14="http://schemas.microsoft.com/office/powerpoint/2010/main" val="1990216605"/>
      </p:ext>
    </p:extLst>
  </p:cSld>
</p:sld>
</file>

<file path=ppt/slides/slide3.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CED9AF6-6B5D-4E5D-8283-FD0C8D04C99B}"/>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03</a:t>
            </a:r>
          </a:p>
        </p:txBody>
      </p:sp>
      <p:sp>
        <p:nvSpPr>
          <p:cNvPr id="2" name="">
            <a:extLst xmlns:a="http://schemas.openxmlformats.org/drawingml/2006/main">
              <a:ext uri="{FF2B5EF4-FFF2-40B4-BE49-F238E27FC236}">
                <a16:creationId xmlns:a16="http://schemas.microsoft.com/office/drawing/2014/main" id="{F82F32DF-1143-471F-8E63-88DFD26D927E}"/>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Diagnosis shows where exposure concentrates.</a:t>
            </a:r>
          </a:p>
        </p:txBody>
      </p:sp>
      <p:sp>
        <p:nvSpPr>
          <p:cNvPr id="3" name="">
            <a:extLst xmlns:a="http://schemas.openxmlformats.org/drawingml/2006/main">
              <a:ext uri="{FF2B5EF4-FFF2-40B4-BE49-F238E27FC236}">
                <a16:creationId xmlns:a16="http://schemas.microsoft.com/office/drawing/2014/main" id="{36BA9C4F-8496-4EFE-9DE4-EDDC44E9BCB5}"/>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Material findings, risks and control blueprints are the decision-useful analytical universe.</a:t>
            </a:r>
          </a:p>
        </p:txBody>
      </p:sp>
      <p:sp>
        <p:nvSpPr>
          <p:cNvPr id="4" name="">
            <a:extLst xmlns:a="http://schemas.openxmlformats.org/drawingml/2006/main">
              <a:ext uri="{FF2B5EF4-FFF2-40B4-BE49-F238E27FC236}">
                <a16:creationId xmlns:a16="http://schemas.microsoft.com/office/drawing/2014/main" id="{0811B19A-3055-42D5-B23B-BFE6EE494D63}"/>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5F4A3123-6CDF-4012-8BBD-25E0AA3C2DB4}"/>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6FF92F8B-0FAD-49C0-A562-4B73A4147B8F}"/>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03 / 10</a:t>
            </a:r>
          </a:p>
        </p:txBody>
      </p:sp>
      <p:sp>
        <p:nvSpPr>
          <p:cNvPr id="7" name="">
            <a:extLst xmlns:a="http://schemas.openxmlformats.org/drawingml/2006/main">
              <a:ext uri="{FF2B5EF4-FFF2-40B4-BE49-F238E27FC236}">
                <a16:creationId xmlns:a16="http://schemas.microsoft.com/office/drawing/2014/main" id="{9F1CACCE-5D41-4BC1-9B31-4A5149D13212}"/>
              </a:ext>
            </a:extLst>
          </p:cNvPr>
          <p:cNvSpPr>
            <a:spLocks xmlns:a="http://schemas.openxmlformats.org/drawingml/2006/main" noGrp="1"/>
          </p:cNvSpPr>
          <p:nvPr/>
        </p:nvSpPr>
        <p:spPr>
          <a:xfrm xmlns:a="http://schemas.openxmlformats.org/drawingml/2006/main">
            <a:off x="838200" y="21145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Material findings</a:t>
            </a:r>
          </a:p>
        </p:txBody>
      </p:sp>
      <p:sp>
        <p:nvSpPr>
          <p:cNvPr id="8" name="">
            <a:extLst xmlns:a="http://schemas.openxmlformats.org/drawingml/2006/main">
              <a:ext uri="{FF2B5EF4-FFF2-40B4-BE49-F238E27FC236}">
                <a16:creationId xmlns:a16="http://schemas.microsoft.com/office/drawing/2014/main" id="{0B74E5EC-A958-475E-96B3-F2EC1938941C}"/>
              </a:ext>
            </a:extLst>
          </p:cNvPr>
          <p:cNvSpPr>
            <a:spLocks xmlns:a="http://schemas.openxmlformats.org/drawingml/2006/main" noGrp="1"/>
          </p:cNvSpPr>
          <p:nvPr/>
        </p:nvSpPr>
        <p:spPr>
          <a:xfrm xmlns:a="http://schemas.openxmlformats.org/drawingml/2006/main">
            <a:off x="4000500" y="214312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9" name="">
            <a:extLst xmlns:a="http://schemas.openxmlformats.org/drawingml/2006/main">
              <a:ext uri="{FF2B5EF4-FFF2-40B4-BE49-F238E27FC236}">
                <a16:creationId xmlns:a16="http://schemas.microsoft.com/office/drawing/2014/main" id="{8843BD51-1AAD-45F3-8FD6-B9C8A1C3B8A2}"/>
              </a:ext>
            </a:extLst>
          </p:cNvPr>
          <p:cNvSpPr>
            <a:spLocks xmlns:a="http://schemas.openxmlformats.org/drawingml/2006/main" noGrp="1"/>
          </p:cNvSpPr>
          <p:nvPr/>
        </p:nvSpPr>
        <p:spPr>
          <a:xfrm xmlns:a="http://schemas.openxmlformats.org/drawingml/2006/main">
            <a:off x="4000500" y="2143125"/>
            <a:ext cx="1485900" cy="228600"/>
          </a:xfrm>
          <a:prstGeom xmlns:a="http://schemas.openxmlformats.org/drawingml/2006/main" prst="rect">
            <a:avLst/>
          </a:prstGeom>
          <a:solidFill xmlns:a="http://schemas.openxmlformats.org/drawingml/2006/main">
            <a:srgbClr val="1F6B4A"/>
          </a:solidFill>
          <a:ln xmlns:a="http://schemas.openxmlformats.org/drawingml/2006/main" w="0">
            <a:solidFill>
              <a:srgbClr val="1F6B4A"/>
            </a:solidFill>
            <a:prstDash val="solid"/>
          </a:ln>
        </p:spPr>
      </p:sp>
      <p:sp>
        <p:nvSpPr>
          <p:cNvPr id="10" name="">
            <a:extLst xmlns:a="http://schemas.openxmlformats.org/drawingml/2006/main">
              <a:ext uri="{FF2B5EF4-FFF2-40B4-BE49-F238E27FC236}">
                <a16:creationId xmlns:a16="http://schemas.microsoft.com/office/drawing/2014/main" id="{BC7DE93D-9F56-4CD5-AC85-0D6F1F86C0E9}"/>
              </a:ext>
            </a:extLst>
          </p:cNvPr>
          <p:cNvSpPr>
            <a:spLocks xmlns:a="http://schemas.openxmlformats.org/drawingml/2006/main" noGrp="1"/>
          </p:cNvSpPr>
          <p:nvPr/>
        </p:nvSpPr>
        <p:spPr>
          <a:xfrm xmlns:a="http://schemas.openxmlformats.org/drawingml/2006/main">
            <a:off x="9191625" y="20955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15</a:t>
            </a:r>
          </a:p>
        </p:txBody>
      </p:sp>
      <p:sp>
        <p:nvSpPr>
          <p:cNvPr id="11" name="">
            <a:extLst xmlns:a="http://schemas.openxmlformats.org/drawingml/2006/main">
              <a:ext uri="{FF2B5EF4-FFF2-40B4-BE49-F238E27FC236}">
                <a16:creationId xmlns:a16="http://schemas.microsoft.com/office/drawing/2014/main" id="{18DF0774-1A83-4F59-BAD1-5F033CFAAF37}"/>
              </a:ext>
            </a:extLst>
          </p:cNvPr>
          <p:cNvSpPr>
            <a:spLocks xmlns:a="http://schemas.openxmlformats.org/drawingml/2006/main" noGrp="1"/>
          </p:cNvSpPr>
          <p:nvPr/>
        </p:nvSpPr>
        <p:spPr>
          <a:xfrm xmlns:a="http://schemas.openxmlformats.org/drawingml/2006/main">
            <a:off x="838200" y="27051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Priority risks</a:t>
            </a:r>
          </a:p>
        </p:txBody>
      </p:sp>
      <p:sp>
        <p:nvSpPr>
          <p:cNvPr id="12" name="">
            <a:extLst xmlns:a="http://schemas.openxmlformats.org/drawingml/2006/main">
              <a:ext uri="{FF2B5EF4-FFF2-40B4-BE49-F238E27FC236}">
                <a16:creationId xmlns:a16="http://schemas.microsoft.com/office/drawing/2014/main" id="{973BA020-3A07-4134-AE3C-790CC938633E}"/>
              </a:ext>
            </a:extLst>
          </p:cNvPr>
          <p:cNvSpPr>
            <a:spLocks xmlns:a="http://schemas.openxmlformats.org/drawingml/2006/main" noGrp="1"/>
          </p:cNvSpPr>
          <p:nvPr/>
        </p:nvSpPr>
        <p:spPr>
          <a:xfrm xmlns:a="http://schemas.openxmlformats.org/drawingml/2006/main">
            <a:off x="4000500" y="273367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3" name="">
            <a:extLst xmlns:a="http://schemas.openxmlformats.org/drawingml/2006/main">
              <a:ext uri="{FF2B5EF4-FFF2-40B4-BE49-F238E27FC236}">
                <a16:creationId xmlns:a16="http://schemas.microsoft.com/office/drawing/2014/main" id="{B9AB5354-7DA3-42EC-A8B3-9E2845E7D37A}"/>
              </a:ext>
            </a:extLst>
          </p:cNvPr>
          <p:cNvSpPr>
            <a:spLocks xmlns:a="http://schemas.openxmlformats.org/drawingml/2006/main" noGrp="1"/>
          </p:cNvSpPr>
          <p:nvPr/>
        </p:nvSpPr>
        <p:spPr>
          <a:xfrm xmlns:a="http://schemas.openxmlformats.org/drawingml/2006/main">
            <a:off x="4000500" y="2733675"/>
            <a:ext cx="1485900" cy="228600"/>
          </a:xfrm>
          <a:prstGeom xmlns:a="http://schemas.openxmlformats.org/drawingml/2006/main" prst="rect">
            <a:avLst/>
          </a:prstGeom>
          <a:solidFill xmlns:a="http://schemas.openxmlformats.org/drawingml/2006/main">
            <a:srgbClr val="2C4A6B"/>
          </a:solidFill>
          <a:ln xmlns:a="http://schemas.openxmlformats.org/drawingml/2006/main" w="0">
            <a:solidFill>
              <a:srgbClr val="2C4A6B"/>
            </a:solidFill>
            <a:prstDash val="solid"/>
          </a:ln>
        </p:spPr>
      </p:sp>
      <p:sp>
        <p:nvSpPr>
          <p:cNvPr id="14" name="">
            <a:extLst xmlns:a="http://schemas.openxmlformats.org/drawingml/2006/main">
              <a:ext uri="{FF2B5EF4-FFF2-40B4-BE49-F238E27FC236}">
                <a16:creationId xmlns:a16="http://schemas.microsoft.com/office/drawing/2014/main" id="{FF64F109-FF9A-43C9-B932-4058704DC618}"/>
              </a:ext>
            </a:extLst>
          </p:cNvPr>
          <p:cNvSpPr>
            <a:spLocks xmlns:a="http://schemas.openxmlformats.org/drawingml/2006/main" noGrp="1"/>
          </p:cNvSpPr>
          <p:nvPr/>
        </p:nvSpPr>
        <p:spPr>
          <a:xfrm xmlns:a="http://schemas.openxmlformats.org/drawingml/2006/main">
            <a:off x="9191625" y="268605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15</a:t>
            </a:r>
          </a:p>
        </p:txBody>
      </p:sp>
      <p:sp>
        <p:nvSpPr>
          <p:cNvPr id="15" name="">
            <a:extLst xmlns:a="http://schemas.openxmlformats.org/drawingml/2006/main">
              <a:ext uri="{FF2B5EF4-FFF2-40B4-BE49-F238E27FC236}">
                <a16:creationId xmlns:a16="http://schemas.microsoft.com/office/drawing/2014/main" id="{8759E8F6-68A9-422E-B141-9831AA2CA03A}"/>
              </a:ext>
            </a:extLst>
          </p:cNvPr>
          <p:cNvSpPr>
            <a:spLocks xmlns:a="http://schemas.openxmlformats.org/drawingml/2006/main" noGrp="1"/>
          </p:cNvSpPr>
          <p:nvPr/>
        </p:nvSpPr>
        <p:spPr>
          <a:xfrm xmlns:a="http://schemas.openxmlformats.org/drawingml/2006/main">
            <a:off x="838200" y="32956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Scenarios</a:t>
            </a:r>
          </a:p>
        </p:txBody>
      </p:sp>
      <p:sp>
        <p:nvSpPr>
          <p:cNvPr id="16" name="">
            <a:extLst xmlns:a="http://schemas.openxmlformats.org/drawingml/2006/main">
              <a:ext uri="{FF2B5EF4-FFF2-40B4-BE49-F238E27FC236}">
                <a16:creationId xmlns:a16="http://schemas.microsoft.com/office/drawing/2014/main" id="{70D028FD-04A5-4FB1-AE95-867E74D76FE5}"/>
              </a:ext>
            </a:extLst>
          </p:cNvPr>
          <p:cNvSpPr>
            <a:spLocks xmlns:a="http://schemas.openxmlformats.org/drawingml/2006/main" noGrp="1"/>
          </p:cNvSpPr>
          <p:nvPr/>
        </p:nvSpPr>
        <p:spPr>
          <a:xfrm xmlns:a="http://schemas.openxmlformats.org/drawingml/2006/main">
            <a:off x="4000500" y="332422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7" name="">
            <a:extLst xmlns:a="http://schemas.openxmlformats.org/drawingml/2006/main">
              <a:ext uri="{FF2B5EF4-FFF2-40B4-BE49-F238E27FC236}">
                <a16:creationId xmlns:a16="http://schemas.microsoft.com/office/drawing/2014/main" id="{B60D556E-F9E4-4068-A9AF-C601A85DE146}"/>
              </a:ext>
            </a:extLst>
          </p:cNvPr>
          <p:cNvSpPr>
            <a:spLocks xmlns:a="http://schemas.openxmlformats.org/drawingml/2006/main" noGrp="1"/>
          </p:cNvSpPr>
          <p:nvPr/>
        </p:nvSpPr>
        <p:spPr>
          <a:xfrm xmlns:a="http://schemas.openxmlformats.org/drawingml/2006/main">
            <a:off x="4000500" y="3324225"/>
            <a:ext cx="495300" cy="2286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8" name="">
            <a:extLst xmlns:a="http://schemas.openxmlformats.org/drawingml/2006/main">
              <a:ext uri="{FF2B5EF4-FFF2-40B4-BE49-F238E27FC236}">
                <a16:creationId xmlns:a16="http://schemas.microsoft.com/office/drawing/2014/main" id="{20CF923D-BED2-4B19-B3DF-7655E653D167}"/>
              </a:ext>
            </a:extLst>
          </p:cNvPr>
          <p:cNvSpPr>
            <a:spLocks xmlns:a="http://schemas.openxmlformats.org/drawingml/2006/main" noGrp="1"/>
          </p:cNvSpPr>
          <p:nvPr/>
        </p:nvSpPr>
        <p:spPr>
          <a:xfrm xmlns:a="http://schemas.openxmlformats.org/drawingml/2006/main">
            <a:off x="9191625" y="327660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5</a:t>
            </a:r>
          </a:p>
        </p:txBody>
      </p:sp>
      <p:sp>
        <p:nvSpPr>
          <p:cNvPr id="19" name="">
            <a:extLst xmlns:a="http://schemas.openxmlformats.org/drawingml/2006/main">
              <a:ext uri="{FF2B5EF4-FFF2-40B4-BE49-F238E27FC236}">
                <a16:creationId xmlns:a16="http://schemas.microsoft.com/office/drawing/2014/main" id="{1F894101-5478-434A-9D0A-625084246768}"/>
              </a:ext>
            </a:extLst>
          </p:cNvPr>
          <p:cNvSpPr>
            <a:spLocks xmlns:a="http://schemas.openxmlformats.org/drawingml/2006/main" noGrp="1"/>
          </p:cNvSpPr>
          <p:nvPr/>
        </p:nvSpPr>
        <p:spPr>
          <a:xfrm xmlns:a="http://schemas.openxmlformats.org/drawingml/2006/main">
            <a:off x="838200" y="38862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b="1">
                <a:solidFill>
                  <a:srgbClr val="142F4C"/>
                </a:solidFill>
              </a:defRPr>
            </a:pPr>
            <a:r>
              <a:rPr sz="1350" b="1">
                <a:solidFill>
                  <a:srgbClr val="142F4C"/>
                </a:solidFill>
              </a:rPr>
              <a:t>Target controls</a:t>
            </a:r>
          </a:p>
        </p:txBody>
      </p:sp>
      <p:sp>
        <p:nvSpPr>
          <p:cNvPr id="20" name="">
            <a:extLst xmlns:a="http://schemas.openxmlformats.org/drawingml/2006/main">
              <a:ext uri="{FF2B5EF4-FFF2-40B4-BE49-F238E27FC236}">
                <a16:creationId xmlns:a16="http://schemas.microsoft.com/office/drawing/2014/main" id="{AA63FB76-440D-42C4-A1B4-8762E87B57B3}"/>
              </a:ext>
            </a:extLst>
          </p:cNvPr>
          <p:cNvSpPr>
            <a:spLocks xmlns:a="http://schemas.openxmlformats.org/drawingml/2006/main" noGrp="1"/>
          </p:cNvSpPr>
          <p:nvPr/>
        </p:nvSpPr>
        <p:spPr>
          <a:xfrm xmlns:a="http://schemas.openxmlformats.org/drawingml/2006/main">
            <a:off x="4000500" y="3914775"/>
            <a:ext cx="4953000" cy="2286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1" name="">
            <a:extLst xmlns:a="http://schemas.openxmlformats.org/drawingml/2006/main">
              <a:ext uri="{FF2B5EF4-FFF2-40B4-BE49-F238E27FC236}">
                <a16:creationId xmlns:a16="http://schemas.microsoft.com/office/drawing/2014/main" id="{370D531D-54FA-46A0-B3E4-A7591ACB4B2F}"/>
              </a:ext>
            </a:extLst>
          </p:cNvPr>
          <p:cNvSpPr>
            <a:spLocks xmlns:a="http://schemas.openxmlformats.org/drawingml/2006/main" noGrp="1"/>
          </p:cNvSpPr>
          <p:nvPr/>
        </p:nvSpPr>
        <p:spPr>
          <a:xfrm xmlns:a="http://schemas.openxmlformats.org/drawingml/2006/main">
            <a:off x="4000500" y="3914775"/>
            <a:ext cx="1485900" cy="228600"/>
          </a:xfrm>
          <a:prstGeom xmlns:a="http://schemas.openxmlformats.org/drawingml/2006/main" prst="rect">
            <a:avLst/>
          </a:prstGeom>
          <a:solidFill xmlns:a="http://schemas.openxmlformats.org/drawingml/2006/main">
            <a:srgbClr val="C9A227"/>
          </a:solidFill>
          <a:ln xmlns:a="http://schemas.openxmlformats.org/drawingml/2006/main" w="0">
            <a:solidFill>
              <a:srgbClr val="C9A227"/>
            </a:solidFill>
            <a:prstDash val="solid"/>
          </a:ln>
        </p:spPr>
      </p:sp>
      <p:sp>
        <p:nvSpPr>
          <p:cNvPr id="22" name="">
            <a:extLst xmlns:a="http://schemas.openxmlformats.org/drawingml/2006/main">
              <a:ext uri="{FF2B5EF4-FFF2-40B4-BE49-F238E27FC236}">
                <a16:creationId xmlns:a16="http://schemas.microsoft.com/office/drawing/2014/main" id="{3708563C-2515-44C3-906C-7DC48DA69B9A}"/>
              </a:ext>
            </a:extLst>
          </p:cNvPr>
          <p:cNvSpPr>
            <a:spLocks xmlns:a="http://schemas.openxmlformats.org/drawingml/2006/main" noGrp="1"/>
          </p:cNvSpPr>
          <p:nvPr/>
        </p:nvSpPr>
        <p:spPr>
          <a:xfrm xmlns:a="http://schemas.openxmlformats.org/drawingml/2006/main">
            <a:off x="9191625" y="3867150"/>
            <a:ext cx="76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142F4C"/>
                </a:solidFill>
              </a:defRPr>
            </a:pPr>
            <a:r>
              <a:rPr sz="1650" b="1">
                <a:solidFill>
                  <a:srgbClr val="142F4C"/>
                </a:solidFill>
              </a:rPr>
              <a:t>15</a:t>
            </a:r>
          </a:p>
        </p:txBody>
      </p:sp>
      <p:sp>
        <p:nvSpPr>
          <p:cNvPr id="23" name="">
            <a:extLst xmlns:a="http://schemas.openxmlformats.org/drawingml/2006/main">
              <a:ext uri="{FF2B5EF4-FFF2-40B4-BE49-F238E27FC236}">
                <a16:creationId xmlns:a16="http://schemas.microsoft.com/office/drawing/2014/main" id="{78638634-A7A8-45C5-A7E1-418BB42F3E59}"/>
              </a:ext>
            </a:extLst>
          </p:cNvPr>
          <p:cNvSpPr>
            <a:spLocks xmlns:a="http://schemas.openxmlformats.org/drawingml/2006/main" noGrp="1"/>
          </p:cNvSpPr>
          <p:nvPr/>
        </p:nvSpPr>
        <p:spPr>
          <a:xfrm xmlns:a="http://schemas.openxmlformats.org/drawingml/2006/main">
            <a:off x="838200" y="4762500"/>
            <a:ext cx="9191625"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9E1E7"/>
            </a:solidFill>
            <a:prstDash val="solid"/>
          </a:ln>
        </p:spPr>
      </p:sp>
      <p:sp>
        <p:nvSpPr>
          <p:cNvPr id="24" name="">
            <a:extLst xmlns:a="http://schemas.openxmlformats.org/drawingml/2006/main">
              <a:ext uri="{FF2B5EF4-FFF2-40B4-BE49-F238E27FC236}">
                <a16:creationId xmlns:a16="http://schemas.microsoft.com/office/drawing/2014/main" id="{DB762F22-91B8-42B1-A51F-8772052FA94C}"/>
              </a:ext>
            </a:extLst>
          </p:cNvPr>
          <p:cNvSpPr>
            <a:spLocks xmlns:a="http://schemas.openxmlformats.org/drawingml/2006/main" noGrp="1"/>
          </p:cNvSpPr>
          <p:nvPr/>
        </p:nvSpPr>
        <p:spPr>
          <a:xfrm xmlns:a="http://schemas.openxmlformats.org/drawingml/2006/main">
            <a:off x="1066800" y="497205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Blueprint reading rule</a:t>
            </a:r>
          </a:p>
        </p:txBody>
      </p:sp>
      <p:sp>
        <p:nvSpPr>
          <p:cNvPr id="25" name="">
            <a:extLst xmlns:a="http://schemas.openxmlformats.org/drawingml/2006/main">
              <a:ext uri="{FF2B5EF4-FFF2-40B4-BE49-F238E27FC236}">
                <a16:creationId xmlns:a16="http://schemas.microsoft.com/office/drawing/2014/main" id="{C39DAED2-09DB-41B8-82E3-2997D2450D75}"/>
              </a:ext>
            </a:extLst>
          </p:cNvPr>
          <p:cNvSpPr>
            <a:spLocks xmlns:a="http://schemas.openxmlformats.org/drawingml/2006/main" noGrp="1"/>
          </p:cNvSpPr>
          <p:nvPr/>
        </p:nvSpPr>
        <p:spPr>
          <a:xfrm xmlns:a="http://schemas.openxmlformats.org/drawingml/2006/main">
            <a:off x="1066800" y="5295900"/>
            <a:ext cx="828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1A2634"/>
                </a:solidFill>
              </a:defRPr>
            </a:pPr>
            <a:r>
              <a:rPr sz="1350">
                <a:solidFill>
                  <a:srgbClr val="1A2634"/>
                </a:solidFill>
              </a:rPr>
              <a:t>The deterministic engine decides; bounded narrative explains. The target state is a management design, not a claim that operating effectiveness is already established.</a:t>
            </a:r>
          </a:p>
        </p:txBody>
      </p:sp>
    </p:spTree>
    <p:extLst>
      <p:ext uri="{BB962C8B-B14F-4D97-AF65-F5344CB8AC3E}">
        <p14:creationId xmlns:p14="http://schemas.microsoft.com/office/powerpoint/2010/main" val="2129750882"/>
      </p:ext>
    </p:extLst>
  </p:cSld>
</p:sld>
</file>

<file path=ppt/slides/slide4.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0FAE77-86D6-40B5-B3BC-B9F347F63D8C}"/>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04</a:t>
            </a:r>
          </a:p>
        </p:txBody>
      </p:sp>
      <p:sp>
        <p:nvSpPr>
          <p:cNvPr id="2" name="">
            <a:extLst xmlns:a="http://schemas.openxmlformats.org/drawingml/2006/main">
              <a:ext uri="{FF2B5EF4-FFF2-40B4-BE49-F238E27FC236}">
                <a16:creationId xmlns:a16="http://schemas.microsoft.com/office/drawing/2014/main" id="{6C69295E-6C94-4F2A-8A8D-79014FC74262}"/>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themes interact across the control environment.</a:t>
            </a:r>
          </a:p>
        </p:txBody>
      </p:sp>
      <p:sp>
        <p:nvSpPr>
          <p:cNvPr id="3" name="">
            <a:extLst xmlns:a="http://schemas.openxmlformats.org/drawingml/2006/main">
              <a:ext uri="{FF2B5EF4-FFF2-40B4-BE49-F238E27FC236}">
                <a16:creationId xmlns:a16="http://schemas.microsoft.com/office/drawing/2014/main" id="{5888DB95-67B7-4974-828C-6668F09B511F}"/>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Use interaction patterns to prioritise target-state design.</a:t>
            </a:r>
          </a:p>
        </p:txBody>
      </p:sp>
      <p:sp>
        <p:nvSpPr>
          <p:cNvPr id="4" name="">
            <a:extLst xmlns:a="http://schemas.openxmlformats.org/drawingml/2006/main">
              <a:ext uri="{FF2B5EF4-FFF2-40B4-BE49-F238E27FC236}">
                <a16:creationId xmlns:a16="http://schemas.microsoft.com/office/drawing/2014/main" id="{CC804553-AA06-4E36-881E-DA6C479FD15C}"/>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F1EA6CDB-E530-4EA6-8DE2-2196868C896C}"/>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C3112155-323B-4A34-A046-89E0784A574A}"/>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04 / 10</a:t>
            </a:r>
          </a:p>
        </p:txBody>
      </p:sp>
      <p:sp>
        <p:nvSpPr>
          <p:cNvPr id="7" name="">
            <a:extLst xmlns:a="http://schemas.openxmlformats.org/drawingml/2006/main">
              <a:ext uri="{FF2B5EF4-FFF2-40B4-BE49-F238E27FC236}">
                <a16:creationId xmlns:a16="http://schemas.microsoft.com/office/drawing/2014/main" id="{B012BE85-EC7C-485D-B41C-A7C8F5BFA714}"/>
              </a:ext>
            </a:extLst>
          </p:cNvPr>
          <p:cNvSpPr>
            <a:spLocks xmlns:a="http://schemas.openxmlformats.org/drawingml/2006/main" noGrp="1"/>
          </p:cNvSpPr>
          <p:nvPr/>
        </p:nvSpPr>
        <p:spPr>
          <a:xfrm xmlns:a="http://schemas.openxmlformats.org/drawingml/2006/main">
            <a:off x="914400" y="23622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8" name="">
            <a:extLst xmlns:a="http://schemas.openxmlformats.org/drawingml/2006/main">
              <a:ext uri="{FF2B5EF4-FFF2-40B4-BE49-F238E27FC236}">
                <a16:creationId xmlns:a16="http://schemas.microsoft.com/office/drawing/2014/main" id="{626D9045-B7A6-468A-8187-EBC4A77571F2}"/>
              </a:ext>
            </a:extLst>
          </p:cNvPr>
          <p:cNvSpPr>
            <a:spLocks xmlns:a="http://schemas.openxmlformats.org/drawingml/2006/main" noGrp="1"/>
          </p:cNvSpPr>
          <p:nvPr/>
        </p:nvSpPr>
        <p:spPr>
          <a:xfrm xmlns:a="http://schemas.openxmlformats.org/drawingml/2006/main">
            <a:off x="1143000" y="22860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1A2634"/>
                </a:solidFill>
              </a:defRPr>
            </a:pPr>
            <a:r>
              <a:rPr sz="1350">
                <a:solidFill>
                  <a:srgbClr val="1A2634"/>
                </a:solidFill>
              </a:rPr>
              <a:t>No cross-domain interaction is currently recorded.</a:t>
            </a:r>
          </a:p>
        </p:txBody>
      </p:sp>
      <p:sp>
        <p:nvSpPr>
          <p:cNvPr id="9" name="">
            <a:extLst xmlns:a="http://schemas.openxmlformats.org/drawingml/2006/main">
              <a:ext uri="{FF2B5EF4-FFF2-40B4-BE49-F238E27FC236}">
                <a16:creationId xmlns:a16="http://schemas.microsoft.com/office/drawing/2014/main" id="{07AF4242-478F-4F92-8516-5B892AFFEC1C}"/>
              </a:ext>
            </a:extLst>
          </p:cNvPr>
          <p:cNvSpPr>
            <a:spLocks xmlns:a="http://schemas.openxmlformats.org/drawingml/2006/main" noGrp="1"/>
          </p:cNvSpPr>
          <p:nvPr/>
        </p:nvSpPr>
        <p:spPr>
          <a:xfrm xmlns:a="http://schemas.openxmlformats.org/drawingml/2006/main">
            <a:off x="914400" y="276225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0" name="">
            <a:extLst xmlns:a="http://schemas.openxmlformats.org/drawingml/2006/main">
              <a:ext uri="{FF2B5EF4-FFF2-40B4-BE49-F238E27FC236}">
                <a16:creationId xmlns:a16="http://schemas.microsoft.com/office/drawing/2014/main" id="{ED34BB53-87C5-466B-869C-4282102B887D}"/>
              </a:ext>
            </a:extLst>
          </p:cNvPr>
          <p:cNvSpPr>
            <a:spLocks xmlns:a="http://schemas.openxmlformats.org/drawingml/2006/main" noGrp="1"/>
          </p:cNvSpPr>
          <p:nvPr/>
        </p:nvSpPr>
        <p:spPr>
          <a:xfrm xmlns:a="http://schemas.openxmlformats.org/drawingml/2006/main">
            <a:off x="1143000" y="268605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1A2634"/>
                </a:solidFill>
              </a:defRPr>
            </a:pPr>
            <a:r>
              <a:rPr sz="1350">
                <a:solidFill>
                  <a:srgbClr val="1A2634"/>
                </a:solidFill>
              </a:rPr>
              <a:t>Use the complete analytical register for the underlying question traces.</a:t>
            </a:r>
          </a:p>
        </p:txBody>
      </p:sp>
    </p:spTree>
    <p:extLst>
      <p:ext uri="{BB962C8B-B14F-4D97-AF65-F5344CB8AC3E}">
        <p14:creationId xmlns:p14="http://schemas.microsoft.com/office/powerpoint/2010/main" val="682018881"/>
      </p:ext>
    </p:extLst>
  </p:cSld>
</p:sld>
</file>

<file path=ppt/slides/slide5.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BB9CD21-C22C-4D20-91D9-7A5B91CC8475}"/>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05</a:t>
            </a:r>
          </a:p>
        </p:txBody>
      </p:sp>
      <p:sp>
        <p:nvSpPr>
          <p:cNvPr id="2" name="">
            <a:extLst xmlns:a="http://schemas.openxmlformats.org/drawingml/2006/main">
              <a:ext uri="{FF2B5EF4-FFF2-40B4-BE49-F238E27FC236}">
                <a16:creationId xmlns:a16="http://schemas.microsoft.com/office/drawing/2014/main" id="{4696F86C-83EF-441A-8EFF-7851DB73CFF6}"/>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Risk concentrates where ownership, detection and response do not yet connect.</a:t>
            </a:r>
          </a:p>
        </p:txBody>
      </p:sp>
      <p:sp>
        <p:nvSpPr>
          <p:cNvPr id="3" name="">
            <a:extLst xmlns:a="http://schemas.openxmlformats.org/drawingml/2006/main">
              <a:ext uri="{FF2B5EF4-FFF2-40B4-BE49-F238E27FC236}">
                <a16:creationId xmlns:a16="http://schemas.microsoft.com/office/drawing/2014/main" id="{4CDA6D13-8760-4AB3-B9DF-9789A6421FB3}"/>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Top risk pathways are shown as operating exposure, not as allegations.</a:t>
            </a:r>
          </a:p>
        </p:txBody>
      </p:sp>
      <p:sp>
        <p:nvSpPr>
          <p:cNvPr id="4" name="">
            <a:extLst xmlns:a="http://schemas.openxmlformats.org/drawingml/2006/main">
              <a:ext uri="{FF2B5EF4-FFF2-40B4-BE49-F238E27FC236}">
                <a16:creationId xmlns:a16="http://schemas.microsoft.com/office/drawing/2014/main" id="{04D1E092-4C49-4121-87E1-F702C18821E1}"/>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3E82A5FE-A7BB-4BFB-A116-82DA975E8A57}"/>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E7248102-0F84-470F-A3D1-B03F23220F87}"/>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05 / 10</a:t>
            </a:r>
          </a:p>
        </p:txBody>
      </p:sp>
      <p:sp>
        <p:nvSpPr>
          <p:cNvPr id="7" name="">
            <a:extLst xmlns:a="http://schemas.openxmlformats.org/drawingml/2006/main">
              <a:ext uri="{FF2B5EF4-FFF2-40B4-BE49-F238E27FC236}">
                <a16:creationId xmlns:a16="http://schemas.microsoft.com/office/drawing/2014/main" id="{AD697F2D-3AD6-44C5-AE1E-93EAD6465B45}"/>
              </a:ext>
            </a:extLst>
          </p:cNvPr>
          <p:cNvSpPr>
            <a:spLocks xmlns:a="http://schemas.openxmlformats.org/drawingml/2006/main" noGrp="1"/>
          </p:cNvSpPr>
          <p:nvPr/>
        </p:nvSpPr>
        <p:spPr>
          <a:xfrm xmlns:a="http://schemas.openxmlformats.org/drawingml/2006/main">
            <a:off x="838200" y="19812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Unauthorised system access enables transaction or record manipulation</a:t>
            </a:r>
          </a:p>
        </p:txBody>
      </p:sp>
      <p:sp>
        <p:nvSpPr>
          <p:cNvPr id="8" name="">
            <a:extLst xmlns:a="http://schemas.openxmlformats.org/drawingml/2006/main">
              <a:ext uri="{FF2B5EF4-FFF2-40B4-BE49-F238E27FC236}">
                <a16:creationId xmlns:a16="http://schemas.microsoft.com/office/drawing/2014/main" id="{E4BA3A6D-210F-401C-8DE9-B012BB19376C}"/>
              </a:ext>
            </a:extLst>
          </p:cNvPr>
          <p:cNvSpPr>
            <a:spLocks xmlns:a="http://schemas.openxmlformats.org/drawingml/2006/main" noGrp="1"/>
          </p:cNvSpPr>
          <p:nvPr/>
        </p:nvSpPr>
        <p:spPr>
          <a:xfrm xmlns:a="http://schemas.openxmlformats.org/drawingml/2006/main">
            <a:off x="4810125" y="20574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9" name="">
            <a:extLst xmlns:a="http://schemas.openxmlformats.org/drawingml/2006/main">
              <a:ext uri="{FF2B5EF4-FFF2-40B4-BE49-F238E27FC236}">
                <a16:creationId xmlns:a16="http://schemas.microsoft.com/office/drawing/2014/main" id="{3D82EF4F-8D37-47A1-BD74-544D0E93F00A}"/>
              </a:ext>
            </a:extLst>
          </p:cNvPr>
          <p:cNvSpPr>
            <a:spLocks xmlns:a="http://schemas.openxmlformats.org/drawingml/2006/main" noGrp="1"/>
          </p:cNvSpPr>
          <p:nvPr/>
        </p:nvSpPr>
        <p:spPr>
          <a:xfrm xmlns:a="http://schemas.openxmlformats.org/drawingml/2006/main">
            <a:off x="4810125" y="20574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0" name="">
            <a:extLst xmlns:a="http://schemas.openxmlformats.org/drawingml/2006/main">
              <a:ext uri="{FF2B5EF4-FFF2-40B4-BE49-F238E27FC236}">
                <a16:creationId xmlns:a16="http://schemas.microsoft.com/office/drawing/2014/main" id="{E0C4A614-2F15-4F0F-B590-8B72FFF9A254}"/>
              </a:ext>
            </a:extLst>
          </p:cNvPr>
          <p:cNvSpPr>
            <a:spLocks xmlns:a="http://schemas.openxmlformats.org/drawingml/2006/main" noGrp="1"/>
          </p:cNvSpPr>
          <p:nvPr/>
        </p:nvSpPr>
        <p:spPr>
          <a:xfrm xmlns:a="http://schemas.openxmlformats.org/drawingml/2006/main">
            <a:off x="8496300" y="2000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11" name="">
            <a:extLst xmlns:a="http://schemas.openxmlformats.org/drawingml/2006/main">
              <a:ext uri="{FF2B5EF4-FFF2-40B4-BE49-F238E27FC236}">
                <a16:creationId xmlns:a16="http://schemas.microsoft.com/office/drawing/2014/main" id="{5E3EC976-8F7F-4BA3-8F31-7D45F4F1CF04}"/>
              </a:ext>
            </a:extLst>
          </p:cNvPr>
          <p:cNvSpPr>
            <a:spLocks xmlns:a="http://schemas.openxmlformats.org/drawingml/2006/main" noGrp="1"/>
          </p:cNvSpPr>
          <p:nvPr/>
        </p:nvSpPr>
        <p:spPr>
          <a:xfrm xmlns:a="http://schemas.openxmlformats.org/drawingml/2006/main">
            <a:off x="9620250" y="19812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Unauthorised system access enables transaction or record manipulation. IT…</a:t>
            </a:r>
          </a:p>
        </p:txBody>
      </p:sp>
      <p:sp>
        <p:nvSpPr>
          <p:cNvPr id="12" name="">
            <a:extLst xmlns:a="http://schemas.openxmlformats.org/drawingml/2006/main">
              <a:ext uri="{FF2B5EF4-FFF2-40B4-BE49-F238E27FC236}">
                <a16:creationId xmlns:a16="http://schemas.microsoft.com/office/drawing/2014/main" id="{F2009DCC-C7CF-4970-949A-07ABFEAF7E79}"/>
              </a:ext>
            </a:extLst>
          </p:cNvPr>
          <p:cNvSpPr>
            <a:spLocks xmlns:a="http://schemas.openxmlformats.org/drawingml/2006/main" noGrp="1"/>
          </p:cNvSpPr>
          <p:nvPr/>
        </p:nvSpPr>
        <p:spPr>
          <a:xfrm xmlns:a="http://schemas.openxmlformats.org/drawingml/2006/main">
            <a:off x="83820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Fraud Detection Capability control effectiveness risk</a:t>
            </a:r>
          </a:p>
        </p:txBody>
      </p:sp>
      <p:sp>
        <p:nvSpPr>
          <p:cNvPr id="13" name="">
            <a:extLst xmlns:a="http://schemas.openxmlformats.org/drawingml/2006/main">
              <a:ext uri="{FF2B5EF4-FFF2-40B4-BE49-F238E27FC236}">
                <a16:creationId xmlns:a16="http://schemas.microsoft.com/office/drawing/2014/main" id="{6ED55B31-7DB4-4165-A772-21DF624E942D}"/>
              </a:ext>
            </a:extLst>
          </p:cNvPr>
          <p:cNvSpPr>
            <a:spLocks xmlns:a="http://schemas.openxmlformats.org/drawingml/2006/main" noGrp="1"/>
          </p:cNvSpPr>
          <p:nvPr/>
        </p:nvSpPr>
        <p:spPr>
          <a:xfrm xmlns:a="http://schemas.openxmlformats.org/drawingml/2006/main">
            <a:off x="4810125" y="272415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4" name="">
            <a:extLst xmlns:a="http://schemas.openxmlformats.org/drawingml/2006/main">
              <a:ext uri="{FF2B5EF4-FFF2-40B4-BE49-F238E27FC236}">
                <a16:creationId xmlns:a16="http://schemas.microsoft.com/office/drawing/2014/main" id="{46A393FC-5AD6-4D1C-B185-33C54C75B7FC}"/>
              </a:ext>
            </a:extLst>
          </p:cNvPr>
          <p:cNvSpPr>
            <a:spLocks xmlns:a="http://schemas.openxmlformats.org/drawingml/2006/main" noGrp="1"/>
          </p:cNvSpPr>
          <p:nvPr/>
        </p:nvSpPr>
        <p:spPr>
          <a:xfrm xmlns:a="http://schemas.openxmlformats.org/drawingml/2006/main">
            <a:off x="4810125" y="272415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15" name="">
            <a:extLst xmlns:a="http://schemas.openxmlformats.org/drawingml/2006/main">
              <a:ext uri="{FF2B5EF4-FFF2-40B4-BE49-F238E27FC236}">
                <a16:creationId xmlns:a16="http://schemas.microsoft.com/office/drawing/2014/main" id="{856A1515-1E13-4678-9D34-342E318D516B}"/>
              </a:ext>
            </a:extLst>
          </p:cNvPr>
          <p:cNvSpPr>
            <a:spLocks xmlns:a="http://schemas.openxmlformats.org/drawingml/2006/main" noGrp="1"/>
          </p:cNvSpPr>
          <p:nvPr/>
        </p:nvSpPr>
        <p:spPr>
          <a:xfrm xmlns:a="http://schemas.openxmlformats.org/drawingml/2006/main">
            <a:off x="8496300" y="2667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16" name="">
            <a:extLst xmlns:a="http://schemas.openxmlformats.org/drawingml/2006/main">
              <a:ext uri="{FF2B5EF4-FFF2-40B4-BE49-F238E27FC236}">
                <a16:creationId xmlns:a16="http://schemas.microsoft.com/office/drawing/2014/main" id="{38999319-6C2C-42A0-B185-4D5A8546BE98}"/>
              </a:ext>
            </a:extLst>
          </p:cNvPr>
          <p:cNvSpPr>
            <a:spLocks xmlns:a="http://schemas.openxmlformats.org/drawingml/2006/main" noGrp="1"/>
          </p:cNvSpPr>
          <p:nvPr/>
        </p:nvSpPr>
        <p:spPr>
          <a:xfrm xmlns:a="http://schemas.openxmlformats.org/drawingml/2006/main">
            <a:off x="9620250" y="26479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Fraud Detection Capability control effectiveness risk. The monitoring owner…</a:t>
            </a:r>
          </a:p>
        </p:txBody>
      </p:sp>
      <p:sp>
        <p:nvSpPr>
          <p:cNvPr id="17" name="">
            <a:extLst xmlns:a="http://schemas.openxmlformats.org/drawingml/2006/main">
              <a:ext uri="{FF2B5EF4-FFF2-40B4-BE49-F238E27FC236}">
                <a16:creationId xmlns:a16="http://schemas.microsoft.com/office/drawing/2014/main" id="{B5321B91-6D51-4556-B17A-309E2DF43CCE}"/>
              </a:ext>
            </a:extLst>
          </p:cNvPr>
          <p:cNvSpPr>
            <a:spLocks xmlns:a="http://schemas.openxmlformats.org/drawingml/2006/main" noGrp="1"/>
          </p:cNvSpPr>
          <p:nvPr/>
        </p:nvSpPr>
        <p:spPr>
          <a:xfrm xmlns:a="http://schemas.openxmlformats.org/drawingml/2006/main">
            <a:off x="838200" y="33147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Continuous Improvement and Fraud Risk Monitoring control effectiveness risk</a:t>
            </a:r>
          </a:p>
        </p:txBody>
      </p:sp>
      <p:sp>
        <p:nvSpPr>
          <p:cNvPr id="18" name="">
            <a:extLst xmlns:a="http://schemas.openxmlformats.org/drawingml/2006/main">
              <a:ext uri="{FF2B5EF4-FFF2-40B4-BE49-F238E27FC236}">
                <a16:creationId xmlns:a16="http://schemas.microsoft.com/office/drawing/2014/main" id="{98BF1AC7-9459-4FBE-BD42-FE573B439800}"/>
              </a:ext>
            </a:extLst>
          </p:cNvPr>
          <p:cNvSpPr>
            <a:spLocks xmlns:a="http://schemas.openxmlformats.org/drawingml/2006/main" noGrp="1"/>
          </p:cNvSpPr>
          <p:nvPr/>
        </p:nvSpPr>
        <p:spPr>
          <a:xfrm xmlns:a="http://schemas.openxmlformats.org/drawingml/2006/main">
            <a:off x="4810125" y="33909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19" name="">
            <a:extLst xmlns:a="http://schemas.openxmlformats.org/drawingml/2006/main">
              <a:ext uri="{FF2B5EF4-FFF2-40B4-BE49-F238E27FC236}">
                <a16:creationId xmlns:a16="http://schemas.microsoft.com/office/drawing/2014/main" id="{0A7E5C28-E638-491A-8009-5DD734643B7C}"/>
              </a:ext>
            </a:extLst>
          </p:cNvPr>
          <p:cNvSpPr>
            <a:spLocks xmlns:a="http://schemas.openxmlformats.org/drawingml/2006/main" noGrp="1"/>
          </p:cNvSpPr>
          <p:nvPr/>
        </p:nvSpPr>
        <p:spPr>
          <a:xfrm xmlns:a="http://schemas.openxmlformats.org/drawingml/2006/main">
            <a:off x="4810125" y="33909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20" name="">
            <a:extLst xmlns:a="http://schemas.openxmlformats.org/drawingml/2006/main">
              <a:ext uri="{FF2B5EF4-FFF2-40B4-BE49-F238E27FC236}">
                <a16:creationId xmlns:a16="http://schemas.microsoft.com/office/drawing/2014/main" id="{AB92AE31-12A7-414B-A990-D07653037D7E}"/>
              </a:ext>
            </a:extLst>
          </p:cNvPr>
          <p:cNvSpPr>
            <a:spLocks xmlns:a="http://schemas.openxmlformats.org/drawingml/2006/main" noGrp="1"/>
          </p:cNvSpPr>
          <p:nvPr/>
        </p:nvSpPr>
        <p:spPr>
          <a:xfrm xmlns:a="http://schemas.openxmlformats.org/drawingml/2006/main">
            <a:off x="8496300" y="3333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21" name="">
            <a:extLst xmlns:a="http://schemas.openxmlformats.org/drawingml/2006/main">
              <a:ext uri="{FF2B5EF4-FFF2-40B4-BE49-F238E27FC236}">
                <a16:creationId xmlns:a16="http://schemas.microsoft.com/office/drawing/2014/main" id="{6C1F901D-D08B-4662-97F8-839BE1950D7A}"/>
              </a:ext>
            </a:extLst>
          </p:cNvPr>
          <p:cNvSpPr>
            <a:spLocks xmlns:a="http://schemas.openxmlformats.org/drawingml/2006/main" noGrp="1"/>
          </p:cNvSpPr>
          <p:nvPr/>
        </p:nvSpPr>
        <p:spPr>
          <a:xfrm xmlns:a="http://schemas.openxmlformats.org/drawingml/2006/main">
            <a:off x="9620250" y="33147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Continuous Improvement and Fraud Risk Monitoring control effectiveness risk.…</a:t>
            </a:r>
          </a:p>
        </p:txBody>
      </p:sp>
      <p:sp>
        <p:nvSpPr>
          <p:cNvPr id="22" name="">
            <a:extLst xmlns:a="http://schemas.openxmlformats.org/drawingml/2006/main">
              <a:ext uri="{FF2B5EF4-FFF2-40B4-BE49-F238E27FC236}">
                <a16:creationId xmlns:a16="http://schemas.microsoft.com/office/drawing/2014/main" id="{D986D303-5793-4520-B566-8D602B36C935}"/>
              </a:ext>
            </a:extLst>
          </p:cNvPr>
          <p:cNvSpPr>
            <a:spLocks xmlns:a="http://schemas.openxmlformats.org/drawingml/2006/main" noGrp="1"/>
          </p:cNvSpPr>
          <p:nvPr/>
        </p:nvSpPr>
        <p:spPr>
          <a:xfrm xmlns:a="http://schemas.openxmlformats.org/drawingml/2006/main">
            <a:off x="838200" y="39814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Fraud Risk Identification control effectiveness risk</a:t>
            </a:r>
          </a:p>
        </p:txBody>
      </p:sp>
      <p:sp>
        <p:nvSpPr>
          <p:cNvPr id="23" name="">
            <a:extLst xmlns:a="http://schemas.openxmlformats.org/drawingml/2006/main">
              <a:ext uri="{FF2B5EF4-FFF2-40B4-BE49-F238E27FC236}">
                <a16:creationId xmlns:a16="http://schemas.microsoft.com/office/drawing/2014/main" id="{1EB77405-CFA7-4991-A5BE-EE6C288BB8AD}"/>
              </a:ext>
            </a:extLst>
          </p:cNvPr>
          <p:cNvSpPr>
            <a:spLocks xmlns:a="http://schemas.openxmlformats.org/drawingml/2006/main" noGrp="1"/>
          </p:cNvSpPr>
          <p:nvPr/>
        </p:nvSpPr>
        <p:spPr>
          <a:xfrm xmlns:a="http://schemas.openxmlformats.org/drawingml/2006/main">
            <a:off x="4810125" y="405765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4" name="">
            <a:extLst xmlns:a="http://schemas.openxmlformats.org/drawingml/2006/main">
              <a:ext uri="{FF2B5EF4-FFF2-40B4-BE49-F238E27FC236}">
                <a16:creationId xmlns:a16="http://schemas.microsoft.com/office/drawing/2014/main" id="{AEBE32F3-4EAB-408F-B261-41CCEFCE7FA7}"/>
              </a:ext>
            </a:extLst>
          </p:cNvPr>
          <p:cNvSpPr>
            <a:spLocks xmlns:a="http://schemas.openxmlformats.org/drawingml/2006/main" noGrp="1"/>
          </p:cNvSpPr>
          <p:nvPr/>
        </p:nvSpPr>
        <p:spPr>
          <a:xfrm xmlns:a="http://schemas.openxmlformats.org/drawingml/2006/main">
            <a:off x="4810125" y="405765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25" name="">
            <a:extLst xmlns:a="http://schemas.openxmlformats.org/drawingml/2006/main">
              <a:ext uri="{FF2B5EF4-FFF2-40B4-BE49-F238E27FC236}">
                <a16:creationId xmlns:a16="http://schemas.microsoft.com/office/drawing/2014/main" id="{161E6018-AE5E-42AE-9040-BA14F479F4BE}"/>
              </a:ext>
            </a:extLst>
          </p:cNvPr>
          <p:cNvSpPr>
            <a:spLocks xmlns:a="http://schemas.openxmlformats.org/drawingml/2006/main" noGrp="1"/>
          </p:cNvSpPr>
          <p:nvPr/>
        </p:nvSpPr>
        <p:spPr>
          <a:xfrm xmlns:a="http://schemas.openxmlformats.org/drawingml/2006/main">
            <a:off x="8496300" y="4000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26" name="">
            <a:extLst xmlns:a="http://schemas.openxmlformats.org/drawingml/2006/main">
              <a:ext uri="{FF2B5EF4-FFF2-40B4-BE49-F238E27FC236}">
                <a16:creationId xmlns:a16="http://schemas.microsoft.com/office/drawing/2014/main" id="{D14DEAC3-1B00-4D35-9EB6-D9A3D90325B1}"/>
              </a:ext>
            </a:extLst>
          </p:cNvPr>
          <p:cNvSpPr>
            <a:spLocks xmlns:a="http://schemas.openxmlformats.org/drawingml/2006/main" noGrp="1"/>
          </p:cNvSpPr>
          <p:nvPr/>
        </p:nvSpPr>
        <p:spPr>
          <a:xfrm xmlns:a="http://schemas.openxmlformats.org/drawingml/2006/main">
            <a:off x="9620250" y="398145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Fraud Risk Identification control effectiveness risk. The Head of…</a:t>
            </a:r>
          </a:p>
        </p:txBody>
      </p:sp>
      <p:sp>
        <p:nvSpPr>
          <p:cNvPr id="27" name="">
            <a:extLst xmlns:a="http://schemas.openxmlformats.org/drawingml/2006/main">
              <a:ext uri="{FF2B5EF4-FFF2-40B4-BE49-F238E27FC236}">
                <a16:creationId xmlns:a16="http://schemas.microsoft.com/office/drawing/2014/main" id="{F3DBDE0B-DBB2-4A3F-AB88-58CE7321DDBA}"/>
              </a:ext>
            </a:extLst>
          </p:cNvPr>
          <p:cNvSpPr>
            <a:spLocks xmlns:a="http://schemas.openxmlformats.org/drawingml/2006/main" noGrp="1"/>
          </p:cNvSpPr>
          <p:nvPr/>
        </p:nvSpPr>
        <p:spPr>
          <a:xfrm xmlns:a="http://schemas.openxmlformats.org/drawingml/2006/main">
            <a:off x="838200" y="46482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Digital and Identity Fraud Risk control effectiveness risk</a:t>
            </a:r>
          </a:p>
        </p:txBody>
      </p:sp>
      <p:sp>
        <p:nvSpPr>
          <p:cNvPr id="28" name="">
            <a:extLst xmlns:a="http://schemas.openxmlformats.org/drawingml/2006/main">
              <a:ext uri="{FF2B5EF4-FFF2-40B4-BE49-F238E27FC236}">
                <a16:creationId xmlns:a16="http://schemas.microsoft.com/office/drawing/2014/main" id="{B2384EFD-8B23-4391-94EE-7070E65A97EE}"/>
              </a:ext>
            </a:extLst>
          </p:cNvPr>
          <p:cNvSpPr>
            <a:spLocks xmlns:a="http://schemas.openxmlformats.org/drawingml/2006/main" noGrp="1"/>
          </p:cNvSpPr>
          <p:nvPr/>
        </p:nvSpPr>
        <p:spPr>
          <a:xfrm xmlns:a="http://schemas.openxmlformats.org/drawingml/2006/main">
            <a:off x="4810125" y="4724400"/>
            <a:ext cx="3429000" cy="190500"/>
          </a:xfrm>
          <a:prstGeom xmlns:a="http://schemas.openxmlformats.org/drawingml/2006/main" prst="rect">
            <a:avLst/>
          </a:prstGeom>
          <a:solidFill xmlns:a="http://schemas.openxmlformats.org/drawingml/2006/main">
            <a:srgbClr val="D9E1E7"/>
          </a:solidFill>
          <a:ln xmlns:a="http://schemas.openxmlformats.org/drawingml/2006/main" w="0">
            <a:solidFill>
              <a:srgbClr val="D9E1E7"/>
            </a:solidFill>
            <a:prstDash val="solid"/>
          </a:ln>
        </p:spPr>
      </p:sp>
      <p:sp>
        <p:nvSpPr>
          <p:cNvPr id="29" name="">
            <a:extLst xmlns:a="http://schemas.openxmlformats.org/drawingml/2006/main">
              <a:ext uri="{FF2B5EF4-FFF2-40B4-BE49-F238E27FC236}">
                <a16:creationId xmlns:a16="http://schemas.microsoft.com/office/drawing/2014/main" id="{68F899E0-DD00-4734-9615-760B90872C86}"/>
              </a:ext>
            </a:extLst>
          </p:cNvPr>
          <p:cNvSpPr>
            <a:spLocks xmlns:a="http://schemas.openxmlformats.org/drawingml/2006/main" noGrp="1"/>
          </p:cNvSpPr>
          <p:nvPr/>
        </p:nvSpPr>
        <p:spPr>
          <a:xfrm xmlns:a="http://schemas.openxmlformats.org/drawingml/2006/main">
            <a:off x="4810125" y="4724400"/>
            <a:ext cx="3429000" cy="190500"/>
          </a:xfrm>
          <a:prstGeom xmlns:a="http://schemas.openxmlformats.org/drawingml/2006/main" prst="rect">
            <a:avLst/>
          </a:prstGeom>
          <a:solidFill xmlns:a="http://schemas.openxmlformats.org/drawingml/2006/main">
            <a:srgbClr val="A32020"/>
          </a:solidFill>
          <a:ln xmlns:a="http://schemas.openxmlformats.org/drawingml/2006/main" w="0">
            <a:solidFill>
              <a:srgbClr val="A32020"/>
            </a:solidFill>
            <a:prstDash val="solid"/>
          </a:ln>
        </p:spPr>
      </p:sp>
      <p:sp>
        <p:nvSpPr>
          <p:cNvPr id="30" name="">
            <a:extLst xmlns:a="http://schemas.openxmlformats.org/drawingml/2006/main">
              <a:ext uri="{FF2B5EF4-FFF2-40B4-BE49-F238E27FC236}">
                <a16:creationId xmlns:a16="http://schemas.microsoft.com/office/drawing/2014/main" id="{FC398C22-6765-4F67-8EE1-801A31C631E3}"/>
              </a:ext>
            </a:extLst>
          </p:cNvPr>
          <p:cNvSpPr>
            <a:spLocks xmlns:a="http://schemas.openxmlformats.org/drawingml/2006/main" noGrp="1"/>
          </p:cNvSpPr>
          <p:nvPr/>
        </p:nvSpPr>
        <p:spPr>
          <a:xfrm xmlns:a="http://schemas.openxmlformats.org/drawingml/2006/main">
            <a:off x="8496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A32020"/>
                </a:solidFill>
              </a:defRPr>
            </a:pPr>
            <a:r>
              <a:rPr sz="1200" b="1">
                <a:solidFill>
                  <a:srgbClr val="A32020"/>
                </a:solidFill>
              </a:rPr>
              <a:t>Critical</a:t>
            </a:r>
          </a:p>
        </p:txBody>
      </p:sp>
      <p:sp>
        <p:nvSpPr>
          <p:cNvPr id="31" name="">
            <a:extLst xmlns:a="http://schemas.openxmlformats.org/drawingml/2006/main">
              <a:ext uri="{FF2B5EF4-FFF2-40B4-BE49-F238E27FC236}">
                <a16:creationId xmlns:a16="http://schemas.microsoft.com/office/drawing/2014/main" id="{CD0059B0-52E0-413A-8270-6A58210393BF}"/>
              </a:ext>
            </a:extLst>
          </p:cNvPr>
          <p:cNvSpPr>
            <a:spLocks xmlns:a="http://schemas.openxmlformats.org/drawingml/2006/main" noGrp="1"/>
          </p:cNvSpPr>
          <p:nvPr/>
        </p:nvSpPr>
        <p:spPr>
          <a:xfrm xmlns:a="http://schemas.openxmlformats.org/drawingml/2006/main">
            <a:off x="9620250" y="4648200"/>
            <a:ext cx="1619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Digital and Identity Fraud Risk control effectiveness risk. The…</a:t>
            </a:r>
          </a:p>
        </p:txBody>
      </p:sp>
    </p:spTree>
    <p:extLst>
      <p:ext uri="{BB962C8B-B14F-4D97-AF65-F5344CB8AC3E}">
        <p14:creationId xmlns:p14="http://schemas.microsoft.com/office/powerpoint/2010/main" val="617859556"/>
      </p:ext>
    </p:extLst>
  </p:cSld>
</p:sld>
</file>

<file path=ppt/slides/slide6.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246CDC-07E7-403E-9C5E-7EACD8752FCB}"/>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06</a:t>
            </a:r>
          </a:p>
        </p:txBody>
      </p:sp>
      <p:sp>
        <p:nvSpPr>
          <p:cNvPr id="2" name="">
            <a:extLst xmlns:a="http://schemas.openxmlformats.org/drawingml/2006/main">
              <a:ext uri="{FF2B5EF4-FFF2-40B4-BE49-F238E27FC236}">
                <a16:creationId xmlns:a16="http://schemas.microsoft.com/office/drawing/2014/main" id="{D86016DE-4F50-4404-8BBD-0876F8BF9C51}"/>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Three plausible pathways show how control gaps can compound.</a:t>
            </a:r>
          </a:p>
        </p:txBody>
      </p:sp>
      <p:sp>
        <p:nvSpPr>
          <p:cNvPr id="3" name="">
            <a:extLst xmlns:a="http://schemas.openxmlformats.org/drawingml/2006/main">
              <a:ext uri="{FF2B5EF4-FFF2-40B4-BE49-F238E27FC236}">
                <a16:creationId xmlns:a16="http://schemas.microsoft.com/office/drawing/2014/main" id="{A45AFB43-C12D-4AED-BBCA-E2518DDB7682}"/>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Scenario logic helps management test prevention, detection and containment together.</a:t>
            </a:r>
          </a:p>
        </p:txBody>
      </p:sp>
      <p:sp>
        <p:nvSpPr>
          <p:cNvPr id="4" name="">
            <a:extLst xmlns:a="http://schemas.openxmlformats.org/drawingml/2006/main">
              <a:ext uri="{FF2B5EF4-FFF2-40B4-BE49-F238E27FC236}">
                <a16:creationId xmlns:a16="http://schemas.microsoft.com/office/drawing/2014/main" id="{84AC03B5-8DF2-4D02-93D7-3BEC7836F1CF}"/>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60422F7A-E0BF-4C13-BB45-D85A04917171}"/>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A7EA2A05-8566-4C6C-95B9-4DBFBBED25D9}"/>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06 / 10</a:t>
            </a:r>
          </a:p>
        </p:txBody>
      </p:sp>
      <p:sp>
        <p:nvSpPr>
          <p:cNvPr id="7" name="">
            <a:extLst xmlns:a="http://schemas.openxmlformats.org/drawingml/2006/main">
              <a:ext uri="{FF2B5EF4-FFF2-40B4-BE49-F238E27FC236}">
                <a16:creationId xmlns:a16="http://schemas.microsoft.com/office/drawing/2014/main" id="{E92E4FB2-817E-4F5C-B3F4-1F92615054A6}"/>
              </a:ext>
            </a:extLst>
          </p:cNvPr>
          <p:cNvSpPr>
            <a:spLocks xmlns:a="http://schemas.openxmlformats.org/drawingml/2006/main" noGrp="1"/>
          </p:cNvSpPr>
          <p:nvPr/>
        </p:nvSpPr>
        <p:spPr>
          <a:xfrm xmlns:a="http://schemas.openxmlformats.org/drawingml/2006/main">
            <a:off x="762000" y="2095500"/>
            <a:ext cx="3143250" cy="2857500"/>
          </a:xfrm>
          <a:prstGeom xmlns:a="http://schemas.openxmlformats.org/drawingml/2006/main" prst="roundRect">
            <a:avLst>
              <a:gd name="adj" fmla="val 4000"/>
            </a:avLst>
          </a:prstGeom>
          <a:solidFill xmlns:a="http://schemas.openxmlformats.org/drawingml/2006/main">
            <a:srgbClr val="FBF9F5"/>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305D08B0-34B7-4EE7-9998-FD86C65A8F16}"/>
              </a:ext>
            </a:extLst>
          </p:cNvPr>
          <p:cNvSpPr>
            <a:spLocks xmlns:a="http://schemas.openxmlformats.org/drawingml/2006/main" noGrp="1"/>
          </p:cNvSpPr>
          <p:nvPr/>
        </p:nvSpPr>
        <p:spPr>
          <a:xfrm xmlns:a="http://schemas.openxmlformats.org/drawingml/2006/main">
            <a:off x="97155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C9A227"/>
                </a:solidFill>
              </a:defRPr>
            </a:pPr>
            <a:r>
              <a:rPr sz="1950" b="1">
                <a:solidFill>
                  <a:srgbClr val="C9A227"/>
                </a:solidFill>
              </a:rPr>
              <a:t>01</a:t>
            </a:r>
          </a:p>
        </p:txBody>
      </p:sp>
      <p:sp>
        <p:nvSpPr>
          <p:cNvPr id="9" name="">
            <a:extLst xmlns:a="http://schemas.openxmlformats.org/drawingml/2006/main">
              <a:ext uri="{FF2B5EF4-FFF2-40B4-BE49-F238E27FC236}">
                <a16:creationId xmlns:a16="http://schemas.microsoft.com/office/drawing/2014/main" id="{C43FCCC9-D305-43FB-AD49-60BA67BA411A}"/>
              </a:ext>
            </a:extLst>
          </p:cNvPr>
          <p:cNvSpPr>
            <a:spLocks xmlns:a="http://schemas.openxmlformats.org/drawingml/2006/main" noGrp="1"/>
          </p:cNvSpPr>
          <p:nvPr/>
        </p:nvSpPr>
        <p:spPr>
          <a:xfrm xmlns:a="http://schemas.openxmlformats.org/drawingml/2006/main">
            <a:off x="97155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Without deliberate monitoring, fraud is found only by accident, complaint or external notification, typically long after the loss has compounded</a:t>
            </a:r>
          </a:p>
        </p:txBody>
      </p:sp>
      <p:sp>
        <p:nvSpPr>
          <p:cNvPr id="10" name="">
            <a:extLst xmlns:a="http://schemas.openxmlformats.org/drawingml/2006/main">
              <a:ext uri="{FF2B5EF4-FFF2-40B4-BE49-F238E27FC236}">
                <a16:creationId xmlns:a16="http://schemas.microsoft.com/office/drawing/2014/main" id="{2215EB15-7013-4F05-81C6-23C211F83BB8}"/>
              </a:ext>
            </a:extLst>
          </p:cNvPr>
          <p:cNvSpPr>
            <a:spLocks xmlns:a="http://schemas.openxmlformats.org/drawingml/2006/main" noGrp="1"/>
          </p:cNvSpPr>
          <p:nvPr/>
        </p:nvSpPr>
        <p:spPr>
          <a:xfrm xmlns:a="http://schemas.openxmlformats.org/drawingml/2006/main">
            <a:off x="97155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The recorded control condition is engaged through Fraud Detection Capability: The organisation monitors transactions or operational activity for unusual patterns, anomalies or red flags.</a:t>
            </a:r>
          </a:p>
        </p:txBody>
      </p:sp>
      <p:sp>
        <p:nvSpPr>
          <p:cNvPr id="11" name="">
            <a:extLst xmlns:a="http://schemas.openxmlformats.org/drawingml/2006/main">
              <a:ext uri="{FF2B5EF4-FFF2-40B4-BE49-F238E27FC236}">
                <a16:creationId xmlns:a16="http://schemas.microsoft.com/office/drawing/2014/main" id="{F96A6DD1-402C-417F-BF28-EB03C0477455}"/>
              </a:ext>
            </a:extLst>
          </p:cNvPr>
          <p:cNvSpPr>
            <a:spLocks xmlns:a="http://schemas.openxmlformats.org/drawingml/2006/main" noGrp="1"/>
          </p:cNvSpPr>
          <p:nvPr/>
        </p:nvSpPr>
        <p:spPr>
          <a:xfrm xmlns:a="http://schemas.openxmlformats.org/drawingml/2006/main">
            <a:off x="97155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Misuse can occur when an actor exploits the recorded control condition and without deliberate monitoring, fraud is found only by accident, complaint or external notification, typically long after the loss has compounded.</a:t>
            </a:r>
          </a:p>
        </p:txBody>
      </p:sp>
      <p:sp>
        <p:nvSpPr>
          <p:cNvPr id="12" name="">
            <a:extLst xmlns:a="http://schemas.openxmlformats.org/drawingml/2006/main">
              <a:ext uri="{FF2B5EF4-FFF2-40B4-BE49-F238E27FC236}">
                <a16:creationId xmlns:a16="http://schemas.microsoft.com/office/drawing/2014/main" id="{C561ACEE-B269-4CCD-8746-8041CE5B0C0A}"/>
              </a:ext>
            </a:extLst>
          </p:cNvPr>
          <p:cNvSpPr>
            <a:spLocks xmlns:a="http://schemas.openxmlformats.org/drawingml/2006/main" noGrp="1"/>
          </p:cNvSpPr>
          <p:nvPr/>
        </p:nvSpPr>
        <p:spPr>
          <a:xfrm xmlns:a="http://schemas.openxmlformats.org/drawingml/2006/main">
            <a:off x="4286250" y="2095500"/>
            <a:ext cx="3143250" cy="2857500"/>
          </a:xfrm>
          <a:prstGeom xmlns:a="http://schemas.openxmlformats.org/drawingml/2006/main" prst="roundRect">
            <a:avLst>
              <a:gd name="adj" fmla="val 4000"/>
            </a:avLst>
          </a:prstGeom>
          <a:solidFill xmlns:a="http://schemas.openxmlformats.org/drawingml/2006/main">
            <a:srgbClr val="FDF4E7"/>
          </a:solidFill>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A895BF2C-93D7-403B-B837-C82B07DA9CA5}"/>
              </a:ext>
            </a:extLst>
          </p:cNvPr>
          <p:cNvSpPr>
            <a:spLocks xmlns:a="http://schemas.openxmlformats.org/drawingml/2006/main" noGrp="1"/>
          </p:cNvSpPr>
          <p:nvPr/>
        </p:nvSpPr>
        <p:spPr>
          <a:xfrm xmlns:a="http://schemas.openxmlformats.org/drawingml/2006/main">
            <a:off x="449580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C9A227"/>
                </a:solidFill>
              </a:defRPr>
            </a:pPr>
            <a:r>
              <a:rPr sz="1950" b="1">
                <a:solidFill>
                  <a:srgbClr val="C9A227"/>
                </a:solidFill>
              </a:rPr>
              <a:t>02</a:t>
            </a:r>
          </a:p>
        </p:txBody>
      </p:sp>
      <p:sp>
        <p:nvSpPr>
          <p:cNvPr id="14" name="">
            <a:extLst xmlns:a="http://schemas.openxmlformats.org/drawingml/2006/main">
              <a:ext uri="{FF2B5EF4-FFF2-40B4-BE49-F238E27FC236}">
                <a16:creationId xmlns:a16="http://schemas.microsoft.com/office/drawing/2014/main" id="{9E6B53EE-0E98-4109-A2E6-17C8E618A8F8}"/>
              </a:ext>
            </a:extLst>
          </p:cNvPr>
          <p:cNvSpPr>
            <a:spLocks xmlns:a="http://schemas.openxmlformats.org/drawingml/2006/main" noGrp="1"/>
          </p:cNvSpPr>
          <p:nvPr/>
        </p:nvSpPr>
        <p:spPr>
          <a:xfrm xmlns:a="http://schemas.openxmlformats.org/drawingml/2006/main">
            <a:off x="449580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Controls decay quietly through staff turnover, system change and workload pressure, so a control believed to be operating may have lapsed months earlier</a:t>
            </a:r>
          </a:p>
        </p:txBody>
      </p:sp>
      <p:sp>
        <p:nvSpPr>
          <p:cNvPr id="15" name="">
            <a:extLst xmlns:a="http://schemas.openxmlformats.org/drawingml/2006/main">
              <a:ext uri="{FF2B5EF4-FFF2-40B4-BE49-F238E27FC236}">
                <a16:creationId xmlns:a16="http://schemas.microsoft.com/office/drawing/2014/main" id="{782B795C-6B6D-4ADE-ABFE-3C688082FAAC}"/>
              </a:ext>
            </a:extLst>
          </p:cNvPr>
          <p:cNvSpPr>
            <a:spLocks xmlns:a="http://schemas.openxmlformats.org/drawingml/2006/main" noGrp="1"/>
          </p:cNvSpPr>
          <p:nvPr/>
        </p:nvSpPr>
        <p:spPr>
          <a:xfrm xmlns:a="http://schemas.openxmlformats.org/drawingml/2006/main">
            <a:off x="449580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The recorded control condition is engaged through Continuous Improvement and Fraud Risk Monitoring: The organisation periodically reviews its fraud risks and control environment.</a:t>
            </a:r>
          </a:p>
        </p:txBody>
      </p:sp>
      <p:sp>
        <p:nvSpPr>
          <p:cNvPr id="16" name="">
            <a:extLst xmlns:a="http://schemas.openxmlformats.org/drawingml/2006/main">
              <a:ext uri="{FF2B5EF4-FFF2-40B4-BE49-F238E27FC236}">
                <a16:creationId xmlns:a16="http://schemas.microsoft.com/office/drawing/2014/main" id="{4CB756EB-A976-4553-BA84-FB56D1A78DD6}"/>
              </a:ext>
            </a:extLst>
          </p:cNvPr>
          <p:cNvSpPr>
            <a:spLocks xmlns:a="http://schemas.openxmlformats.org/drawingml/2006/main" noGrp="1"/>
          </p:cNvSpPr>
          <p:nvPr/>
        </p:nvSpPr>
        <p:spPr>
          <a:xfrm xmlns:a="http://schemas.openxmlformats.org/drawingml/2006/main">
            <a:off x="449580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Misuse can occur when an actor exploits the recorded control condition and controls decay quietly through staff turnover, system change and workload pressure, so a control believed to be operating may have lapsed months earlier.</a:t>
            </a:r>
          </a:p>
        </p:txBody>
      </p:sp>
      <p:sp>
        <p:nvSpPr>
          <p:cNvPr id="17" name="">
            <a:extLst xmlns:a="http://schemas.openxmlformats.org/drawingml/2006/main">
              <a:ext uri="{FF2B5EF4-FFF2-40B4-BE49-F238E27FC236}">
                <a16:creationId xmlns:a16="http://schemas.microsoft.com/office/drawing/2014/main" id="{0F542ECB-F12D-48F6-9AC9-D9B743C2C0A5}"/>
              </a:ext>
            </a:extLst>
          </p:cNvPr>
          <p:cNvSpPr>
            <a:spLocks xmlns:a="http://schemas.openxmlformats.org/drawingml/2006/main" noGrp="1"/>
          </p:cNvSpPr>
          <p:nvPr/>
        </p:nvSpPr>
        <p:spPr>
          <a:xfrm xmlns:a="http://schemas.openxmlformats.org/drawingml/2006/main">
            <a:off x="7810500" y="2095500"/>
            <a:ext cx="3143250" cy="2857500"/>
          </a:xfrm>
          <a:prstGeom xmlns:a="http://schemas.openxmlformats.org/drawingml/2006/main" prst="roundRect">
            <a:avLst>
              <a:gd name="adj" fmla="val 4000"/>
            </a:avLst>
          </a:prstGeom>
          <a:solidFill xmlns:a="http://schemas.openxmlformats.org/drawingml/2006/main">
            <a:srgbClr val="FBEDED"/>
          </a:solidFill>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03B5F343-8F86-44AF-A2F1-1E259EC0FDB6}"/>
              </a:ext>
            </a:extLst>
          </p:cNvPr>
          <p:cNvSpPr>
            <a:spLocks xmlns:a="http://schemas.openxmlformats.org/drawingml/2006/main" noGrp="1"/>
          </p:cNvSpPr>
          <p:nvPr/>
        </p:nvSpPr>
        <p:spPr>
          <a:xfrm xmlns:a="http://schemas.openxmlformats.org/drawingml/2006/main">
            <a:off x="8020050" y="2286000"/>
            <a:ext cx="685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950" b="1">
                <a:solidFill>
                  <a:srgbClr val="A32020"/>
                </a:solidFill>
              </a:defRPr>
            </a:pPr>
            <a:r>
              <a:rPr sz="1950" b="1">
                <a:solidFill>
                  <a:srgbClr val="A32020"/>
                </a:solidFill>
              </a:rPr>
              <a:t>03</a:t>
            </a:r>
          </a:p>
        </p:txBody>
      </p:sp>
      <p:sp>
        <p:nvSpPr>
          <p:cNvPr id="19" name="">
            <a:extLst xmlns:a="http://schemas.openxmlformats.org/drawingml/2006/main">
              <a:ext uri="{FF2B5EF4-FFF2-40B4-BE49-F238E27FC236}">
                <a16:creationId xmlns:a16="http://schemas.microsoft.com/office/drawing/2014/main" id="{22F2F139-2DA0-4101-8071-8BF377661C53}"/>
              </a:ext>
            </a:extLst>
          </p:cNvPr>
          <p:cNvSpPr>
            <a:spLocks xmlns:a="http://schemas.openxmlformats.org/drawingml/2006/main" noGrp="1"/>
          </p:cNvSpPr>
          <p:nvPr/>
        </p:nvSpPr>
        <p:spPr>
          <a:xfrm xmlns:a="http://schemas.openxmlformats.org/drawingml/2006/main">
            <a:off x="8020050" y="2781300"/>
            <a:ext cx="2667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500" b="1">
                <a:solidFill>
                  <a:srgbClr val="142F4C"/>
                </a:solidFill>
              </a:defRPr>
            </a:pPr>
            <a:r>
              <a:rPr sz="1500" b="1">
                <a:solidFill>
                  <a:srgbClr val="142F4C"/>
                </a:solidFill>
              </a:rPr>
              <a:t>Without a current structured assessment, control investment follows intuition and recent events, leaving whole exposure areas unexamined and unfunded</a:t>
            </a:r>
          </a:p>
        </p:txBody>
      </p:sp>
      <p:sp>
        <p:nvSpPr>
          <p:cNvPr id="20" name="">
            <a:extLst xmlns:a="http://schemas.openxmlformats.org/drawingml/2006/main">
              <a:ext uri="{FF2B5EF4-FFF2-40B4-BE49-F238E27FC236}">
                <a16:creationId xmlns:a16="http://schemas.microsoft.com/office/drawing/2014/main" id="{0B914F8B-91F5-4386-9A99-E95D71176C19}"/>
              </a:ext>
            </a:extLst>
          </p:cNvPr>
          <p:cNvSpPr>
            <a:spLocks xmlns:a="http://schemas.openxmlformats.org/drawingml/2006/main" noGrp="1"/>
          </p:cNvSpPr>
          <p:nvPr/>
        </p:nvSpPr>
        <p:spPr>
          <a:xfrm xmlns:a="http://schemas.openxmlformats.org/drawingml/2006/main">
            <a:off x="8020050" y="36004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5A6B7C"/>
                </a:solidFill>
              </a:defRPr>
            </a:pPr>
            <a:r>
              <a:rPr sz="1200">
                <a:solidFill>
                  <a:srgbClr val="5A6B7C"/>
                </a:solidFill>
              </a:rPr>
              <a:t>The recorded control condition is engaged through Fraud Risk Identification: The organisation has completed a structured fraud risk assessment within the past two years.</a:t>
            </a:r>
          </a:p>
        </p:txBody>
      </p:sp>
      <p:sp>
        <p:nvSpPr>
          <p:cNvPr id="21" name="">
            <a:extLst xmlns:a="http://schemas.openxmlformats.org/drawingml/2006/main">
              <a:ext uri="{FF2B5EF4-FFF2-40B4-BE49-F238E27FC236}">
                <a16:creationId xmlns:a16="http://schemas.microsoft.com/office/drawing/2014/main" id="{BB2349B4-FE03-4E5B-92BF-2865C52FFC74}"/>
              </a:ext>
            </a:extLst>
          </p:cNvPr>
          <p:cNvSpPr>
            <a:spLocks xmlns:a="http://schemas.openxmlformats.org/drawingml/2006/main" noGrp="1"/>
          </p:cNvSpPr>
          <p:nvPr/>
        </p:nvSpPr>
        <p:spPr>
          <a:xfrm xmlns:a="http://schemas.openxmlformats.org/drawingml/2006/main">
            <a:off x="8020050" y="40386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Misuse can occur when an actor exploits the recorded control condition and without a current structured assessment, control investment follows intuition and recent events, leaving whole exposure areas unexamined and unfunded.</a:t>
            </a:r>
          </a:p>
        </p:txBody>
      </p:sp>
    </p:spTree>
    <p:extLst>
      <p:ext uri="{BB962C8B-B14F-4D97-AF65-F5344CB8AC3E}">
        <p14:creationId xmlns:p14="http://schemas.microsoft.com/office/powerpoint/2010/main" val="88905234"/>
      </p:ext>
    </p:extLst>
  </p:cSld>
</p:sld>
</file>

<file path=ppt/slides/slide7.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FD58E55-63A0-4C44-99D7-ED28941D3CCA}"/>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07</a:t>
            </a:r>
          </a:p>
        </p:txBody>
      </p:sp>
      <p:sp>
        <p:nvSpPr>
          <p:cNvPr id="2" name="">
            <a:extLst xmlns:a="http://schemas.openxmlformats.org/drawingml/2006/main">
              <a:ext uri="{FF2B5EF4-FFF2-40B4-BE49-F238E27FC236}">
                <a16:creationId xmlns:a16="http://schemas.microsoft.com/office/drawing/2014/main" id="{9DFF551B-E445-4183-8010-1FC29C0F3D21}"/>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Management must choose how to close the access-review gap.</a:t>
            </a:r>
          </a:p>
        </p:txBody>
      </p:sp>
      <p:sp>
        <p:nvSpPr>
          <p:cNvPr id="3" name="">
            <a:extLst xmlns:a="http://schemas.openxmlformats.org/drawingml/2006/main">
              <a:ext uri="{FF2B5EF4-FFF2-40B4-BE49-F238E27FC236}">
                <a16:creationId xmlns:a16="http://schemas.microsoft.com/office/drawing/2014/main" id="{D63C65FF-CFE2-4685-BAA4-668B59DB5CD6}"/>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Options and trade-offs make the decision explicit before the action plan is agreed.</a:t>
            </a:r>
          </a:p>
        </p:txBody>
      </p:sp>
      <p:sp>
        <p:nvSpPr>
          <p:cNvPr id="4" name="">
            <a:extLst xmlns:a="http://schemas.openxmlformats.org/drawingml/2006/main">
              <a:ext uri="{FF2B5EF4-FFF2-40B4-BE49-F238E27FC236}">
                <a16:creationId xmlns:a16="http://schemas.microsoft.com/office/drawing/2014/main" id="{8FD7DE58-64CE-4FA5-B5BD-D49E7F3DA3A9}"/>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B5A33DE0-81A9-4646-A74E-97F83705BC12}"/>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650E5C52-8419-4F31-AA54-81C68BF46572}"/>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07 / 10</a:t>
            </a:r>
          </a:p>
        </p:txBody>
      </p:sp>
      <p:sp>
        <p:nvSpPr>
          <p:cNvPr id="7" name="">
            <a:extLst xmlns:a="http://schemas.openxmlformats.org/drawingml/2006/main">
              <a:ext uri="{FF2B5EF4-FFF2-40B4-BE49-F238E27FC236}">
                <a16:creationId xmlns:a16="http://schemas.microsoft.com/office/drawing/2014/main" id="{97BD35CC-DF03-48D1-9BDE-1A6F4D1A9102}"/>
              </a:ext>
            </a:extLst>
          </p:cNvPr>
          <p:cNvSpPr>
            <a:spLocks xmlns:a="http://schemas.openxmlformats.org/drawingml/2006/main" noGrp="1"/>
          </p:cNvSpPr>
          <p:nvPr/>
        </p:nvSpPr>
        <p:spPr>
          <a:xfrm xmlns:a="http://schemas.openxmlformats.org/drawingml/2006/main">
            <a:off x="838200" y="2019300"/>
            <a:ext cx="933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Approve accountable executive mandates and escalation authority for priority remediation.</a:t>
            </a:r>
          </a:p>
        </p:txBody>
      </p:sp>
      <p:sp>
        <p:nvSpPr>
          <p:cNvPr id="8" name="">
            <a:extLst xmlns:a="http://schemas.openxmlformats.org/drawingml/2006/main">
              <a:ext uri="{FF2B5EF4-FFF2-40B4-BE49-F238E27FC236}">
                <a16:creationId xmlns:a16="http://schemas.microsoft.com/office/drawing/2014/main" id="{4A574667-ED40-4CE8-A27E-A412862EFF58}"/>
              </a:ext>
            </a:extLst>
          </p:cNvPr>
          <p:cNvSpPr>
            <a:spLocks xmlns:a="http://schemas.openxmlformats.org/drawingml/2006/main" noGrp="1"/>
          </p:cNvSpPr>
          <p:nvPr/>
        </p:nvSpPr>
        <p:spPr>
          <a:xfrm xmlns:a="http://schemas.openxmlformats.org/drawingml/2006/main">
            <a:off x="838200" y="2971800"/>
            <a:ext cx="2809875" cy="1524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9E1E7"/>
            </a:solidFill>
            <a:prstDash val="solid"/>
          </a:ln>
        </p:spPr>
      </p:sp>
      <p:sp>
        <p:nvSpPr>
          <p:cNvPr id="9" name="">
            <a:extLst xmlns:a="http://schemas.openxmlformats.org/drawingml/2006/main">
              <a:ext uri="{FF2B5EF4-FFF2-40B4-BE49-F238E27FC236}">
                <a16:creationId xmlns:a16="http://schemas.microsoft.com/office/drawing/2014/main" id="{2A7721C7-4457-4AD0-B940-1ECB4702DFD1}"/>
              </a:ext>
            </a:extLst>
          </p:cNvPr>
          <p:cNvSpPr>
            <a:spLocks xmlns:a="http://schemas.openxmlformats.org/drawingml/2006/main" noGrp="1"/>
          </p:cNvSpPr>
          <p:nvPr/>
        </p:nvSpPr>
        <p:spPr>
          <a:xfrm xmlns:a="http://schemas.openxmlformats.org/drawingml/2006/main">
            <a:off x="1028700" y="31623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OPTION A</a:t>
            </a:r>
          </a:p>
        </p:txBody>
      </p:sp>
      <p:sp>
        <p:nvSpPr>
          <p:cNvPr id="10" name="">
            <a:extLst xmlns:a="http://schemas.openxmlformats.org/drawingml/2006/main">
              <a:ext uri="{FF2B5EF4-FFF2-40B4-BE49-F238E27FC236}">
                <a16:creationId xmlns:a16="http://schemas.microsoft.com/office/drawing/2014/main" id="{1411C314-74D5-44E7-A3BB-B6545284B550}"/>
              </a:ext>
            </a:extLst>
          </p:cNvPr>
          <p:cNvSpPr>
            <a:spLocks xmlns:a="http://schemas.openxmlformats.org/drawingml/2006/main" noGrp="1"/>
          </p:cNvSpPr>
          <p:nvPr/>
        </p:nvSpPr>
        <p:spPr>
          <a:xfrm xmlns:a="http://schemas.openxmlformats.org/drawingml/2006/main">
            <a:off x="1028700" y="3543300"/>
            <a:ext cx="238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Option A — deliver through existing internal ownership</a:t>
            </a:r>
          </a:p>
        </p:txBody>
      </p:sp>
      <p:sp>
        <p:nvSpPr>
          <p:cNvPr id="11" name="">
            <a:extLst xmlns:a="http://schemas.openxmlformats.org/drawingml/2006/main">
              <a:ext uri="{FF2B5EF4-FFF2-40B4-BE49-F238E27FC236}">
                <a16:creationId xmlns:a16="http://schemas.microsoft.com/office/drawing/2014/main" id="{754E0E4B-6019-4B80-8E75-95CFC25B97F1}"/>
              </a:ext>
            </a:extLst>
          </p:cNvPr>
          <p:cNvSpPr>
            <a:spLocks xmlns:a="http://schemas.openxmlformats.org/drawingml/2006/main" noGrp="1"/>
          </p:cNvSpPr>
          <p:nvPr/>
        </p:nvSpPr>
        <p:spPr>
          <a:xfrm xmlns:a="http://schemas.openxmlformats.org/drawingml/2006/main">
            <a:off x="1028700" y="4019550"/>
            <a:ext cx="2381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00">
                <a:solidFill>
                  <a:srgbClr val="5A6B7C"/>
                </a:solidFill>
              </a:defRPr>
            </a:pPr>
            <a:r>
              <a:rPr sz="900">
                <a:solidFill>
                  <a:srgbClr val="5A6B7C"/>
                </a:solidFill>
              </a:rPr>
              <a:t>Cost: Internal capacity and management time.</a:t>
            </a:r>
          </a:p>
          <a:p xmlns:a="http://schemas.openxmlformats.org/drawingml/2006/main">
            <a:pPr>
              <a:defRPr sz="900">
                <a:solidFill>
                  <a:srgbClr val="5A6B7C"/>
                </a:solidFill>
              </a:defRPr>
            </a:pPr>
            <a:r>
              <a:rPr sz="900">
                <a:solidFill>
                  <a:srgbClr val="5A6B7C"/>
                </a:solidFill>
              </a:rPr>
              <a:t>Benefit: Builds durable ownership inside the organisation.</a:t>
            </a:r>
          </a:p>
          <a:p xmlns:a="http://schemas.openxmlformats.org/drawingml/2006/main">
            <a:pPr>
              <a:defRPr sz="900">
                <a:solidFill>
                  <a:srgbClr val="5A6B7C"/>
                </a:solidFill>
              </a:defRPr>
            </a:pPr>
            <a:r>
              <a:rPr sz="900">
                <a:solidFill>
                  <a:srgbClr val="5A6B7C"/>
                </a:solidFill>
              </a:rPr>
              <a:t>Trade-off: May move more slowly where capability is immature.</a:t>
            </a:r>
          </a:p>
          <a:p xmlns:a="http://schemas.openxmlformats.org/drawingml/2006/main">
            <a:pPr>
              <a:defRPr sz="900">
                <a:solidFill>
                  <a:srgbClr val="5A6B7C"/>
                </a:solidFill>
              </a:defRPr>
            </a:pPr>
            <a:r>
              <a:rPr sz="900">
                <a:solidFill>
                  <a:srgbClr val="5A6B7C"/>
                </a:solidFill>
              </a:rPr>
              <a:t>Recommended option</a:t>
            </a:r>
          </a:p>
        </p:txBody>
      </p:sp>
      <p:sp>
        <p:nvSpPr>
          <p:cNvPr id="12" name="">
            <a:extLst xmlns:a="http://schemas.openxmlformats.org/drawingml/2006/main">
              <a:ext uri="{FF2B5EF4-FFF2-40B4-BE49-F238E27FC236}">
                <a16:creationId xmlns:a16="http://schemas.microsoft.com/office/drawing/2014/main" id="{BA7767E4-A149-4EAC-BB2D-777B1CA86703}"/>
              </a:ext>
            </a:extLst>
          </p:cNvPr>
          <p:cNvSpPr>
            <a:spLocks xmlns:a="http://schemas.openxmlformats.org/drawingml/2006/main" noGrp="1"/>
          </p:cNvSpPr>
          <p:nvPr/>
        </p:nvSpPr>
        <p:spPr>
          <a:xfrm xmlns:a="http://schemas.openxmlformats.org/drawingml/2006/main">
            <a:off x="4029075" y="2971800"/>
            <a:ext cx="2809875" cy="1524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60E74458-A664-4C86-A3FB-43CD3C7EA6AC}"/>
              </a:ext>
            </a:extLst>
          </p:cNvPr>
          <p:cNvSpPr>
            <a:spLocks xmlns:a="http://schemas.openxmlformats.org/drawingml/2006/main" noGrp="1"/>
          </p:cNvSpPr>
          <p:nvPr/>
        </p:nvSpPr>
        <p:spPr>
          <a:xfrm xmlns:a="http://schemas.openxmlformats.org/drawingml/2006/main">
            <a:off x="4219575" y="31623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OPTION B</a:t>
            </a:r>
          </a:p>
        </p:txBody>
      </p:sp>
      <p:sp>
        <p:nvSpPr>
          <p:cNvPr id="14" name="">
            <a:extLst xmlns:a="http://schemas.openxmlformats.org/drawingml/2006/main">
              <a:ext uri="{FF2B5EF4-FFF2-40B4-BE49-F238E27FC236}">
                <a16:creationId xmlns:a16="http://schemas.microsoft.com/office/drawing/2014/main" id="{A63B3E34-84AD-497C-9660-BC39DA23E291}"/>
              </a:ext>
            </a:extLst>
          </p:cNvPr>
          <p:cNvSpPr>
            <a:spLocks xmlns:a="http://schemas.openxmlformats.org/drawingml/2006/main" noGrp="1"/>
          </p:cNvSpPr>
          <p:nvPr/>
        </p:nvSpPr>
        <p:spPr>
          <a:xfrm xmlns:a="http://schemas.openxmlformats.org/drawingml/2006/main">
            <a:off x="4219575" y="3543300"/>
            <a:ext cx="238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Option B — use bounded specialist support</a:t>
            </a:r>
          </a:p>
        </p:txBody>
      </p:sp>
      <p:sp>
        <p:nvSpPr>
          <p:cNvPr id="15" name="">
            <a:extLst xmlns:a="http://schemas.openxmlformats.org/drawingml/2006/main">
              <a:ext uri="{FF2B5EF4-FFF2-40B4-BE49-F238E27FC236}">
                <a16:creationId xmlns:a16="http://schemas.microsoft.com/office/drawing/2014/main" id="{DFA721BC-29BA-454A-843B-B12533A2C269}"/>
              </a:ext>
            </a:extLst>
          </p:cNvPr>
          <p:cNvSpPr>
            <a:spLocks xmlns:a="http://schemas.openxmlformats.org/drawingml/2006/main" noGrp="1"/>
          </p:cNvSpPr>
          <p:nvPr/>
        </p:nvSpPr>
        <p:spPr>
          <a:xfrm xmlns:a="http://schemas.openxmlformats.org/drawingml/2006/main">
            <a:off x="4219575" y="4019550"/>
            <a:ext cx="2381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00">
                <a:solidFill>
                  <a:srgbClr val="5A6B7C"/>
                </a:solidFill>
              </a:defRPr>
            </a:pPr>
            <a:r>
              <a:rPr sz="900">
                <a:solidFill>
                  <a:srgbClr val="5A6B7C"/>
                </a:solidFill>
              </a:rPr>
              <a:t>Cost: Targeted specialist budget and handover effort.</a:t>
            </a:r>
          </a:p>
          <a:p xmlns:a="http://schemas.openxmlformats.org/drawingml/2006/main">
            <a:pPr>
              <a:defRPr sz="900">
                <a:solidFill>
                  <a:srgbClr val="5A6B7C"/>
                </a:solidFill>
              </a:defRPr>
            </a:pPr>
            <a:r>
              <a:rPr sz="900">
                <a:solidFill>
                  <a:srgbClr val="5A6B7C"/>
                </a:solidFill>
              </a:rPr>
              <a:t>Benefit: Adds focused capacity against the named priority.</a:t>
            </a:r>
          </a:p>
          <a:p xmlns:a="http://schemas.openxmlformats.org/drawingml/2006/main">
            <a:pPr>
              <a:defRPr sz="900">
                <a:solidFill>
                  <a:srgbClr val="5A6B7C"/>
                </a:solidFill>
              </a:defRPr>
            </a:pPr>
            <a:r>
              <a:rPr sz="900">
                <a:solidFill>
                  <a:srgbClr val="5A6B7C"/>
                </a:solidFill>
              </a:rPr>
              <a:t>Trade-off: Requires clear scope, procurement and transfer of ownership.</a:t>
            </a:r>
          </a:p>
          <a:p xmlns:a="http://schemas.openxmlformats.org/drawingml/2006/main">
            <a:pPr>
              <a:defRPr sz="900">
                <a:solidFill>
                  <a:srgbClr val="5A6B7C"/>
                </a:solidFill>
              </a:defRPr>
            </a:pPr>
            <a:r>
              <a:rPr sz="900">
                <a:solidFill>
                  <a:srgbClr val="5A6B7C"/>
                </a:solidFill>
              </a:rPr>
              <a:t>Recommended option</a:t>
            </a:r>
          </a:p>
        </p:txBody>
      </p:sp>
      <p:sp>
        <p:nvSpPr>
          <p:cNvPr id="16" name="">
            <a:extLst xmlns:a="http://schemas.openxmlformats.org/drawingml/2006/main">
              <a:ext uri="{FF2B5EF4-FFF2-40B4-BE49-F238E27FC236}">
                <a16:creationId xmlns:a16="http://schemas.microsoft.com/office/drawing/2014/main" id="{B2982639-28D4-4920-B56E-A1589026D6C5}"/>
              </a:ext>
            </a:extLst>
          </p:cNvPr>
          <p:cNvSpPr>
            <a:spLocks xmlns:a="http://schemas.openxmlformats.org/drawingml/2006/main" noGrp="1"/>
          </p:cNvSpPr>
          <p:nvPr/>
        </p:nvSpPr>
        <p:spPr>
          <a:xfrm xmlns:a="http://schemas.openxmlformats.org/drawingml/2006/main">
            <a:off x="7219950" y="2971800"/>
            <a:ext cx="2809875" cy="1524000"/>
          </a:xfrm>
          <a:prstGeom xmlns:a="http://schemas.openxmlformats.org/drawingml/2006/main" prst="roundRect">
            <a:avLst>
              <a:gd name="adj" fmla="val 7500"/>
            </a:avLst>
          </a:prstGeom>
          <a:solidFill xmlns:a="http://schemas.openxmlformats.org/drawingml/2006/main">
            <a:srgbClr val="FFFFFF"/>
          </a:solidFill>
          <a:ln xmlns:a="http://schemas.openxmlformats.org/drawingml/2006/main" w="9525">
            <a:solidFill>
              <a:srgbClr val="D9E1E7"/>
            </a:solidFill>
            <a:prstDash val="solid"/>
          </a:ln>
        </p:spPr>
      </p:sp>
      <p:sp>
        <p:nvSpPr>
          <p:cNvPr id="17" name="">
            <a:extLst xmlns:a="http://schemas.openxmlformats.org/drawingml/2006/main">
              <a:ext uri="{FF2B5EF4-FFF2-40B4-BE49-F238E27FC236}">
                <a16:creationId xmlns:a16="http://schemas.microsoft.com/office/drawing/2014/main" id="{FCC534E4-9458-4351-962C-5D35F1955EA8}"/>
              </a:ext>
            </a:extLst>
          </p:cNvPr>
          <p:cNvSpPr>
            <a:spLocks xmlns:a="http://schemas.openxmlformats.org/drawingml/2006/main" noGrp="1"/>
          </p:cNvSpPr>
          <p:nvPr/>
        </p:nvSpPr>
        <p:spPr>
          <a:xfrm xmlns:a="http://schemas.openxmlformats.org/drawingml/2006/main">
            <a:off x="7410450" y="316230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OPTION C</a:t>
            </a:r>
          </a:p>
        </p:txBody>
      </p:sp>
      <p:sp>
        <p:nvSpPr>
          <p:cNvPr id="18" name="">
            <a:extLst xmlns:a="http://schemas.openxmlformats.org/drawingml/2006/main">
              <a:ext uri="{FF2B5EF4-FFF2-40B4-BE49-F238E27FC236}">
                <a16:creationId xmlns:a16="http://schemas.microsoft.com/office/drawing/2014/main" id="{1114F0F6-59E0-4B63-9457-13C41D56C55D}"/>
              </a:ext>
            </a:extLst>
          </p:cNvPr>
          <p:cNvSpPr>
            <a:spLocks xmlns:a="http://schemas.openxmlformats.org/drawingml/2006/main" noGrp="1"/>
          </p:cNvSpPr>
          <p:nvPr/>
        </p:nvSpPr>
        <p:spPr>
          <a:xfrm xmlns:a="http://schemas.openxmlformats.org/drawingml/2006/main">
            <a:off x="7410450" y="3543300"/>
            <a:ext cx="238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75" b="1">
                <a:solidFill>
                  <a:srgbClr val="142F4C"/>
                </a:solidFill>
              </a:defRPr>
            </a:pPr>
            <a:r>
              <a:rPr sz="1275" b="1">
                <a:solidFill>
                  <a:srgbClr val="142F4C"/>
                </a:solidFill>
              </a:rPr>
              <a:t>Option C — combine internal ownership with targeted specialist support</a:t>
            </a:r>
          </a:p>
        </p:txBody>
      </p:sp>
      <p:sp>
        <p:nvSpPr>
          <p:cNvPr id="19" name="">
            <a:extLst xmlns:a="http://schemas.openxmlformats.org/drawingml/2006/main">
              <a:ext uri="{FF2B5EF4-FFF2-40B4-BE49-F238E27FC236}">
                <a16:creationId xmlns:a16="http://schemas.microsoft.com/office/drawing/2014/main" id="{BA658372-FAE7-4096-A856-69705B72E677}"/>
              </a:ext>
            </a:extLst>
          </p:cNvPr>
          <p:cNvSpPr>
            <a:spLocks xmlns:a="http://schemas.openxmlformats.org/drawingml/2006/main" noGrp="1"/>
          </p:cNvSpPr>
          <p:nvPr/>
        </p:nvSpPr>
        <p:spPr>
          <a:xfrm xmlns:a="http://schemas.openxmlformats.org/drawingml/2006/main">
            <a:off x="7410450" y="4019550"/>
            <a:ext cx="2381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00">
                <a:solidFill>
                  <a:srgbClr val="5A6B7C"/>
                </a:solidFill>
              </a:defRPr>
            </a:pPr>
            <a:r>
              <a:rPr sz="900">
                <a:solidFill>
                  <a:srgbClr val="5A6B7C"/>
                </a:solidFill>
              </a:rPr>
              <a:t>Cost: Combined internal capacity plus targeted specialist budget.</a:t>
            </a:r>
          </a:p>
          <a:p xmlns:a="http://schemas.openxmlformats.org/drawingml/2006/main">
            <a:pPr>
              <a:defRPr sz="900">
                <a:solidFill>
                  <a:srgbClr val="5A6B7C"/>
                </a:solidFill>
              </a:defRPr>
            </a:pPr>
            <a:r>
              <a:rPr sz="900">
                <a:solidFill>
                  <a:srgbClr val="5A6B7C"/>
                </a:solidFill>
              </a:rPr>
              <a:t>Benefit: Keeps accountability internal while accelerating the priority design.</a:t>
            </a:r>
          </a:p>
          <a:p xmlns:a="http://schemas.openxmlformats.org/drawingml/2006/main">
            <a:pPr>
              <a:defRPr sz="900">
                <a:solidFill>
                  <a:srgbClr val="5A6B7C"/>
                </a:solidFill>
              </a:defRPr>
            </a:pPr>
            <a:r>
              <a:rPr sz="900">
                <a:solidFill>
                  <a:srgbClr val="5A6B7C"/>
                </a:solidFill>
              </a:rPr>
              <a:t>Trade-off: Needs explicit boundaries so ownership and escalation are not diluted.</a:t>
            </a:r>
          </a:p>
          <a:p xmlns:a="http://schemas.openxmlformats.org/drawingml/2006/main">
            <a:pPr>
              <a:defRPr sz="900">
                <a:solidFill>
                  <a:srgbClr val="5A6B7C"/>
                </a:solidFill>
              </a:defRPr>
            </a:pPr>
            <a:r>
              <a:rPr sz="900">
                <a:solidFill>
                  <a:srgbClr val="5A6B7C"/>
                </a:solidFill>
              </a:rPr>
              <a:t>Recommended option</a:t>
            </a:r>
          </a:p>
        </p:txBody>
      </p:sp>
      <p:sp>
        <p:nvSpPr>
          <p:cNvPr id="20" name="">
            <a:extLst xmlns:a="http://schemas.openxmlformats.org/drawingml/2006/main">
              <a:ext uri="{FF2B5EF4-FFF2-40B4-BE49-F238E27FC236}">
                <a16:creationId xmlns:a16="http://schemas.microsoft.com/office/drawing/2014/main" id="{174953EA-34E6-463E-906B-5894CECE973A}"/>
              </a:ext>
            </a:extLst>
          </p:cNvPr>
          <p:cNvSpPr>
            <a:spLocks xmlns:a="http://schemas.openxmlformats.org/drawingml/2006/main" noGrp="1"/>
          </p:cNvSpPr>
          <p:nvPr/>
        </p:nvSpPr>
        <p:spPr>
          <a:xfrm xmlns:a="http://schemas.openxmlformats.org/drawingml/2006/main">
            <a:off x="838200" y="4972050"/>
            <a:ext cx="9191625" cy="704850"/>
          </a:xfrm>
          <a:prstGeom xmlns:a="http://schemas.openxmlformats.org/drawingml/2006/main" prst="roundRect">
            <a:avLst>
              <a:gd name="adj" fmla="val 16216"/>
            </a:avLst>
          </a:prstGeom>
          <a:solidFill xmlns:a="http://schemas.openxmlformats.org/drawingml/2006/main">
            <a:srgbClr val="FDF4E7"/>
          </a:solidFill>
          <a:ln xmlns:a="http://schemas.openxmlformats.org/drawingml/2006/main" w="9525">
            <a:solidFill>
              <a:srgbClr val="F0E6C8"/>
            </a:solidFill>
            <a:prstDash val="solid"/>
          </a:ln>
        </p:spPr>
      </p:sp>
      <p:sp>
        <p:nvSpPr>
          <p:cNvPr id="21" name="">
            <a:extLst xmlns:a="http://schemas.openxmlformats.org/drawingml/2006/main">
              <a:ext uri="{FF2B5EF4-FFF2-40B4-BE49-F238E27FC236}">
                <a16:creationId xmlns:a16="http://schemas.microsoft.com/office/drawing/2014/main" id="{2E2C06C7-5AB1-4281-A75D-FEEC9F6F00A9}"/>
              </a:ext>
            </a:extLst>
          </p:cNvPr>
          <p:cNvSpPr>
            <a:spLocks xmlns:a="http://schemas.openxmlformats.org/drawingml/2006/main" noGrp="1"/>
          </p:cNvSpPr>
          <p:nvPr/>
        </p:nvSpPr>
        <p:spPr>
          <a:xfrm xmlns:a="http://schemas.openxmlformats.org/drawingml/2006/main">
            <a:off x="1066800" y="5067300"/>
            <a:ext cx="866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142F4C"/>
                </a:solidFill>
              </a:defRPr>
            </a:pPr>
            <a:r>
              <a:rPr sz="975">
                <a:solidFill>
                  <a:srgbClr val="142F4C"/>
                </a:solidFill>
              </a:rPr>
              <a:t>Deterministic recommendation: Name one accountable executive per linked control and approve a 30-day escalation route.</a:t>
            </a:r>
          </a:p>
        </p:txBody>
      </p:sp>
      <p:sp>
        <p:nvSpPr>
          <p:cNvPr id="22" name="">
            <a:extLst xmlns:a="http://schemas.openxmlformats.org/drawingml/2006/main">
              <a:ext uri="{FF2B5EF4-FFF2-40B4-BE49-F238E27FC236}">
                <a16:creationId xmlns:a16="http://schemas.microsoft.com/office/drawing/2014/main" id="{7DF00DB0-EFB5-4CC3-B5A8-A554700F85A5}"/>
              </a:ext>
            </a:extLst>
          </p:cNvPr>
          <p:cNvSpPr>
            <a:spLocks xmlns:a="http://schemas.openxmlformats.org/drawingml/2006/main" noGrp="1"/>
          </p:cNvSpPr>
          <p:nvPr/>
        </p:nvSpPr>
        <p:spPr>
          <a:xfrm xmlns:a="http://schemas.openxmlformats.org/drawingml/2006/main">
            <a:off x="1066800" y="5257800"/>
            <a:ext cx="866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142F4C"/>
                </a:solidFill>
              </a:defRPr>
            </a:pPr>
            <a:r>
              <a:rPr sz="975">
                <a:solidFill>
                  <a:srgbClr val="142F4C"/>
                </a:solidFill>
              </a:rPr>
              <a:t>Recommendation rationale: The recorded assessment links this decision to 8 material finding(s) and 8 risk(s). Management should confirm the final…</a:t>
            </a:r>
          </a:p>
        </p:txBody>
      </p:sp>
      <p:sp>
        <p:nvSpPr>
          <p:cNvPr id="23" name="">
            <a:extLst xmlns:a="http://schemas.openxmlformats.org/drawingml/2006/main">
              <a:ext uri="{FF2B5EF4-FFF2-40B4-BE49-F238E27FC236}">
                <a16:creationId xmlns:a16="http://schemas.microsoft.com/office/drawing/2014/main" id="{F8D02962-A0A6-4A98-AB6C-AF35B009E85F}"/>
              </a:ext>
            </a:extLst>
          </p:cNvPr>
          <p:cNvSpPr>
            <a:spLocks xmlns:a="http://schemas.openxmlformats.org/drawingml/2006/main" noGrp="1"/>
          </p:cNvSpPr>
          <p:nvPr/>
        </p:nvSpPr>
        <p:spPr>
          <a:xfrm xmlns:a="http://schemas.openxmlformats.org/drawingml/2006/main">
            <a:off x="1066800" y="5448300"/>
            <a:ext cx="8667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142F4C"/>
                </a:solidFill>
              </a:defRPr>
            </a:pPr>
            <a:r>
              <a:rPr sz="975">
                <a:solidFill>
                  <a:srgbClr val="142F4C"/>
                </a:solidFill>
              </a:rPr>
              <a:t>Owner: CEO / Managing Director · Target period: 30 days</a:t>
            </a:r>
          </a:p>
        </p:txBody>
      </p:sp>
    </p:spTree>
    <p:extLst>
      <p:ext uri="{BB962C8B-B14F-4D97-AF65-F5344CB8AC3E}">
        <p14:creationId xmlns:p14="http://schemas.microsoft.com/office/powerpoint/2010/main" val="1551737851"/>
      </p:ext>
    </p:extLst>
  </p:cSld>
</p:sld>
</file>

<file path=ppt/slides/slide8.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FD2B7AB-7CBF-44FB-8E68-A1500BF39715}"/>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08</a:t>
            </a:r>
          </a:p>
        </p:txBody>
      </p:sp>
      <p:sp>
        <p:nvSpPr>
          <p:cNvPr id="2" name="">
            <a:extLst xmlns:a="http://schemas.openxmlformats.org/drawingml/2006/main">
              <a:ext uri="{FF2B5EF4-FFF2-40B4-BE49-F238E27FC236}">
                <a16:creationId xmlns:a16="http://schemas.microsoft.com/office/drawing/2014/main" id="{BDFAB711-3F74-4C02-B1FA-51A414407F8A}"/>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The first 90 days should establish population, ownership and proof.</a:t>
            </a:r>
          </a:p>
        </p:txBody>
      </p:sp>
      <p:sp>
        <p:nvSpPr>
          <p:cNvPr id="3" name="">
            <a:extLst xmlns:a="http://schemas.openxmlformats.org/drawingml/2006/main">
              <a:ext uri="{FF2B5EF4-FFF2-40B4-BE49-F238E27FC236}">
                <a16:creationId xmlns:a16="http://schemas.microsoft.com/office/drawing/2014/main" id="{9667757B-E051-4B8A-9932-E551B627FCE5}"/>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Sequence the work so early progress creates a reliable control baseline.</a:t>
            </a:r>
          </a:p>
        </p:txBody>
      </p:sp>
      <p:sp>
        <p:nvSpPr>
          <p:cNvPr id="4" name="">
            <a:extLst xmlns:a="http://schemas.openxmlformats.org/drawingml/2006/main">
              <a:ext uri="{FF2B5EF4-FFF2-40B4-BE49-F238E27FC236}">
                <a16:creationId xmlns:a16="http://schemas.microsoft.com/office/drawing/2014/main" id="{E7F2A9D9-6341-447B-9401-B09F660158AA}"/>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EDB8067E-4AFF-4D0C-9F17-D6D6AD92FB67}"/>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C4D6B9B9-F383-4BFA-BA91-B4D5875FA100}"/>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08 / 10</a:t>
            </a:r>
          </a:p>
        </p:txBody>
      </p:sp>
      <p:sp>
        <p:nvSpPr>
          <p:cNvPr id="7" name="">
            <a:extLst xmlns:a="http://schemas.openxmlformats.org/drawingml/2006/main">
              <a:ext uri="{FF2B5EF4-FFF2-40B4-BE49-F238E27FC236}">
                <a16:creationId xmlns:a16="http://schemas.microsoft.com/office/drawing/2014/main" id="{DE1E2133-3FFD-498A-B172-E0266D9A9315}"/>
              </a:ext>
            </a:extLst>
          </p:cNvPr>
          <p:cNvSpPr>
            <a:spLocks xmlns:a="http://schemas.openxmlformats.org/drawingml/2006/main" noGrp="1"/>
          </p:cNvSpPr>
          <p:nvPr/>
        </p:nvSpPr>
        <p:spPr>
          <a:xfrm xmlns:a="http://schemas.openxmlformats.org/drawingml/2006/main">
            <a:off x="8382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DFE7F380-C845-42FF-BA5D-85ACA54CB121}"/>
              </a:ext>
            </a:extLst>
          </p:cNvPr>
          <p:cNvSpPr>
            <a:spLocks xmlns:a="http://schemas.openxmlformats.org/drawingml/2006/main" noGrp="1"/>
          </p:cNvSpPr>
          <p:nvPr/>
        </p:nvSpPr>
        <p:spPr>
          <a:xfrm xmlns:a="http://schemas.openxmlformats.org/drawingml/2006/main">
            <a:off x="838200" y="2095500"/>
            <a:ext cx="2857500" cy="76200"/>
          </a:xfrm>
          <a:prstGeom xmlns:a="http://schemas.openxmlformats.org/drawingml/2006/main" prst="rect">
            <a:avLst/>
          </a:prstGeom>
          <a:solidFill xmlns:a="http://schemas.openxmlformats.org/drawingml/2006/main">
            <a:srgbClr val="C9A227"/>
          </a:solidFill>
          <a:ln xmlns:a="http://schemas.openxmlformats.org/drawingml/2006/main" w="0">
            <a:solidFill>
              <a:srgbClr val="142F4C"/>
            </a:solidFill>
            <a:prstDash val="solid"/>
          </a:ln>
        </p:spPr>
      </p:sp>
      <p:sp>
        <p:nvSpPr>
          <p:cNvPr id="9" name="">
            <a:extLst xmlns:a="http://schemas.openxmlformats.org/drawingml/2006/main">
              <a:ext uri="{FF2B5EF4-FFF2-40B4-BE49-F238E27FC236}">
                <a16:creationId xmlns:a16="http://schemas.microsoft.com/office/drawing/2014/main" id="{9D68893C-66D3-4D36-90CF-C9FB409219B0}"/>
              </a:ext>
            </a:extLst>
          </p:cNvPr>
          <p:cNvSpPr>
            <a:spLocks xmlns:a="http://schemas.openxmlformats.org/drawingml/2006/main" noGrp="1"/>
          </p:cNvSpPr>
          <p:nvPr/>
        </p:nvSpPr>
        <p:spPr>
          <a:xfrm xmlns:a="http://schemas.openxmlformats.org/drawingml/2006/main">
            <a:off x="10477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30 days</a:t>
            </a:r>
          </a:p>
        </p:txBody>
      </p:sp>
      <p:sp>
        <p:nvSpPr>
          <p:cNvPr id="10" name="">
            <a:extLst xmlns:a="http://schemas.openxmlformats.org/drawingml/2006/main">
              <a:ext uri="{FF2B5EF4-FFF2-40B4-BE49-F238E27FC236}">
                <a16:creationId xmlns:a16="http://schemas.microsoft.com/office/drawing/2014/main" id="{F819EE08-A0BA-4888-943D-6F12F594CF8D}"/>
              </a:ext>
            </a:extLst>
          </p:cNvPr>
          <p:cNvSpPr>
            <a:spLocks xmlns:a="http://schemas.openxmlformats.org/drawingml/2006/main" noGrp="1"/>
          </p:cNvSpPr>
          <p:nvPr/>
        </p:nvSpPr>
        <p:spPr>
          <a:xfrm xmlns:a="http://schemas.openxmlformats.org/drawingml/2006/main">
            <a:off x="10477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1" name="">
            <a:extLst xmlns:a="http://schemas.openxmlformats.org/drawingml/2006/main">
              <a:ext uri="{FF2B5EF4-FFF2-40B4-BE49-F238E27FC236}">
                <a16:creationId xmlns:a16="http://schemas.microsoft.com/office/drawing/2014/main" id="{9C51C2F6-7ECA-474D-BD3D-E8AFEB288091}"/>
              </a:ext>
            </a:extLst>
          </p:cNvPr>
          <p:cNvSpPr>
            <a:spLocks xmlns:a="http://schemas.openxmlformats.org/drawingml/2006/main" noGrp="1"/>
          </p:cNvSpPr>
          <p:nvPr/>
        </p:nvSpPr>
        <p:spPr>
          <a:xfrm xmlns:a="http://schemas.openxmlformats.org/drawingml/2006/main">
            <a:off x="12763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The CEO and audit-committee chair must approve a RACI that assigns control operation to management and risk owners,…</a:t>
            </a:r>
          </a:p>
        </p:txBody>
      </p:sp>
      <p:sp>
        <p:nvSpPr>
          <p:cNvPr id="12" name="">
            <a:extLst xmlns:a="http://schemas.openxmlformats.org/drawingml/2006/main">
              <a:ext uri="{FF2B5EF4-FFF2-40B4-BE49-F238E27FC236}">
                <a16:creationId xmlns:a16="http://schemas.microsoft.com/office/drawing/2014/main" id="{B951593C-8D76-4143-8D4B-530088515CBA}"/>
              </a:ext>
            </a:extLst>
          </p:cNvPr>
          <p:cNvSpPr>
            <a:spLocks xmlns:a="http://schemas.openxmlformats.org/drawingml/2006/main" noGrp="1"/>
          </p:cNvSpPr>
          <p:nvPr/>
        </p:nvSpPr>
        <p:spPr>
          <a:xfrm xmlns:a="http://schemas.openxmlformats.org/drawingml/2006/main">
            <a:off x="1047750" y="35814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3" name="">
            <a:extLst xmlns:a="http://schemas.openxmlformats.org/drawingml/2006/main">
              <a:ext uri="{FF2B5EF4-FFF2-40B4-BE49-F238E27FC236}">
                <a16:creationId xmlns:a16="http://schemas.microsoft.com/office/drawing/2014/main" id="{28EE8ED2-DFFC-4D90-8726-A27CF10FB204}"/>
              </a:ext>
            </a:extLst>
          </p:cNvPr>
          <p:cNvSpPr>
            <a:spLocks xmlns:a="http://schemas.openxmlformats.org/drawingml/2006/main" noGrp="1"/>
          </p:cNvSpPr>
          <p:nvPr/>
        </p:nvSpPr>
        <p:spPr>
          <a:xfrm xmlns:a="http://schemas.openxmlformats.org/drawingml/2006/main">
            <a:off x="1276350" y="35052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The Head of Risk must publish escalation criteria defining what must be escalated, to whom and within what…</a:t>
            </a:r>
          </a:p>
        </p:txBody>
      </p:sp>
      <p:sp>
        <p:nvSpPr>
          <p:cNvPr id="14" name="">
            <a:extLst xmlns:a="http://schemas.openxmlformats.org/drawingml/2006/main">
              <a:ext uri="{FF2B5EF4-FFF2-40B4-BE49-F238E27FC236}">
                <a16:creationId xmlns:a16="http://schemas.microsoft.com/office/drawing/2014/main" id="{651D3C0A-75E5-4067-8C23-26BED4BCC8F6}"/>
              </a:ext>
            </a:extLst>
          </p:cNvPr>
          <p:cNvSpPr>
            <a:spLocks xmlns:a="http://schemas.openxmlformats.org/drawingml/2006/main" noGrp="1"/>
          </p:cNvSpPr>
          <p:nvPr/>
        </p:nvSpPr>
        <p:spPr>
          <a:xfrm xmlns:a="http://schemas.openxmlformats.org/drawingml/2006/main">
            <a:off x="1047750" y="42291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5" name="">
            <a:extLst xmlns:a="http://schemas.openxmlformats.org/drawingml/2006/main">
              <a:ext uri="{FF2B5EF4-FFF2-40B4-BE49-F238E27FC236}">
                <a16:creationId xmlns:a16="http://schemas.microsoft.com/office/drawing/2014/main" id="{48A4255A-0F44-4E97-A86A-89A55EBBCEB6}"/>
              </a:ext>
            </a:extLst>
          </p:cNvPr>
          <p:cNvSpPr>
            <a:spLocks xmlns:a="http://schemas.openxmlformats.org/drawingml/2006/main" noGrp="1"/>
          </p:cNvSpPr>
          <p:nvPr/>
        </p:nvSpPr>
        <p:spPr>
          <a:xfrm xmlns:a="http://schemas.openxmlformats.org/drawingml/2006/main">
            <a:off x="1276350" y="41529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The ethics owner must publish reporting routes in plain language across the channels the workforce actually uses —…</a:t>
            </a:r>
          </a:p>
        </p:txBody>
      </p:sp>
      <p:sp>
        <p:nvSpPr>
          <p:cNvPr id="16" name="">
            <a:extLst xmlns:a="http://schemas.openxmlformats.org/drawingml/2006/main">
              <a:ext uri="{FF2B5EF4-FFF2-40B4-BE49-F238E27FC236}">
                <a16:creationId xmlns:a16="http://schemas.microsoft.com/office/drawing/2014/main" id="{34E22110-54C8-4969-9C3F-21828ED086C2}"/>
              </a:ext>
            </a:extLst>
          </p:cNvPr>
          <p:cNvSpPr>
            <a:spLocks xmlns:a="http://schemas.openxmlformats.org/drawingml/2006/main" noGrp="1"/>
          </p:cNvSpPr>
          <p:nvPr/>
        </p:nvSpPr>
        <p:spPr>
          <a:xfrm xmlns:a="http://schemas.openxmlformats.org/drawingml/2006/main">
            <a:off x="40767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17" name="">
            <a:extLst xmlns:a="http://schemas.openxmlformats.org/drawingml/2006/main">
              <a:ext uri="{FF2B5EF4-FFF2-40B4-BE49-F238E27FC236}">
                <a16:creationId xmlns:a16="http://schemas.microsoft.com/office/drawing/2014/main" id="{5AEF76D6-C305-4E33-8605-9FC1C8B52663}"/>
              </a:ext>
            </a:extLst>
          </p:cNvPr>
          <p:cNvSpPr>
            <a:spLocks xmlns:a="http://schemas.openxmlformats.org/drawingml/2006/main" noGrp="1"/>
          </p:cNvSpPr>
          <p:nvPr/>
        </p:nvSpPr>
        <p:spPr>
          <a:xfrm xmlns:a="http://schemas.openxmlformats.org/drawingml/2006/main">
            <a:off x="4076700" y="2095500"/>
            <a:ext cx="2857500" cy="76200"/>
          </a:xfrm>
          <a:prstGeom xmlns:a="http://schemas.openxmlformats.org/drawingml/2006/main" prst="rect">
            <a:avLst/>
          </a:prstGeom>
          <a:solidFill xmlns:a="http://schemas.openxmlformats.org/drawingml/2006/main">
            <a:srgbClr val="142F4C"/>
          </a:solidFill>
          <a:ln xmlns:a="http://schemas.openxmlformats.org/drawingml/2006/main" w="0">
            <a:solidFill>
              <a:srgbClr val="142F4C"/>
            </a:solidFill>
            <a:prstDash val="solid"/>
          </a:ln>
        </p:spPr>
      </p:sp>
      <p:sp>
        <p:nvSpPr>
          <p:cNvPr id="18" name="">
            <a:extLst xmlns:a="http://schemas.openxmlformats.org/drawingml/2006/main">
              <a:ext uri="{FF2B5EF4-FFF2-40B4-BE49-F238E27FC236}">
                <a16:creationId xmlns:a16="http://schemas.microsoft.com/office/drawing/2014/main" id="{E7CEA54E-F15B-4A91-8C76-871E3859C4E3}"/>
              </a:ext>
            </a:extLst>
          </p:cNvPr>
          <p:cNvSpPr>
            <a:spLocks xmlns:a="http://schemas.openxmlformats.org/drawingml/2006/main" noGrp="1"/>
          </p:cNvSpPr>
          <p:nvPr/>
        </p:nvSpPr>
        <p:spPr>
          <a:xfrm xmlns:a="http://schemas.openxmlformats.org/drawingml/2006/main">
            <a:off x="42862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60 days</a:t>
            </a:r>
          </a:p>
        </p:txBody>
      </p:sp>
      <p:sp>
        <p:nvSpPr>
          <p:cNvPr id="19" name="">
            <a:extLst xmlns:a="http://schemas.openxmlformats.org/drawingml/2006/main">
              <a:ext uri="{FF2B5EF4-FFF2-40B4-BE49-F238E27FC236}">
                <a16:creationId xmlns:a16="http://schemas.microsoft.com/office/drawing/2014/main" id="{B116BE9A-6182-4D1B-997F-ED3BA8FBEFB4}"/>
              </a:ext>
            </a:extLst>
          </p:cNvPr>
          <p:cNvSpPr>
            <a:spLocks xmlns:a="http://schemas.openxmlformats.org/drawingml/2006/main" noGrp="1"/>
          </p:cNvSpPr>
          <p:nvPr/>
        </p:nvSpPr>
        <p:spPr>
          <a:xfrm xmlns:a="http://schemas.openxmlformats.org/drawingml/2006/main">
            <a:off x="42862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0" name="">
            <a:extLst xmlns:a="http://schemas.openxmlformats.org/drawingml/2006/main">
              <a:ext uri="{FF2B5EF4-FFF2-40B4-BE49-F238E27FC236}">
                <a16:creationId xmlns:a16="http://schemas.microsoft.com/office/drawing/2014/main" id="{679C228D-234E-46FC-99A2-4FD1D420B370}"/>
              </a:ext>
            </a:extLst>
          </p:cNvPr>
          <p:cNvSpPr>
            <a:spLocks xmlns:a="http://schemas.openxmlformats.org/drawingml/2006/main" noGrp="1"/>
          </p:cNvSpPr>
          <p:nvPr/>
        </p:nvSpPr>
        <p:spPr>
          <a:xfrm xmlns:a="http://schemas.openxmlformats.org/drawingml/2006/main">
            <a:off x="45148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IT Security maintains a complete privileged-account register, links each human and service account to an owner and approved…</a:t>
            </a:r>
          </a:p>
        </p:txBody>
      </p:sp>
      <p:sp>
        <p:nvSpPr>
          <p:cNvPr id="21" name="">
            <a:extLst xmlns:a="http://schemas.openxmlformats.org/drawingml/2006/main">
              <a:ext uri="{FF2B5EF4-FFF2-40B4-BE49-F238E27FC236}">
                <a16:creationId xmlns:a16="http://schemas.microsoft.com/office/drawing/2014/main" id="{52367B0B-0C2B-4277-B2E8-E24E54F20CBC}"/>
              </a:ext>
            </a:extLst>
          </p:cNvPr>
          <p:cNvSpPr>
            <a:spLocks xmlns:a="http://schemas.openxmlformats.org/drawingml/2006/main" noGrp="1"/>
          </p:cNvSpPr>
          <p:nvPr/>
        </p:nvSpPr>
        <p:spPr>
          <a:xfrm xmlns:a="http://schemas.openxmlformats.org/drawingml/2006/main">
            <a:off x="4286250" y="35814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2" name="">
            <a:extLst xmlns:a="http://schemas.openxmlformats.org/drawingml/2006/main">
              <a:ext uri="{FF2B5EF4-FFF2-40B4-BE49-F238E27FC236}">
                <a16:creationId xmlns:a16="http://schemas.microsoft.com/office/drawing/2014/main" id="{EFD5953F-245E-4C50-A99C-15D93A2CBBDA}"/>
              </a:ext>
            </a:extLst>
          </p:cNvPr>
          <p:cNvSpPr>
            <a:spLocks xmlns:a="http://schemas.openxmlformats.org/drawingml/2006/main" noGrp="1"/>
          </p:cNvSpPr>
          <p:nvPr/>
        </p:nvSpPr>
        <p:spPr>
          <a:xfrm xmlns:a="http://schemas.openxmlformats.org/drawingml/2006/main">
            <a:off x="4514850" y="35052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The process owner must define the risk points requiring verification — customer or beneficiary enrolment, employee onboarding, supplier…</a:t>
            </a:r>
          </a:p>
        </p:txBody>
      </p:sp>
      <p:sp>
        <p:nvSpPr>
          <p:cNvPr id="23" name="">
            <a:extLst xmlns:a="http://schemas.openxmlformats.org/drawingml/2006/main">
              <a:ext uri="{FF2B5EF4-FFF2-40B4-BE49-F238E27FC236}">
                <a16:creationId xmlns:a16="http://schemas.microsoft.com/office/drawing/2014/main" id="{C4E172BB-59CE-4F90-B60E-732297559F97}"/>
              </a:ext>
            </a:extLst>
          </p:cNvPr>
          <p:cNvSpPr>
            <a:spLocks xmlns:a="http://schemas.openxmlformats.org/drawingml/2006/main" noGrp="1"/>
          </p:cNvSpPr>
          <p:nvPr/>
        </p:nvSpPr>
        <p:spPr>
          <a:xfrm xmlns:a="http://schemas.openxmlformats.org/drawingml/2006/main">
            <a:off x="4286250" y="42291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4" name="">
            <a:extLst xmlns:a="http://schemas.openxmlformats.org/drawingml/2006/main">
              <a:ext uri="{FF2B5EF4-FFF2-40B4-BE49-F238E27FC236}">
                <a16:creationId xmlns:a16="http://schemas.microsoft.com/office/drawing/2014/main" id="{921420B6-4F90-4A33-AEDC-FD2678EB6BD3}"/>
              </a:ext>
            </a:extLst>
          </p:cNvPr>
          <p:cNvSpPr>
            <a:spLocks xmlns:a="http://schemas.openxmlformats.org/drawingml/2006/main" noGrp="1"/>
          </p:cNvSpPr>
          <p:nvPr/>
        </p:nvSpPr>
        <p:spPr>
          <a:xfrm xmlns:a="http://schemas.openxmlformats.org/drawingml/2006/main">
            <a:off x="4514850" y="41529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The investigation lead opens an evidence register for every material case; trained custodians identify sources, create forensic copies…</a:t>
            </a:r>
          </a:p>
        </p:txBody>
      </p:sp>
      <p:sp>
        <p:nvSpPr>
          <p:cNvPr id="25" name="">
            <a:extLst xmlns:a="http://schemas.openxmlformats.org/drawingml/2006/main">
              <a:ext uri="{FF2B5EF4-FFF2-40B4-BE49-F238E27FC236}">
                <a16:creationId xmlns:a16="http://schemas.microsoft.com/office/drawing/2014/main" id="{B0041535-99CA-4321-8353-E1E021087FB2}"/>
              </a:ext>
            </a:extLst>
          </p:cNvPr>
          <p:cNvSpPr>
            <a:spLocks xmlns:a="http://schemas.openxmlformats.org/drawingml/2006/main" noGrp="1"/>
          </p:cNvSpPr>
          <p:nvPr/>
        </p:nvSpPr>
        <p:spPr>
          <a:xfrm xmlns:a="http://schemas.openxmlformats.org/drawingml/2006/main">
            <a:off x="7315200" y="2095500"/>
            <a:ext cx="2857500" cy="314325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D9E1E7"/>
            </a:solidFill>
            <a:prstDash val="solid"/>
          </a:ln>
        </p:spPr>
      </p:sp>
      <p:sp>
        <p:nvSpPr>
          <p:cNvPr id="26" name="">
            <a:extLst xmlns:a="http://schemas.openxmlformats.org/drawingml/2006/main">
              <a:ext uri="{FF2B5EF4-FFF2-40B4-BE49-F238E27FC236}">
                <a16:creationId xmlns:a16="http://schemas.microsoft.com/office/drawing/2014/main" id="{30391056-AD51-4433-933D-B2EE2D3D6A8E}"/>
              </a:ext>
            </a:extLst>
          </p:cNvPr>
          <p:cNvSpPr>
            <a:spLocks xmlns:a="http://schemas.openxmlformats.org/drawingml/2006/main" noGrp="1"/>
          </p:cNvSpPr>
          <p:nvPr/>
        </p:nvSpPr>
        <p:spPr>
          <a:xfrm xmlns:a="http://schemas.openxmlformats.org/drawingml/2006/main">
            <a:off x="7315200" y="2095500"/>
            <a:ext cx="2857500" cy="76200"/>
          </a:xfrm>
          <a:prstGeom xmlns:a="http://schemas.openxmlformats.org/drawingml/2006/main" prst="rect">
            <a:avLst/>
          </a:prstGeom>
          <a:solidFill xmlns:a="http://schemas.openxmlformats.org/drawingml/2006/main">
            <a:srgbClr val="1F6B4A"/>
          </a:solidFill>
          <a:ln xmlns:a="http://schemas.openxmlformats.org/drawingml/2006/main" w="0">
            <a:solidFill>
              <a:srgbClr val="142F4C"/>
            </a:solidFill>
            <a:prstDash val="solid"/>
          </a:ln>
        </p:spPr>
      </p:sp>
      <p:sp>
        <p:nvSpPr>
          <p:cNvPr id="27" name="">
            <a:extLst xmlns:a="http://schemas.openxmlformats.org/drawingml/2006/main">
              <a:ext uri="{FF2B5EF4-FFF2-40B4-BE49-F238E27FC236}">
                <a16:creationId xmlns:a16="http://schemas.microsoft.com/office/drawing/2014/main" id="{31FE62A9-7108-43CB-9124-C79B993EFA5F}"/>
              </a:ext>
            </a:extLst>
          </p:cNvPr>
          <p:cNvSpPr>
            <a:spLocks xmlns:a="http://schemas.openxmlformats.org/drawingml/2006/main" noGrp="1"/>
          </p:cNvSpPr>
          <p:nvPr/>
        </p:nvSpPr>
        <p:spPr>
          <a:xfrm xmlns:a="http://schemas.openxmlformats.org/drawingml/2006/main">
            <a:off x="7524750" y="23622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90 days</a:t>
            </a:r>
          </a:p>
        </p:txBody>
      </p:sp>
      <p:sp>
        <p:nvSpPr>
          <p:cNvPr id="28" name="">
            <a:extLst xmlns:a="http://schemas.openxmlformats.org/drawingml/2006/main">
              <a:ext uri="{FF2B5EF4-FFF2-40B4-BE49-F238E27FC236}">
                <a16:creationId xmlns:a16="http://schemas.microsoft.com/office/drawing/2014/main" id="{71DD0141-14CF-4454-A0DC-DAF3B9BBE531}"/>
              </a:ext>
            </a:extLst>
          </p:cNvPr>
          <p:cNvSpPr>
            <a:spLocks xmlns:a="http://schemas.openxmlformats.org/drawingml/2006/main" noGrp="1"/>
          </p:cNvSpPr>
          <p:nvPr/>
        </p:nvSpPr>
        <p:spPr>
          <a:xfrm xmlns:a="http://schemas.openxmlformats.org/drawingml/2006/main">
            <a:off x="7524750" y="29337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29" name="">
            <a:extLst xmlns:a="http://schemas.openxmlformats.org/drawingml/2006/main">
              <a:ext uri="{FF2B5EF4-FFF2-40B4-BE49-F238E27FC236}">
                <a16:creationId xmlns:a16="http://schemas.microsoft.com/office/drawing/2014/main" id="{8E090205-21CB-47BA-BF15-439DAE3EC3DF}"/>
              </a:ext>
            </a:extLst>
          </p:cNvPr>
          <p:cNvSpPr>
            <a:spLocks xmlns:a="http://schemas.openxmlformats.org/drawingml/2006/main" noGrp="1"/>
          </p:cNvSpPr>
          <p:nvPr/>
        </p:nvSpPr>
        <p:spPr>
          <a:xfrm xmlns:a="http://schemas.openxmlformats.org/drawingml/2006/main">
            <a:off x="7753350" y="2857500"/>
            <a:ext cx="238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1A2634"/>
                </a:solidFill>
              </a:defRPr>
            </a:pPr>
            <a:r>
              <a:rPr sz="1125">
                <a:solidFill>
                  <a:srgbClr val="1A2634"/>
                </a:solidFill>
              </a:rPr>
              <a:t>No committed actions recorded for this period.</a:t>
            </a:r>
          </a:p>
        </p:txBody>
      </p:sp>
    </p:spTree>
    <p:extLst>
      <p:ext uri="{BB962C8B-B14F-4D97-AF65-F5344CB8AC3E}">
        <p14:creationId xmlns:p14="http://schemas.microsoft.com/office/powerpoint/2010/main" val="848243159"/>
      </p:ext>
    </p:extLst>
  </p:cSld>
</p:sld>
</file>

<file path=ppt/slides/slide9.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CB06C7F-AE53-4179-AF8F-5AD40E5C188D}"/>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09</a:t>
            </a:r>
          </a:p>
        </p:txBody>
      </p:sp>
      <p:sp>
        <p:nvSpPr>
          <p:cNvPr id="2" name="">
            <a:extLst xmlns:a="http://schemas.openxmlformats.org/drawingml/2006/main">
              <a:ext uri="{FF2B5EF4-FFF2-40B4-BE49-F238E27FC236}">
                <a16:creationId xmlns:a16="http://schemas.microsoft.com/office/drawing/2014/main" id="{2C2AD135-E91F-4403-A2F3-68EE24D3BEE5}"/>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Every action needs an owner, an effectiveness measure and a board checkpoint.</a:t>
            </a:r>
          </a:p>
        </p:txBody>
      </p:sp>
      <p:sp>
        <p:nvSpPr>
          <p:cNvPr id="3" name="">
            <a:extLst xmlns:a="http://schemas.openxmlformats.org/drawingml/2006/main">
              <a:ext uri="{FF2B5EF4-FFF2-40B4-BE49-F238E27FC236}">
                <a16:creationId xmlns:a16="http://schemas.microsoft.com/office/drawing/2014/main" id="{BA067062-D009-4744-8D8E-8AAFA185AFC8}"/>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Accountability is the mechanism that turns advisory judgement into operating change.</a:t>
            </a:r>
          </a:p>
        </p:txBody>
      </p:sp>
      <p:sp>
        <p:nvSpPr>
          <p:cNvPr id="4" name="">
            <a:extLst xmlns:a="http://schemas.openxmlformats.org/drawingml/2006/main">
              <a:ext uri="{FF2B5EF4-FFF2-40B4-BE49-F238E27FC236}">
                <a16:creationId xmlns:a16="http://schemas.microsoft.com/office/drawing/2014/main" id="{F7EBB1CE-E2B2-4A21-B6F3-B92BAF4E5313}"/>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03A8CC85-1E2F-4120-AA0D-C5B009509BC8}"/>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1B530D7D-E856-4D10-81DB-5F2D2228613B}"/>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09 / 10</a:t>
            </a:r>
          </a:p>
        </p:txBody>
      </p:sp>
      <p:sp>
        <p:nvSpPr>
          <p:cNvPr id="7" name="">
            <a:extLst xmlns:a="http://schemas.openxmlformats.org/drawingml/2006/main">
              <a:ext uri="{FF2B5EF4-FFF2-40B4-BE49-F238E27FC236}">
                <a16:creationId xmlns:a16="http://schemas.microsoft.com/office/drawing/2014/main" id="{5D03A3F7-C3C9-4AAF-B3C2-EE60B53F69E8}"/>
              </a:ext>
            </a:extLst>
          </p:cNvPr>
          <p:cNvSpPr>
            <a:spLocks xmlns:a="http://schemas.openxmlformats.org/drawingml/2006/main" noGrp="1"/>
          </p:cNvSpPr>
          <p:nvPr/>
        </p:nvSpPr>
        <p:spPr>
          <a:xfrm xmlns:a="http://schemas.openxmlformats.org/drawingml/2006/main">
            <a:off x="838200" y="24955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8" name="">
            <a:extLst xmlns:a="http://schemas.openxmlformats.org/drawingml/2006/main">
              <a:ext uri="{FF2B5EF4-FFF2-40B4-BE49-F238E27FC236}">
                <a16:creationId xmlns:a16="http://schemas.microsoft.com/office/drawing/2014/main" id="{6D3E66EB-DB1F-4CE8-A8C6-80748E2D2C9F}"/>
              </a:ext>
            </a:extLst>
          </p:cNvPr>
          <p:cNvSpPr>
            <a:spLocks xmlns:a="http://schemas.openxmlformats.org/drawingml/2006/main" noGrp="1"/>
          </p:cNvSpPr>
          <p:nvPr/>
        </p:nvSpPr>
        <p:spPr>
          <a:xfrm xmlns:a="http://schemas.openxmlformats.org/drawingml/2006/main">
            <a:off x="838200" y="19812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142F4C"/>
                </a:solidFill>
              </a:defRPr>
            </a:pPr>
            <a:r>
              <a:rPr sz="1125" b="1">
                <a:solidFill>
                  <a:srgbClr val="142F4C"/>
                </a:solidFill>
              </a:rPr>
              <a:t>The CEO and audit-committee chair must approve a RACI that assigns control operation to management and risk owners,…</a:t>
            </a:r>
          </a:p>
        </p:txBody>
      </p:sp>
      <p:sp>
        <p:nvSpPr>
          <p:cNvPr id="9" name="">
            <a:extLst xmlns:a="http://schemas.openxmlformats.org/drawingml/2006/main">
              <a:ext uri="{FF2B5EF4-FFF2-40B4-BE49-F238E27FC236}">
                <a16:creationId xmlns:a16="http://schemas.microsoft.com/office/drawing/2014/main" id="{66CAD25F-E18C-4E4D-899F-66DDABE0AFC3}"/>
              </a:ext>
            </a:extLst>
          </p:cNvPr>
          <p:cNvSpPr>
            <a:spLocks xmlns:a="http://schemas.openxmlformats.org/drawingml/2006/main" noGrp="1"/>
          </p:cNvSpPr>
          <p:nvPr/>
        </p:nvSpPr>
        <p:spPr>
          <a:xfrm xmlns:a="http://schemas.openxmlformats.org/drawingml/2006/main">
            <a:off x="4286250" y="19812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CEO / Managing Director</a:t>
            </a:r>
          </a:p>
        </p:txBody>
      </p:sp>
      <p:sp>
        <p:nvSpPr>
          <p:cNvPr id="10" name="">
            <a:extLst xmlns:a="http://schemas.openxmlformats.org/drawingml/2006/main">
              <a:ext uri="{FF2B5EF4-FFF2-40B4-BE49-F238E27FC236}">
                <a16:creationId xmlns:a16="http://schemas.microsoft.com/office/drawing/2014/main" id="{FBD5D5C5-055E-4451-B665-59FDD396A3F4}"/>
              </a:ext>
            </a:extLst>
          </p:cNvPr>
          <p:cNvSpPr>
            <a:spLocks xmlns:a="http://schemas.openxmlformats.org/drawingml/2006/main" noGrp="1"/>
          </p:cNvSpPr>
          <p:nvPr/>
        </p:nvSpPr>
        <p:spPr>
          <a:xfrm xmlns:a="http://schemas.openxmlformats.org/drawingml/2006/main">
            <a:off x="6334125" y="19812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11" name="">
            <a:extLst xmlns:a="http://schemas.openxmlformats.org/drawingml/2006/main">
              <a:ext uri="{FF2B5EF4-FFF2-40B4-BE49-F238E27FC236}">
                <a16:creationId xmlns:a16="http://schemas.microsoft.com/office/drawing/2014/main" id="{F53E1B1F-02ED-4D3F-8595-0ED1B1CBF99E}"/>
              </a:ext>
            </a:extLst>
          </p:cNvPr>
          <p:cNvSpPr>
            <a:spLocks xmlns:a="http://schemas.openxmlformats.org/drawingml/2006/main" noGrp="1"/>
          </p:cNvSpPr>
          <p:nvPr/>
        </p:nvSpPr>
        <p:spPr>
          <a:xfrm xmlns:a="http://schemas.openxmlformats.org/drawingml/2006/main">
            <a:off x="7524750" y="19812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No key fraud control is both operated and independently certified by the same accountable function.</a:t>
            </a:r>
          </a:p>
        </p:txBody>
      </p:sp>
      <p:sp>
        <p:nvSpPr>
          <p:cNvPr id="12" name="">
            <a:extLst xmlns:a="http://schemas.openxmlformats.org/drawingml/2006/main">
              <a:ext uri="{FF2B5EF4-FFF2-40B4-BE49-F238E27FC236}">
                <a16:creationId xmlns:a16="http://schemas.microsoft.com/office/drawing/2014/main" id="{5D02D7F3-2843-487C-BAC7-0C814B697E9F}"/>
              </a:ext>
            </a:extLst>
          </p:cNvPr>
          <p:cNvSpPr>
            <a:spLocks xmlns:a="http://schemas.openxmlformats.org/drawingml/2006/main" noGrp="1"/>
          </p:cNvSpPr>
          <p:nvPr/>
        </p:nvSpPr>
        <p:spPr>
          <a:xfrm xmlns:a="http://schemas.openxmlformats.org/drawingml/2006/main">
            <a:off x="838200" y="31813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13" name="">
            <a:extLst xmlns:a="http://schemas.openxmlformats.org/drawingml/2006/main">
              <a:ext uri="{FF2B5EF4-FFF2-40B4-BE49-F238E27FC236}">
                <a16:creationId xmlns:a16="http://schemas.microsoft.com/office/drawing/2014/main" id="{A69A52C4-64BC-4A85-AC7B-CB570A5B4F92}"/>
              </a:ext>
            </a:extLst>
          </p:cNvPr>
          <p:cNvSpPr>
            <a:spLocks xmlns:a="http://schemas.openxmlformats.org/drawingml/2006/main" noGrp="1"/>
          </p:cNvSpPr>
          <p:nvPr/>
        </p:nvSpPr>
        <p:spPr>
          <a:xfrm xmlns:a="http://schemas.openxmlformats.org/drawingml/2006/main">
            <a:off x="838200" y="26670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142F4C"/>
                </a:solidFill>
              </a:defRPr>
            </a:pPr>
            <a:r>
              <a:rPr sz="1125" b="1">
                <a:solidFill>
                  <a:srgbClr val="142F4C"/>
                </a:solidFill>
              </a:rPr>
              <a:t>The Head of Risk must publish escalation criteria defining what must be escalated, to whom and within what…</a:t>
            </a:r>
          </a:p>
        </p:txBody>
      </p:sp>
      <p:sp>
        <p:nvSpPr>
          <p:cNvPr id="14" name="">
            <a:extLst xmlns:a="http://schemas.openxmlformats.org/drawingml/2006/main">
              <a:ext uri="{FF2B5EF4-FFF2-40B4-BE49-F238E27FC236}">
                <a16:creationId xmlns:a16="http://schemas.microsoft.com/office/drawing/2014/main" id="{77830D5C-01AE-4238-86BC-D10C69BDD107}"/>
              </a:ext>
            </a:extLst>
          </p:cNvPr>
          <p:cNvSpPr>
            <a:spLocks xmlns:a="http://schemas.openxmlformats.org/drawingml/2006/main" noGrp="1"/>
          </p:cNvSpPr>
          <p:nvPr/>
        </p:nvSpPr>
        <p:spPr>
          <a:xfrm xmlns:a="http://schemas.openxmlformats.org/drawingml/2006/main">
            <a:off x="4286250" y="26670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Head of Risk</a:t>
            </a:r>
          </a:p>
        </p:txBody>
      </p:sp>
      <p:sp>
        <p:nvSpPr>
          <p:cNvPr id="15" name="">
            <a:extLst xmlns:a="http://schemas.openxmlformats.org/drawingml/2006/main">
              <a:ext uri="{FF2B5EF4-FFF2-40B4-BE49-F238E27FC236}">
                <a16:creationId xmlns:a16="http://schemas.microsoft.com/office/drawing/2014/main" id="{0FAB5083-352F-4361-88CB-7C51DD5FAFDB}"/>
              </a:ext>
            </a:extLst>
          </p:cNvPr>
          <p:cNvSpPr>
            <a:spLocks xmlns:a="http://schemas.openxmlformats.org/drawingml/2006/main" noGrp="1"/>
          </p:cNvSpPr>
          <p:nvPr/>
        </p:nvSpPr>
        <p:spPr>
          <a:xfrm xmlns:a="http://schemas.openxmlformats.org/drawingml/2006/main">
            <a:off x="6334125" y="26670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16" name="">
            <a:extLst xmlns:a="http://schemas.openxmlformats.org/drawingml/2006/main">
              <a:ext uri="{FF2B5EF4-FFF2-40B4-BE49-F238E27FC236}">
                <a16:creationId xmlns:a16="http://schemas.microsoft.com/office/drawing/2014/main" id="{75C6D59A-D8BC-413B-8CE9-F746F10B4B38}"/>
              </a:ext>
            </a:extLst>
          </p:cNvPr>
          <p:cNvSpPr>
            <a:spLocks xmlns:a="http://schemas.openxmlformats.org/drawingml/2006/main" noGrp="1"/>
          </p:cNvSpPr>
          <p:nvPr/>
        </p:nvSpPr>
        <p:spPr>
          <a:xfrm xmlns:a="http://schemas.openxmlformats.org/drawingml/2006/main">
            <a:off x="7524750" y="26670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of qualifying matters escalated within the stated timeframe, with an available conflict-free route.</a:t>
            </a:r>
          </a:p>
        </p:txBody>
      </p:sp>
      <p:sp>
        <p:nvSpPr>
          <p:cNvPr id="17" name="">
            <a:extLst xmlns:a="http://schemas.openxmlformats.org/drawingml/2006/main">
              <a:ext uri="{FF2B5EF4-FFF2-40B4-BE49-F238E27FC236}">
                <a16:creationId xmlns:a16="http://schemas.microsoft.com/office/drawing/2014/main" id="{F2914561-6543-46C3-9E55-250911ECB782}"/>
              </a:ext>
            </a:extLst>
          </p:cNvPr>
          <p:cNvSpPr>
            <a:spLocks xmlns:a="http://schemas.openxmlformats.org/drawingml/2006/main" noGrp="1"/>
          </p:cNvSpPr>
          <p:nvPr/>
        </p:nvSpPr>
        <p:spPr>
          <a:xfrm xmlns:a="http://schemas.openxmlformats.org/drawingml/2006/main">
            <a:off x="838200" y="38671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18" name="">
            <a:extLst xmlns:a="http://schemas.openxmlformats.org/drawingml/2006/main">
              <a:ext uri="{FF2B5EF4-FFF2-40B4-BE49-F238E27FC236}">
                <a16:creationId xmlns:a16="http://schemas.microsoft.com/office/drawing/2014/main" id="{C444C08E-B10B-43FE-9C88-8640E2464154}"/>
              </a:ext>
            </a:extLst>
          </p:cNvPr>
          <p:cNvSpPr>
            <a:spLocks xmlns:a="http://schemas.openxmlformats.org/drawingml/2006/main" noGrp="1"/>
          </p:cNvSpPr>
          <p:nvPr/>
        </p:nvSpPr>
        <p:spPr>
          <a:xfrm xmlns:a="http://schemas.openxmlformats.org/drawingml/2006/main">
            <a:off x="838200" y="33528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142F4C"/>
                </a:solidFill>
              </a:defRPr>
            </a:pPr>
            <a:r>
              <a:rPr sz="1125" b="1">
                <a:solidFill>
                  <a:srgbClr val="142F4C"/>
                </a:solidFill>
              </a:rPr>
              <a:t>The ethics owner must publish reporting routes in plain language across the channels the workforce actually uses —…</a:t>
            </a:r>
          </a:p>
        </p:txBody>
      </p:sp>
      <p:sp>
        <p:nvSpPr>
          <p:cNvPr id="19" name="">
            <a:extLst xmlns:a="http://schemas.openxmlformats.org/drawingml/2006/main">
              <a:ext uri="{FF2B5EF4-FFF2-40B4-BE49-F238E27FC236}">
                <a16:creationId xmlns:a16="http://schemas.microsoft.com/office/drawing/2014/main" id="{D68F3431-CD54-431A-9A8E-B7B537B6BBD3}"/>
              </a:ext>
            </a:extLst>
          </p:cNvPr>
          <p:cNvSpPr>
            <a:spLocks xmlns:a="http://schemas.openxmlformats.org/drawingml/2006/main" noGrp="1"/>
          </p:cNvSpPr>
          <p:nvPr/>
        </p:nvSpPr>
        <p:spPr>
          <a:xfrm xmlns:a="http://schemas.openxmlformats.org/drawingml/2006/main">
            <a:off x="4286250" y="33528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Chief People Officer / COO</a:t>
            </a:r>
          </a:p>
        </p:txBody>
      </p:sp>
      <p:sp>
        <p:nvSpPr>
          <p:cNvPr id="20" name="">
            <a:extLst xmlns:a="http://schemas.openxmlformats.org/drawingml/2006/main">
              <a:ext uri="{FF2B5EF4-FFF2-40B4-BE49-F238E27FC236}">
                <a16:creationId xmlns:a16="http://schemas.microsoft.com/office/drawing/2014/main" id="{AAA21641-3A4E-4D4F-A9DF-901B7286C26E}"/>
              </a:ext>
            </a:extLst>
          </p:cNvPr>
          <p:cNvSpPr>
            <a:spLocks xmlns:a="http://schemas.openxmlformats.org/drawingml/2006/main" noGrp="1"/>
          </p:cNvSpPr>
          <p:nvPr/>
        </p:nvSpPr>
        <p:spPr>
          <a:xfrm xmlns:a="http://schemas.openxmlformats.org/drawingml/2006/main">
            <a:off x="6334125" y="33528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30 days</a:t>
            </a:r>
          </a:p>
        </p:txBody>
      </p:sp>
      <p:sp>
        <p:nvSpPr>
          <p:cNvPr id="21" name="">
            <a:extLst xmlns:a="http://schemas.openxmlformats.org/drawingml/2006/main">
              <a:ext uri="{FF2B5EF4-FFF2-40B4-BE49-F238E27FC236}">
                <a16:creationId xmlns:a16="http://schemas.microsoft.com/office/drawing/2014/main" id="{40255283-7B82-4A2C-90C4-FC6A01863F7C}"/>
              </a:ext>
            </a:extLst>
          </p:cNvPr>
          <p:cNvSpPr>
            <a:spLocks xmlns:a="http://schemas.openxmlformats.org/drawingml/2006/main" noGrp="1"/>
          </p:cNvSpPr>
          <p:nvPr/>
        </p:nvSpPr>
        <p:spPr>
          <a:xfrm xmlns:a="http://schemas.openxmlformats.org/drawingml/2006/main">
            <a:off x="7524750" y="33528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At least 90% of surveyed staff can correctly identify a fraud reporting route, across all sites and worker types.</a:t>
            </a:r>
          </a:p>
        </p:txBody>
      </p:sp>
      <p:sp>
        <p:nvSpPr>
          <p:cNvPr id="22" name="">
            <a:extLst xmlns:a="http://schemas.openxmlformats.org/drawingml/2006/main">
              <a:ext uri="{FF2B5EF4-FFF2-40B4-BE49-F238E27FC236}">
                <a16:creationId xmlns:a16="http://schemas.microsoft.com/office/drawing/2014/main" id="{900AB3D5-A7B4-41AB-A4DD-5B237E864958}"/>
              </a:ext>
            </a:extLst>
          </p:cNvPr>
          <p:cNvSpPr>
            <a:spLocks xmlns:a="http://schemas.openxmlformats.org/drawingml/2006/main" noGrp="1"/>
          </p:cNvSpPr>
          <p:nvPr/>
        </p:nvSpPr>
        <p:spPr>
          <a:xfrm xmlns:a="http://schemas.openxmlformats.org/drawingml/2006/main">
            <a:off x="838200" y="45529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23" name="">
            <a:extLst xmlns:a="http://schemas.openxmlformats.org/drawingml/2006/main">
              <a:ext uri="{FF2B5EF4-FFF2-40B4-BE49-F238E27FC236}">
                <a16:creationId xmlns:a16="http://schemas.microsoft.com/office/drawing/2014/main" id="{43512A6F-F800-461A-A17E-C19EB91DEBEA}"/>
              </a:ext>
            </a:extLst>
          </p:cNvPr>
          <p:cNvSpPr>
            <a:spLocks xmlns:a="http://schemas.openxmlformats.org/drawingml/2006/main" noGrp="1"/>
          </p:cNvSpPr>
          <p:nvPr/>
        </p:nvSpPr>
        <p:spPr>
          <a:xfrm xmlns:a="http://schemas.openxmlformats.org/drawingml/2006/main">
            <a:off x="838200" y="40386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142F4C"/>
                </a:solidFill>
              </a:defRPr>
            </a:pPr>
            <a:r>
              <a:rPr sz="1125" b="1">
                <a:solidFill>
                  <a:srgbClr val="142F4C"/>
                </a:solidFill>
              </a:rPr>
              <a:t>IT Security maintains a complete privileged-account register, links each human and service account to an owner and approved…</a:t>
            </a:r>
          </a:p>
        </p:txBody>
      </p:sp>
      <p:sp>
        <p:nvSpPr>
          <p:cNvPr id="24" name="">
            <a:extLst xmlns:a="http://schemas.openxmlformats.org/drawingml/2006/main">
              <a:ext uri="{FF2B5EF4-FFF2-40B4-BE49-F238E27FC236}">
                <a16:creationId xmlns:a16="http://schemas.microsoft.com/office/drawing/2014/main" id="{FB817DC7-F2CA-48BC-9DC0-A04E08E86F6C}"/>
              </a:ext>
            </a:extLst>
          </p:cNvPr>
          <p:cNvSpPr>
            <a:spLocks xmlns:a="http://schemas.openxmlformats.org/drawingml/2006/main" noGrp="1"/>
          </p:cNvSpPr>
          <p:nvPr/>
        </p:nvSpPr>
        <p:spPr>
          <a:xfrm xmlns:a="http://schemas.openxmlformats.org/drawingml/2006/main">
            <a:off x="4286250" y="40386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Chief Technology Officer</a:t>
            </a:r>
          </a:p>
        </p:txBody>
      </p:sp>
      <p:sp>
        <p:nvSpPr>
          <p:cNvPr id="25" name="">
            <a:extLst xmlns:a="http://schemas.openxmlformats.org/drawingml/2006/main">
              <a:ext uri="{FF2B5EF4-FFF2-40B4-BE49-F238E27FC236}">
                <a16:creationId xmlns:a16="http://schemas.microsoft.com/office/drawing/2014/main" id="{87C0F565-2266-442E-BB94-C39C725A930F}"/>
              </a:ext>
            </a:extLst>
          </p:cNvPr>
          <p:cNvSpPr>
            <a:spLocks xmlns:a="http://schemas.openxmlformats.org/drawingml/2006/main" noGrp="1"/>
          </p:cNvSpPr>
          <p:nvPr/>
        </p:nvSpPr>
        <p:spPr>
          <a:xfrm xmlns:a="http://schemas.openxmlformats.org/drawingml/2006/main">
            <a:off x="6334125" y="40386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60 days</a:t>
            </a:r>
          </a:p>
        </p:txBody>
      </p:sp>
      <p:sp>
        <p:nvSpPr>
          <p:cNvPr id="26" name="">
            <a:extLst xmlns:a="http://schemas.openxmlformats.org/drawingml/2006/main">
              <a:ext uri="{FF2B5EF4-FFF2-40B4-BE49-F238E27FC236}">
                <a16:creationId xmlns:a16="http://schemas.microsoft.com/office/drawing/2014/main" id="{0FBA4822-FFAA-43AE-B449-43CA658E4C85}"/>
              </a:ext>
            </a:extLst>
          </p:cNvPr>
          <p:cNvSpPr>
            <a:spLocks xmlns:a="http://schemas.openxmlformats.org/drawingml/2006/main" noGrp="1"/>
          </p:cNvSpPr>
          <p:nvPr/>
        </p:nvSpPr>
        <p:spPr>
          <a:xfrm xmlns:a="http://schemas.openxmlformats.org/drawingml/2006/main">
            <a:off x="7524750" y="4038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privileged accounts recertified quarterly; leaver access removed within 24 hours; zero unjustified shared admin accounts.</a:t>
            </a:r>
          </a:p>
        </p:txBody>
      </p:sp>
      <p:sp>
        <p:nvSpPr>
          <p:cNvPr id="27" name="">
            <a:extLst xmlns:a="http://schemas.openxmlformats.org/drawingml/2006/main">
              <a:ext uri="{FF2B5EF4-FFF2-40B4-BE49-F238E27FC236}">
                <a16:creationId xmlns:a16="http://schemas.microsoft.com/office/drawing/2014/main" id="{78A9E94D-6FA5-43D6-937D-973955C06048}"/>
              </a:ext>
            </a:extLst>
          </p:cNvPr>
          <p:cNvSpPr>
            <a:spLocks xmlns:a="http://schemas.openxmlformats.org/drawingml/2006/main" noGrp="1"/>
          </p:cNvSpPr>
          <p:nvPr/>
        </p:nvSpPr>
        <p:spPr>
          <a:xfrm xmlns:a="http://schemas.openxmlformats.org/drawingml/2006/main">
            <a:off x="838200" y="5238750"/>
            <a:ext cx="95250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28" name="">
            <a:extLst xmlns:a="http://schemas.openxmlformats.org/drawingml/2006/main">
              <a:ext uri="{FF2B5EF4-FFF2-40B4-BE49-F238E27FC236}">
                <a16:creationId xmlns:a16="http://schemas.microsoft.com/office/drawing/2014/main" id="{B0DD2FEA-80F0-4796-B2F0-E7601C02EBA5}"/>
              </a:ext>
            </a:extLst>
          </p:cNvPr>
          <p:cNvSpPr>
            <a:spLocks xmlns:a="http://schemas.openxmlformats.org/drawingml/2006/main" noGrp="1"/>
          </p:cNvSpPr>
          <p:nvPr/>
        </p:nvSpPr>
        <p:spPr>
          <a:xfrm xmlns:a="http://schemas.openxmlformats.org/drawingml/2006/main">
            <a:off x="838200" y="4724400"/>
            <a:ext cx="3238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b="1">
                <a:solidFill>
                  <a:srgbClr val="142F4C"/>
                </a:solidFill>
              </a:defRPr>
            </a:pPr>
            <a:r>
              <a:rPr sz="1125" b="1">
                <a:solidFill>
                  <a:srgbClr val="142F4C"/>
                </a:solidFill>
              </a:rPr>
              <a:t>The process owner must define the risk points requiring verification — customer or beneficiary enrolment, employee onboarding, supplier…</a:t>
            </a:r>
          </a:p>
        </p:txBody>
      </p:sp>
      <p:sp>
        <p:nvSpPr>
          <p:cNvPr id="29" name="">
            <a:extLst xmlns:a="http://schemas.openxmlformats.org/drawingml/2006/main">
              <a:ext uri="{FF2B5EF4-FFF2-40B4-BE49-F238E27FC236}">
                <a16:creationId xmlns:a16="http://schemas.microsoft.com/office/drawing/2014/main" id="{1D429046-1F89-49E0-BEFD-03F32EF8A607}"/>
              </a:ext>
            </a:extLst>
          </p:cNvPr>
          <p:cNvSpPr>
            <a:spLocks xmlns:a="http://schemas.openxmlformats.org/drawingml/2006/main" noGrp="1"/>
          </p:cNvSpPr>
          <p:nvPr/>
        </p:nvSpPr>
        <p:spPr>
          <a:xfrm xmlns:a="http://schemas.openxmlformats.org/drawingml/2006/main">
            <a:off x="428625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a:solidFill>
                  <a:srgbClr val="1A2634"/>
                </a:solidFill>
              </a:defRPr>
            </a:pPr>
            <a:r>
              <a:rPr sz="1200">
                <a:solidFill>
                  <a:srgbClr val="1A2634"/>
                </a:solidFill>
              </a:rPr>
              <a:t>COO / CFO</a:t>
            </a:r>
          </a:p>
        </p:txBody>
      </p:sp>
      <p:sp>
        <p:nvSpPr>
          <p:cNvPr id="30" name="">
            <a:extLst xmlns:a="http://schemas.openxmlformats.org/drawingml/2006/main">
              <a:ext uri="{FF2B5EF4-FFF2-40B4-BE49-F238E27FC236}">
                <a16:creationId xmlns:a16="http://schemas.microsoft.com/office/drawing/2014/main" id="{6448FC2C-D3DD-4F33-BAE2-A30E1502D11F}"/>
              </a:ext>
            </a:extLst>
          </p:cNvPr>
          <p:cNvSpPr>
            <a:spLocks xmlns:a="http://schemas.openxmlformats.org/drawingml/2006/main" noGrp="1"/>
          </p:cNvSpPr>
          <p:nvPr/>
        </p:nvSpPr>
        <p:spPr>
          <a:xfrm xmlns:a="http://schemas.openxmlformats.org/drawingml/2006/main">
            <a:off x="6334125" y="4724400"/>
            <a:ext cx="95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200" b="1">
                <a:solidFill>
                  <a:srgbClr val="C9A227"/>
                </a:solidFill>
              </a:defRPr>
            </a:pPr>
            <a:r>
              <a:rPr sz="1200" b="1">
                <a:solidFill>
                  <a:srgbClr val="C9A227"/>
                </a:solidFill>
              </a:rPr>
              <a:t>60 days</a:t>
            </a:r>
          </a:p>
        </p:txBody>
      </p:sp>
      <p:sp>
        <p:nvSpPr>
          <p:cNvPr id="31" name="">
            <a:extLst xmlns:a="http://schemas.openxmlformats.org/drawingml/2006/main">
              <a:ext uri="{FF2B5EF4-FFF2-40B4-BE49-F238E27FC236}">
                <a16:creationId xmlns:a16="http://schemas.microsoft.com/office/drawing/2014/main" id="{AA0518EE-BC2D-40C6-B1FC-D1B7B8A59DD9}"/>
              </a:ext>
            </a:extLst>
          </p:cNvPr>
          <p:cNvSpPr>
            <a:spLocks xmlns:a="http://schemas.openxmlformats.org/drawingml/2006/main" noGrp="1"/>
          </p:cNvSpPr>
          <p:nvPr/>
        </p:nvSpPr>
        <p:spPr>
          <a:xfrm xmlns:a="http://schemas.openxmlformats.org/drawingml/2006/main">
            <a:off x="7524750" y="47244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125">
                <a:solidFill>
                  <a:srgbClr val="5A6B7C"/>
                </a:solidFill>
              </a:defRPr>
            </a:pPr>
            <a:r>
              <a:rPr sz="1125">
                <a:solidFill>
                  <a:srgbClr val="5A6B7C"/>
                </a:solidFill>
              </a:rPr>
              <a:t>100% of in-scope enrolments and activations carry completed verification before activation, with all exceptions approved.</a:t>
            </a:r>
          </a:p>
        </p:txBody>
      </p:sp>
      <p:sp>
        <p:nvSpPr>
          <p:cNvPr id="32" name="">
            <a:extLst xmlns:a="http://schemas.openxmlformats.org/drawingml/2006/main">
              <a:ext uri="{FF2B5EF4-FFF2-40B4-BE49-F238E27FC236}">
                <a16:creationId xmlns:a16="http://schemas.microsoft.com/office/drawing/2014/main" id="{0F0D4435-3579-4E27-A34E-4498192D4269}"/>
              </a:ext>
            </a:extLst>
          </p:cNvPr>
          <p:cNvSpPr>
            <a:spLocks xmlns:a="http://schemas.openxmlformats.org/drawingml/2006/main" noGrp="1"/>
          </p:cNvSpPr>
          <p:nvPr/>
        </p:nvSpPr>
        <p:spPr>
          <a:xfrm xmlns:a="http://schemas.openxmlformats.org/drawingml/2006/main">
            <a:off x="4286250" y="16954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Owner</a:t>
            </a:r>
          </a:p>
        </p:txBody>
      </p:sp>
      <p:sp>
        <p:nvSpPr>
          <p:cNvPr id="33" name="">
            <a:extLst xmlns:a="http://schemas.openxmlformats.org/drawingml/2006/main">
              <a:ext uri="{FF2B5EF4-FFF2-40B4-BE49-F238E27FC236}">
                <a16:creationId xmlns:a16="http://schemas.microsoft.com/office/drawing/2014/main" id="{C06A8CAB-B792-4B74-B53E-6A7F108A6D88}"/>
              </a:ext>
            </a:extLst>
          </p:cNvPr>
          <p:cNvSpPr>
            <a:spLocks xmlns:a="http://schemas.openxmlformats.org/drawingml/2006/main" noGrp="1"/>
          </p:cNvSpPr>
          <p:nvPr/>
        </p:nvSpPr>
        <p:spPr>
          <a:xfrm xmlns:a="http://schemas.openxmlformats.org/drawingml/2006/main">
            <a:off x="6334125" y="169545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Timing</a:t>
            </a:r>
          </a:p>
        </p:txBody>
      </p:sp>
      <p:sp>
        <p:nvSpPr>
          <p:cNvPr id="34" name="">
            <a:extLst xmlns:a="http://schemas.openxmlformats.org/drawingml/2006/main">
              <a:ext uri="{FF2B5EF4-FFF2-40B4-BE49-F238E27FC236}">
                <a16:creationId xmlns:a16="http://schemas.microsoft.com/office/drawing/2014/main" id="{606DF820-A65A-41E5-8C1F-309359C85F98}"/>
              </a:ext>
            </a:extLst>
          </p:cNvPr>
          <p:cNvSpPr>
            <a:spLocks xmlns:a="http://schemas.openxmlformats.org/drawingml/2006/main" noGrp="1"/>
          </p:cNvSpPr>
          <p:nvPr/>
        </p:nvSpPr>
        <p:spPr>
          <a:xfrm xmlns:a="http://schemas.openxmlformats.org/drawingml/2006/main">
            <a:off x="7524750" y="16954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5A6B7C"/>
                </a:solidFill>
              </a:defRPr>
            </a:pPr>
            <a:r>
              <a:rPr sz="1050" b="1">
                <a:solidFill>
                  <a:srgbClr val="5A6B7C"/>
                </a:solidFill>
              </a:rPr>
              <a:t>Effectiveness measure</a:t>
            </a:r>
          </a:p>
        </p:txBody>
      </p:sp>
    </p:spTree>
    <p:extLst>
      <p:ext uri="{BB962C8B-B14F-4D97-AF65-F5344CB8AC3E}">
        <p14:creationId xmlns:p14="http://schemas.microsoft.com/office/powerpoint/2010/main" val="1312100928"/>
      </p:ext>
    </p:extLst>
  </p:cSld>
</p:sld>
</file>

<file path=ppt/slides/slide10.xml><?xml version="1.0" encoding="utf-8"?>
<p:sld xmlns:p="http://schemas.openxmlformats.org/presentationml/2006/main">
  <p:cSld>
    <p:bg>
      <p:bgPr>
        <a:solidFill xmlns:a="http://schemas.openxmlformats.org/drawingml/2006/main">
          <a:srgbClr val="FBF9F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1A54BF6-5B81-4F38-B2E8-9EEFC655D280}"/>
              </a:ext>
            </a:extLst>
          </p:cNvPr>
          <p:cNvSpPr>
            <a:spLocks xmlns:a="http://schemas.openxmlformats.org/drawingml/2006/main" noGrp="1"/>
          </p:cNvSpPr>
          <p:nvPr/>
        </p:nvSpPr>
        <p:spPr>
          <a:xfrm xmlns:a="http://schemas.openxmlformats.org/drawingml/2006/main">
            <a:off x="685800" y="4000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050" b="1">
                <a:solidFill>
                  <a:srgbClr val="C9A227"/>
                </a:solidFill>
              </a:defRPr>
            </a:pPr>
            <a:r>
              <a:rPr sz="1050" b="1">
                <a:solidFill>
                  <a:srgbClr val="C9A227"/>
                </a:solidFill>
              </a:rPr>
              <a:t>COMPREHENSIVE REVIEW · 10</a:t>
            </a:r>
          </a:p>
        </p:txBody>
      </p:sp>
      <p:sp>
        <p:nvSpPr>
          <p:cNvPr id="2" name="">
            <a:extLst xmlns:a="http://schemas.openxmlformats.org/drawingml/2006/main">
              <a:ext uri="{FF2B5EF4-FFF2-40B4-BE49-F238E27FC236}">
                <a16:creationId xmlns:a16="http://schemas.microsoft.com/office/drawing/2014/main" id="{C4CC4B3A-199C-499D-8CF5-CE99D222D245}"/>
              </a:ext>
            </a:extLst>
          </p:cNvPr>
          <p:cNvSpPr>
            <a:spLocks xmlns:a="http://schemas.openxmlformats.org/drawingml/2006/main" noGrp="1"/>
          </p:cNvSpPr>
          <p:nvPr/>
        </p:nvSpPr>
        <p:spPr>
          <a:xfrm xmlns:a="http://schemas.openxmlformats.org/drawingml/2006/main">
            <a:off x="685800" y="723900"/>
            <a:ext cx="1028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2925" b="1">
                <a:solidFill>
                  <a:srgbClr val="142F4C"/>
                </a:solidFill>
              </a:defRPr>
            </a:pPr>
            <a:r>
              <a:rPr sz="2925" b="1">
                <a:solidFill>
                  <a:srgbClr val="142F4C"/>
                </a:solidFill>
              </a:rPr>
              <a:t>Next checkpoint: review proof, measures and overdue action ageing.</a:t>
            </a:r>
          </a:p>
        </p:txBody>
      </p:sp>
      <p:sp>
        <p:nvSpPr>
          <p:cNvPr id="3" name="">
            <a:extLst xmlns:a="http://schemas.openxmlformats.org/drawingml/2006/main">
              <a:ext uri="{FF2B5EF4-FFF2-40B4-BE49-F238E27FC236}">
                <a16:creationId xmlns:a16="http://schemas.microsoft.com/office/drawing/2014/main" id="{8D0A414A-E4ED-47CA-A4FC-3075828B6AC3}"/>
              </a:ext>
            </a:extLst>
          </p:cNvPr>
          <p:cNvSpPr>
            <a:spLocks xmlns:a="http://schemas.openxmlformats.org/drawingml/2006/main" noGrp="1"/>
          </p:cNvSpPr>
          <p:nvPr/>
        </p:nvSpPr>
        <p:spPr>
          <a:xfrm xmlns:a="http://schemas.openxmlformats.org/drawingml/2006/main">
            <a:off x="685800" y="1562100"/>
            <a:ext cx="1000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5A6B7C"/>
                </a:solidFill>
              </a:defRPr>
            </a:pPr>
            <a:r>
              <a:rPr sz="1350">
                <a:solidFill>
                  <a:srgbClr val="5A6B7C"/>
                </a:solidFill>
              </a:rPr>
              <a:t>The blueprint is useful when the decision record and operating measures are maintained.</a:t>
            </a:r>
          </a:p>
        </p:txBody>
      </p:sp>
      <p:sp>
        <p:nvSpPr>
          <p:cNvPr id="4" name="">
            <a:extLst xmlns:a="http://schemas.openxmlformats.org/drawingml/2006/main">
              <a:ext uri="{FF2B5EF4-FFF2-40B4-BE49-F238E27FC236}">
                <a16:creationId xmlns:a16="http://schemas.microsoft.com/office/drawing/2014/main" id="{08BC271C-0D82-4843-A285-8BC7DCF7540B}"/>
              </a:ext>
            </a:extLst>
          </p:cNvPr>
          <p:cNvSpPr>
            <a:spLocks xmlns:a="http://schemas.openxmlformats.org/drawingml/2006/main" noGrp="1"/>
          </p:cNvSpPr>
          <p:nvPr/>
        </p:nvSpPr>
        <p:spPr>
          <a:xfrm xmlns:a="http://schemas.openxmlformats.org/drawingml/2006/main">
            <a:off x="685800" y="6324600"/>
            <a:ext cx="10820400" cy="0"/>
          </a:xfrm>
          <a:prstGeom xmlns:a="http://schemas.openxmlformats.org/drawingml/2006/main" prst="line">
            <a:avLst/>
          </a:prstGeom>
          <a:noFill xmlns:a="http://schemas.openxmlformats.org/drawingml/2006/main"/>
          <a:ln xmlns:a="http://schemas.openxmlformats.org/drawingml/2006/main" w="9525">
            <a:solidFill>
              <a:srgbClr val="D9E1E7"/>
            </a:solidFill>
            <a:prstDash val="solid"/>
          </a:ln>
        </p:spPr>
      </p:sp>
      <p:sp>
        <p:nvSpPr>
          <p:cNvPr id="5" name="">
            <a:extLst xmlns:a="http://schemas.openxmlformats.org/drawingml/2006/main">
              <a:ext uri="{FF2B5EF4-FFF2-40B4-BE49-F238E27FC236}">
                <a16:creationId xmlns:a16="http://schemas.microsoft.com/office/drawing/2014/main" id="{7AEF4226-8185-4F35-A27B-32F80CE66ECC}"/>
              </a:ext>
            </a:extLst>
          </p:cNvPr>
          <p:cNvSpPr>
            <a:spLocks xmlns:a="http://schemas.openxmlformats.org/drawingml/2006/main" noGrp="1"/>
          </p:cNvSpPr>
          <p:nvPr/>
        </p:nvSpPr>
        <p:spPr>
          <a:xfrm xmlns:a="http://schemas.openxmlformats.org/drawingml/2006/main">
            <a:off x="685800" y="643890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975">
                <a:solidFill>
                  <a:srgbClr val="5A6B7C"/>
                </a:solidFill>
              </a:defRPr>
            </a:pPr>
            <a:r>
              <a:rPr sz="975">
                <a:solidFill>
                  <a:srgbClr val="5A6B7C"/>
                </a:solidFill>
              </a:rPr>
              <a:t>MK Fraud Readiness · Comprehensive</a:t>
            </a:r>
          </a:p>
        </p:txBody>
      </p:sp>
      <p:sp>
        <p:nvSpPr>
          <p:cNvPr id="6" name="">
            <a:extLst xmlns:a="http://schemas.openxmlformats.org/drawingml/2006/main">
              <a:ext uri="{FF2B5EF4-FFF2-40B4-BE49-F238E27FC236}">
                <a16:creationId xmlns:a16="http://schemas.microsoft.com/office/drawing/2014/main" id="{3600A0F0-20B1-4E6A-BE6C-EB5ECDCA7310}"/>
              </a:ext>
            </a:extLst>
          </p:cNvPr>
          <p:cNvSpPr>
            <a:spLocks xmlns:a="http://schemas.openxmlformats.org/drawingml/2006/main" noGrp="1"/>
          </p:cNvSpPr>
          <p:nvPr/>
        </p:nvSpPr>
        <p:spPr>
          <a:xfrm xmlns:a="http://schemas.openxmlformats.org/drawingml/2006/main">
            <a:off x="10810875" y="6438900"/>
            <a:ext cx="685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a:solidFill>
                  <a:srgbClr val="5A6B7C"/>
                </a:solidFill>
              </a:defRPr>
            </a:pPr>
            <a:r>
              <a:rPr sz="975">
                <a:solidFill>
                  <a:srgbClr val="5A6B7C"/>
                </a:solidFill>
              </a:rPr>
              <a:t>10 / 10</a:t>
            </a:r>
          </a:p>
        </p:txBody>
      </p:sp>
      <p:sp>
        <p:nvSpPr>
          <p:cNvPr id="7" name="">
            <a:extLst xmlns:a="http://schemas.openxmlformats.org/drawingml/2006/main">
              <a:ext uri="{FF2B5EF4-FFF2-40B4-BE49-F238E27FC236}">
                <a16:creationId xmlns:a16="http://schemas.microsoft.com/office/drawing/2014/main" id="{0A563F4C-4A50-4EA1-AEAD-2E7FC26C81D2}"/>
              </a:ext>
            </a:extLst>
          </p:cNvPr>
          <p:cNvSpPr>
            <a:spLocks xmlns:a="http://schemas.openxmlformats.org/drawingml/2006/main" noGrp="1"/>
          </p:cNvSpPr>
          <p:nvPr/>
        </p:nvSpPr>
        <p:spPr>
          <a:xfrm xmlns:a="http://schemas.openxmlformats.org/drawingml/2006/main">
            <a:off x="838200" y="2171700"/>
            <a:ext cx="9048750" cy="2095500"/>
          </a:xfrm>
          <a:prstGeom xmlns:a="http://schemas.openxmlformats.org/drawingml/2006/main" prst="roundRect">
            <a:avLst>
              <a:gd name="adj" fmla="val 5455"/>
            </a:avLst>
          </a:prstGeom>
          <a:solidFill xmlns:a="http://schemas.openxmlformats.org/drawingml/2006/main">
            <a:srgbClr val="142F4C"/>
          </a:solidFill>
          <a:ln xmlns:a="http://schemas.openxmlformats.org/drawingml/2006/main" w="0">
            <a:solidFill>
              <a:srgbClr val="142F4C"/>
            </a:solidFill>
            <a:prstDash val="solid"/>
          </a:ln>
        </p:spPr>
      </p:sp>
      <p:sp>
        <p:nvSpPr>
          <p:cNvPr id="8" name="">
            <a:extLst xmlns:a="http://schemas.openxmlformats.org/drawingml/2006/main">
              <a:ext uri="{FF2B5EF4-FFF2-40B4-BE49-F238E27FC236}">
                <a16:creationId xmlns:a16="http://schemas.microsoft.com/office/drawing/2014/main" id="{1688BE7F-B7B0-4382-A5D8-3830B4E3FA9A}"/>
              </a:ext>
            </a:extLst>
          </p:cNvPr>
          <p:cNvSpPr>
            <a:spLocks xmlns:a="http://schemas.openxmlformats.org/drawingml/2006/main" noGrp="1"/>
          </p:cNvSpPr>
          <p:nvPr/>
        </p:nvSpPr>
        <p:spPr>
          <a:xfrm xmlns:a="http://schemas.openxmlformats.org/drawingml/2006/main">
            <a:off x="1162050" y="24765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725" b="1">
                <a:solidFill>
                  <a:srgbClr val="C9A227"/>
                </a:solidFill>
              </a:defRPr>
            </a:pPr>
            <a:r>
              <a:rPr sz="1725" b="1">
                <a:solidFill>
                  <a:srgbClr val="C9A227"/>
                </a:solidFill>
              </a:rPr>
              <a:t>Bring four things to the next review</a:t>
            </a:r>
          </a:p>
        </p:txBody>
      </p:sp>
      <p:sp>
        <p:nvSpPr>
          <p:cNvPr id="9" name="">
            <a:extLst xmlns:a="http://schemas.openxmlformats.org/drawingml/2006/main">
              <a:ext uri="{FF2B5EF4-FFF2-40B4-BE49-F238E27FC236}">
                <a16:creationId xmlns:a16="http://schemas.microsoft.com/office/drawing/2014/main" id="{FA6DE497-E96E-4B3E-A887-C79E3FE9F261}"/>
              </a:ext>
            </a:extLst>
          </p:cNvPr>
          <p:cNvSpPr>
            <a:spLocks xmlns:a="http://schemas.openxmlformats.org/drawingml/2006/main" noGrp="1"/>
          </p:cNvSpPr>
          <p:nvPr/>
        </p:nvSpPr>
        <p:spPr>
          <a:xfrm xmlns:a="http://schemas.openxmlformats.org/drawingml/2006/main">
            <a:off x="1181100" y="30480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0" name="">
            <a:extLst xmlns:a="http://schemas.openxmlformats.org/drawingml/2006/main">
              <a:ext uri="{FF2B5EF4-FFF2-40B4-BE49-F238E27FC236}">
                <a16:creationId xmlns:a16="http://schemas.microsoft.com/office/drawing/2014/main" id="{AE956A90-D3C5-4525-A60E-62962CCB011A}"/>
              </a:ext>
            </a:extLst>
          </p:cNvPr>
          <p:cNvSpPr>
            <a:spLocks xmlns:a="http://schemas.openxmlformats.org/drawingml/2006/main" noGrp="1"/>
          </p:cNvSpPr>
          <p:nvPr/>
        </p:nvSpPr>
        <p:spPr>
          <a:xfrm xmlns:a="http://schemas.openxmlformats.org/drawingml/2006/main">
            <a:off x="1409700" y="297180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Proof requirements and retained control records</a:t>
            </a:r>
          </a:p>
        </p:txBody>
      </p:sp>
      <p:sp>
        <p:nvSpPr>
          <p:cNvPr id="11" name="">
            <a:extLst xmlns:a="http://schemas.openxmlformats.org/drawingml/2006/main">
              <a:ext uri="{FF2B5EF4-FFF2-40B4-BE49-F238E27FC236}">
                <a16:creationId xmlns:a16="http://schemas.microsoft.com/office/drawing/2014/main" id="{F5F357A6-A338-48D4-8288-4FF59F83487C}"/>
              </a:ext>
            </a:extLst>
          </p:cNvPr>
          <p:cNvSpPr>
            <a:spLocks xmlns:a="http://schemas.openxmlformats.org/drawingml/2006/main" noGrp="1"/>
          </p:cNvSpPr>
          <p:nvPr/>
        </p:nvSpPr>
        <p:spPr>
          <a:xfrm xmlns:a="http://schemas.openxmlformats.org/drawingml/2006/main">
            <a:off x="1181100" y="340995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2" name="">
            <a:extLst xmlns:a="http://schemas.openxmlformats.org/drawingml/2006/main">
              <a:ext uri="{FF2B5EF4-FFF2-40B4-BE49-F238E27FC236}">
                <a16:creationId xmlns:a16="http://schemas.microsoft.com/office/drawing/2014/main" id="{91459229-AE67-4CB1-9553-34C685C2EBDC}"/>
              </a:ext>
            </a:extLst>
          </p:cNvPr>
          <p:cNvSpPr>
            <a:spLocks xmlns:a="http://schemas.openxmlformats.org/drawingml/2006/main" noGrp="1"/>
          </p:cNvSpPr>
          <p:nvPr/>
        </p:nvSpPr>
        <p:spPr>
          <a:xfrm xmlns:a="http://schemas.openxmlformats.org/drawingml/2006/main">
            <a:off x="1409700" y="333375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Open action ageing by accountable owner</a:t>
            </a:r>
          </a:p>
        </p:txBody>
      </p:sp>
      <p:sp>
        <p:nvSpPr>
          <p:cNvPr id="13" name="">
            <a:extLst xmlns:a="http://schemas.openxmlformats.org/drawingml/2006/main">
              <a:ext uri="{FF2B5EF4-FFF2-40B4-BE49-F238E27FC236}">
                <a16:creationId xmlns:a16="http://schemas.microsoft.com/office/drawing/2014/main" id="{C741D1F8-F4DB-47A6-82E0-46A66688F357}"/>
              </a:ext>
            </a:extLst>
          </p:cNvPr>
          <p:cNvSpPr>
            <a:spLocks xmlns:a="http://schemas.openxmlformats.org/drawingml/2006/main" noGrp="1"/>
          </p:cNvSpPr>
          <p:nvPr/>
        </p:nvSpPr>
        <p:spPr>
          <a:xfrm xmlns:a="http://schemas.openxmlformats.org/drawingml/2006/main">
            <a:off x="1181100" y="377190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4" name="">
            <a:extLst xmlns:a="http://schemas.openxmlformats.org/drawingml/2006/main">
              <a:ext uri="{FF2B5EF4-FFF2-40B4-BE49-F238E27FC236}">
                <a16:creationId xmlns:a16="http://schemas.microsoft.com/office/drawing/2014/main" id="{7E8FFE8A-DBE9-4D30-BEF8-3174E5253BA2}"/>
              </a:ext>
            </a:extLst>
          </p:cNvPr>
          <p:cNvSpPr>
            <a:spLocks xmlns:a="http://schemas.openxmlformats.org/drawingml/2006/main" noGrp="1"/>
          </p:cNvSpPr>
          <p:nvPr/>
        </p:nvSpPr>
        <p:spPr>
          <a:xfrm xmlns:a="http://schemas.openxmlformats.org/drawingml/2006/main">
            <a:off x="1409700" y="369570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Effectiveness measures for the highest-priority controls</a:t>
            </a:r>
          </a:p>
        </p:txBody>
      </p:sp>
      <p:sp>
        <p:nvSpPr>
          <p:cNvPr id="15" name="">
            <a:extLst xmlns:a="http://schemas.openxmlformats.org/drawingml/2006/main">
              <a:ext uri="{FF2B5EF4-FFF2-40B4-BE49-F238E27FC236}">
                <a16:creationId xmlns:a16="http://schemas.microsoft.com/office/drawing/2014/main" id="{2F122739-7AFA-4D6F-A167-7BC36A60AF30}"/>
              </a:ext>
            </a:extLst>
          </p:cNvPr>
          <p:cNvSpPr>
            <a:spLocks xmlns:a="http://schemas.openxmlformats.org/drawingml/2006/main" noGrp="1"/>
          </p:cNvSpPr>
          <p:nvPr/>
        </p:nvSpPr>
        <p:spPr>
          <a:xfrm xmlns:a="http://schemas.openxmlformats.org/drawingml/2006/main">
            <a:off x="1181100" y="4133850"/>
            <a:ext cx="95250" cy="95250"/>
          </a:xfrm>
          <a:prstGeom xmlns:a="http://schemas.openxmlformats.org/drawingml/2006/main" prst="ellipse">
            <a:avLst/>
          </a:prstGeom>
          <a:solidFill xmlns:a="http://schemas.openxmlformats.org/drawingml/2006/main">
            <a:srgbClr val="C9A227"/>
          </a:solidFill>
          <a:ln xmlns:a="http://schemas.openxmlformats.org/drawingml/2006/main" w="0">
            <a:solidFill>
              <a:srgbClr val="C9A227"/>
            </a:solidFill>
            <a:prstDash val="solid"/>
          </a:ln>
        </p:spPr>
      </p:sp>
      <p:sp>
        <p:nvSpPr>
          <p:cNvPr id="16" name="">
            <a:extLst xmlns:a="http://schemas.openxmlformats.org/drawingml/2006/main">
              <a:ext uri="{FF2B5EF4-FFF2-40B4-BE49-F238E27FC236}">
                <a16:creationId xmlns:a16="http://schemas.microsoft.com/office/drawing/2014/main" id="{8F4B54C8-79C9-4488-80B6-4FE13E04A66A}"/>
              </a:ext>
            </a:extLst>
          </p:cNvPr>
          <p:cNvSpPr>
            <a:spLocks xmlns:a="http://schemas.openxmlformats.org/drawingml/2006/main" noGrp="1"/>
          </p:cNvSpPr>
          <p:nvPr/>
        </p:nvSpPr>
        <p:spPr>
          <a:xfrm xmlns:a="http://schemas.openxmlformats.org/drawingml/2006/main">
            <a:off x="1409700" y="405765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350">
                <a:solidFill>
                  <a:srgbClr val="FFFFFF"/>
                </a:solidFill>
              </a:defRPr>
            </a:pPr>
            <a:r>
              <a:rPr sz="1350">
                <a:solidFill>
                  <a:srgbClr val="FFFFFF"/>
                </a:solidFill>
              </a:rPr>
              <a:t>Explicit residual-risk and escalation decisions</a:t>
            </a:r>
          </a:p>
        </p:txBody>
      </p:sp>
      <p:sp>
        <p:nvSpPr>
          <p:cNvPr id="17" name="">
            <a:extLst xmlns:a="http://schemas.openxmlformats.org/drawingml/2006/main">
              <a:ext uri="{FF2B5EF4-FFF2-40B4-BE49-F238E27FC236}">
                <a16:creationId xmlns:a16="http://schemas.microsoft.com/office/drawing/2014/main" id="{4CB9B2B5-21F4-41A9-B97E-642D49AA63A2}"/>
              </a:ext>
            </a:extLst>
          </p:cNvPr>
          <p:cNvSpPr>
            <a:spLocks xmlns:a="http://schemas.openxmlformats.org/drawingml/2006/main" noGrp="1"/>
          </p:cNvSpPr>
          <p:nvPr/>
        </p:nvSpPr>
        <p:spPr>
          <a:xfrm xmlns:a="http://schemas.openxmlformats.org/drawingml/2006/main">
            <a:off x="838200" y="4810125"/>
            <a:ext cx="904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defRPr sz="1800" b="1">
                <a:solidFill>
                  <a:srgbClr val="142F4C"/>
                </a:solidFill>
              </a:defRPr>
            </a:pPr>
            <a:r>
              <a:rPr sz="1800" b="1">
                <a:solidFill>
                  <a:srgbClr val="142F4C"/>
                </a:solidFill>
              </a:rPr>
              <a:t>The board should see the decision, the owner, the target period, the measure and the response - not a longer register.</a:t>
            </a:r>
          </a:p>
        </p:txBody>
      </p:sp>
    </p:spTree>
    <p:extLst>
      <p:ext uri="{BB962C8B-B14F-4D97-AF65-F5344CB8AC3E}">
        <p14:creationId xmlns:p14="http://schemas.microsoft.com/office/powerpoint/2010/main" val="18753244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2026-08-12T17:43:15.6970000Z</dcterms:created>
  <dcterms:modified xsi:type="dcterms:W3CDTF">2026-08-12T17:43:15.6970000Z</dcterms:modified>
</coreProperties>
</file>