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739aa13407748f3" /><Relationship Type="http://schemas.openxmlformats.org/officeDocument/2006/relationships/extended-properties" Target="/docProps/app.xml" Id="Rb17d03d1eb714bff" /><Relationship Type="http://schemas.openxmlformats.org/officeDocument/2006/relationships/officeDocument" Target="/ppt/presentation.xml" Id="Rbfc5484913b44a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48b8c5b3d145fd"/>
  </p:sldMasterIdLst>
  <p:notesMasterIdLst>
    <p:notesMasterId xmlns:r="http://schemas.openxmlformats.org/officeDocument/2006/relationships" r:id="R39abada32bb14b19"/>
  </p:notesMasterIdLst>
  <p:sldIdLst>
    <p:sldId xmlns:r="http://schemas.openxmlformats.org/officeDocument/2006/relationships" id="256" r:id="Rb0083876470c438d"/>
    <p:sldId xmlns:r="http://schemas.openxmlformats.org/officeDocument/2006/relationships" id="257" r:id="Rfe409321cced46da"/>
    <p:sldId xmlns:r="http://schemas.openxmlformats.org/officeDocument/2006/relationships" id="258" r:id="R9f9a87106b3f4b42"/>
    <p:sldId xmlns:r="http://schemas.openxmlformats.org/officeDocument/2006/relationships" id="259" r:id="R60acac9cd58444bd"/>
    <p:sldId xmlns:r="http://schemas.openxmlformats.org/officeDocument/2006/relationships" id="260" r:id="R25c46c0c4a734e1b"/>
    <p:sldId xmlns:r="http://schemas.openxmlformats.org/officeDocument/2006/relationships" id="261" r:id="R676f1a18542c4504"/>
    <p:sldId xmlns:r="http://schemas.openxmlformats.org/officeDocument/2006/relationships" id="262" r:id="Rd61f9f373d3248d5"/>
    <p:sldId xmlns:r="http://schemas.openxmlformats.org/officeDocument/2006/relationships" id="263" r:id="Rdba88370c8a24301"/>
    <p:sldId xmlns:r="http://schemas.openxmlformats.org/officeDocument/2006/relationships" id="264" r:id="R308682e7f1a94ee5"/>
    <p:sldId xmlns:r="http://schemas.openxmlformats.org/officeDocument/2006/relationships" id="265" r:id="R7aca51299d9346f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49bfd1dbc6d405e" /><Relationship Type="http://schemas.openxmlformats.org/officeDocument/2006/relationships/slideMaster" Target="/ppt/slideMasters/slideMaster1.xml" Id="R7248b8c5b3d145fd" /><Relationship Type="http://schemas.openxmlformats.org/officeDocument/2006/relationships/notesMaster" Target="/ppt/notesMasters/notesMaster1.xml" Id="R39abada32bb14b19" /><Relationship Type="http://schemas.openxmlformats.org/officeDocument/2006/relationships/presProps" Target="/ppt/presProps.xml" Id="R8aac521a465e4a4b" /><Relationship Type="http://schemas.openxmlformats.org/officeDocument/2006/relationships/tableStyles" Target="/ppt/tableStyles.xml" Id="R4bda8196a57242db" /><Relationship Type="http://schemas.openxmlformats.org/officeDocument/2006/relationships/slide" Target="/ppt/slides/slide1.xml" Id="Rb0083876470c438d" /><Relationship Type="http://schemas.openxmlformats.org/officeDocument/2006/relationships/slide" Target="/ppt/slides/slide2.xml" Id="Rfe409321cced46da" /><Relationship Type="http://schemas.openxmlformats.org/officeDocument/2006/relationships/slide" Target="/ppt/slides/slide3.xml" Id="R9f9a87106b3f4b42" /><Relationship Type="http://schemas.openxmlformats.org/officeDocument/2006/relationships/slide" Target="/ppt/slides/slide4.xml" Id="R60acac9cd58444bd" /><Relationship Type="http://schemas.openxmlformats.org/officeDocument/2006/relationships/slide" Target="/ppt/slides/slide5.xml" Id="R25c46c0c4a734e1b" /><Relationship Type="http://schemas.openxmlformats.org/officeDocument/2006/relationships/slide" Target="/ppt/slides/slide6.xml" Id="R676f1a18542c4504" /><Relationship Type="http://schemas.openxmlformats.org/officeDocument/2006/relationships/slide" Target="/ppt/slides/slide7.xml" Id="Rd61f9f373d3248d5" /><Relationship Type="http://schemas.openxmlformats.org/officeDocument/2006/relationships/slide" Target="/ppt/slides/slide8.xml" Id="Rdba88370c8a24301" /><Relationship Type="http://schemas.openxmlformats.org/officeDocument/2006/relationships/slide" Target="/ppt/slides/slide9.xml" Id="R308682e7f1a94ee5" /><Relationship Type="http://schemas.openxmlformats.org/officeDocument/2006/relationships/slide" Target="/ppt/slides/slide10.xml" Id="R7aca51299d9346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1393b44f23a4bf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63203df83b4467" /><Relationship Type="http://schemas.openxmlformats.org/officeDocument/2006/relationships/notesMaster" Target="/ppt/notesMasters/notesMaster1.xml" Id="R15292483d2184e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ebcdc08b27415b" /><Relationship Type="http://schemas.openxmlformats.org/officeDocument/2006/relationships/notesMaster" Target="/ppt/notesMasters/notesMaster1.xml" Id="R712b6a3dd489480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3959f86485d452f" /><Relationship Type="http://schemas.openxmlformats.org/officeDocument/2006/relationships/notesMaster" Target="/ppt/notesMasters/notesMaster1.xml" Id="Rfe41a7017a6a408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5f2d75e653490c" /><Relationship Type="http://schemas.openxmlformats.org/officeDocument/2006/relationships/notesMaster" Target="/ppt/notesMasters/notesMaster1.xml" Id="R9109575e770747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f006ba5df6468e" /><Relationship Type="http://schemas.openxmlformats.org/officeDocument/2006/relationships/notesMaster" Target="/ppt/notesMasters/notesMaster1.xml" Id="R538335f159ab41c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eb744778ac4386" /><Relationship Type="http://schemas.openxmlformats.org/officeDocument/2006/relationships/notesMaster" Target="/ppt/notesMasters/notesMaster1.xml" Id="Rabf3ea9a685949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ec877b240f4460" /><Relationship Type="http://schemas.openxmlformats.org/officeDocument/2006/relationships/notesMaster" Target="/ppt/notesMasters/notesMaster1.xml" Id="R37c6cc6f3744477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7d41161a8ba4197" /><Relationship Type="http://schemas.openxmlformats.org/officeDocument/2006/relationships/notesMaster" Target="/ppt/notesMasters/notesMaster1.xml" Id="R9c38961e5c084e9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09bd2856a3e4641" /><Relationship Type="http://schemas.openxmlformats.org/officeDocument/2006/relationships/notesMaster" Target="/ppt/notesMasters/notesMaster1.xml" Id="Re21e971f735c48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8d06fa647f4ba9" /><Relationship Type="http://schemas.openxmlformats.org/officeDocument/2006/relationships/notesMaster" Target="/ppt/notesMasters/notesMaster1.xml" Id="R02f26ef5cba645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>Cover claim is a narrative description of this deck, not a sourced external statistic.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Assessment and reviewer source: persisted Kestrel engagement MKORD-2026-7FBBEE23.</a:t>
            </a:r>
          </a:p>
          <a:p xmlns:a="http://schemas.openxmlformats.org/drawingml/2006/main">
            <a:r>
              <a:t>- McKinsey, A board perspective on enterprise risk management: https://www.mckinsey.com/~/media/mckinsey/dotcom/client_service/risk/working%20papers/18_a_board_perspective_on_enterprise_risk_management.pdf</a:t>
            </a:r>
          </a:p>
          <a:p xmlns:a="http://schemas.openxmlformats.org/drawingml/2006/main">
            <a:r>
              <a:t>- Deloitte, Fraud Risk Management: https://www.deloitte.com/ch/en/services/financial-advisory/perspectives/fraud-risk-management-strategic-imperative.html</a:t>
            </a:r>
          </a:p>
          <a:p xmlns:a="http://schemas.openxmlformats.org/drawingml/2006/main">
            <a:r>
              <a:t>- BCG, The Expanding Agenda for Boards of Directors: https://www.bcg.com/publications/2024/expanding-agenda-for-boards-of-directors</a:t>
            </a:r>
          </a:p>
          <a:p xmlns:a="http://schemas.openxmlformats.org/drawingml/2006/main">
            <a:r>
              <a:t>- Bain, TCFD recommendations: https://www.bain.com/contentassets/6b37083d53dc4e9aa676993fa0c4c7dc/2022-tcfd-recommendations.pdf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e80921ccdb49a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1f81ab5da154538" /><Relationship Type="http://schemas.openxmlformats.org/officeDocument/2006/relationships/slideLayout" Target="/ppt/slideLayouts/slideLayout1.xml" Id="Rbceae8a4f2564d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ceae8a4f2564d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4e792df918465a" /><Relationship Type="http://schemas.openxmlformats.org/officeDocument/2006/relationships/notesSlide" Target="/ppt/notesSlides/notesSlide1.xml" Id="R4963d73c517a43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adae46b98a484a" /><Relationship Type="http://schemas.openxmlformats.org/officeDocument/2006/relationships/notesSlide" Target="/ppt/notesSlides/notesSlide2.xml" Id="Rc4b78e82c6f542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253846840f43e4" /><Relationship Type="http://schemas.openxmlformats.org/officeDocument/2006/relationships/notesSlide" Target="/ppt/notesSlides/notesSlide3.xml" Id="R4bcc1da26ef04c0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91a8ce5ee463a" /><Relationship Type="http://schemas.openxmlformats.org/officeDocument/2006/relationships/notesSlide" Target="/ppt/notesSlides/notesSlide4.xml" Id="Rc2446f09baae40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85224ba79a4370" /><Relationship Type="http://schemas.openxmlformats.org/officeDocument/2006/relationships/notesSlide" Target="/ppt/notesSlides/notesSlide5.xml" Id="Rbaddf3f0e68e45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c483b4216f4172" /><Relationship Type="http://schemas.openxmlformats.org/officeDocument/2006/relationships/notesSlide" Target="/ppt/notesSlides/notesSlide6.xml" Id="Rcd98aba1403f44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190d25cd0548c1" /><Relationship Type="http://schemas.openxmlformats.org/officeDocument/2006/relationships/notesSlide" Target="/ppt/notesSlides/notesSlide7.xml" Id="R4cf1d442dd334a6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3a03643e34003" /><Relationship Type="http://schemas.openxmlformats.org/officeDocument/2006/relationships/notesSlide" Target="/ppt/notesSlides/notesSlide8.xml" Id="R48cf1c0b04b247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0acd567024d71" /><Relationship Type="http://schemas.openxmlformats.org/officeDocument/2006/relationships/notesSlide" Target="/ppt/notesSlides/notesSlide9.xml" Id="Re18fc2cf2e08460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1e7dc32ec44235" /><Relationship Type="http://schemas.openxmlformats.org/officeDocument/2006/relationships/notesSlide" Target="/ppt/notesSlides/notesSlide10.xml" Id="R5342377b672047b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2F4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66F6CD-34E5-403E-B878-ED960074B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DB2B74-2EE0-4FB7-8361-F887140C4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8763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FDDE7"/>
                </a:solidFill>
              </a:defRPr>
            </a:pPr>
            <a:r>
              <a:rPr sz="1200" b="1">
                <a:solidFill>
                  <a:srgbClr val="CFDDE7"/>
                </a:solidFill>
              </a:rPr>
              <a:t>MK FRAUD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32E685-79FB-4BB7-ADC7-E102C065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90700"/>
            <a:ext cx="857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FFFFFF"/>
                </a:solidFill>
              </a:defRPr>
            </a:pPr>
            <a:r>
              <a:rPr sz="3750" b="1">
                <a:solidFill>
                  <a:srgbClr val="FFFFFF"/>
                </a:solidFill>
              </a:rPr>
              <a:t>The evidence review turns a diagnostic into a management decision record.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64C8BC-2684-4CEC-9719-0C9C540E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095750"/>
            <a:ext cx="609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DCE7F1"/>
                </a:solidFill>
              </a:defRPr>
            </a:pPr>
            <a:r>
              <a:rPr sz="1650">
                <a:solidFill>
                  <a:srgbClr val="DCE7F1"/>
                </a:solidFill>
              </a:rPr>
              <a:t>Kestrel Industrial Supply (Pty) Ltd</a:t>
            </a:r>
          </a:p>
          <a:p xmlns:a="http://schemas.openxmlformats.org/drawingml/2006/main">
            <a:pPr>
              <a:defRPr sz="1650">
                <a:solidFill>
                  <a:srgbClr val="DCE7F1"/>
                </a:solidFill>
              </a:defRPr>
            </a:pPr>
            <a:r>
              <a:rPr sz="1650">
                <a:solidFill>
                  <a:srgbClr val="DCE7F1"/>
                </a:solidFill>
              </a:rPr>
              <a:t>Comprehensive review · evidence-led engagement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42D73D-7D88-4B8E-971E-6D455589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B9CFDF"/>
                </a:solidFill>
              </a:defRPr>
            </a:pPr>
            <a:r>
              <a:rPr sz="1200">
                <a:solidFill>
                  <a:srgbClr val="B9CFDF"/>
                </a:solidFill>
              </a:rPr>
              <a:t>Named reviewer: Independent review lead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87110-3F7E-43DD-B08F-AE98B94B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C77B35"/>
                </a:solidFill>
              </a:defRPr>
            </a:pPr>
            <a:r>
              <a:rPr sz="975" b="1">
                <a:solidFill>
                  <a:srgbClr val="C77B35"/>
                </a:solidFill>
              </a:rPr>
              <a:t>CONFIDENTIAL · DECISION SUPPORT</a:t>
            </a:r>
          </a:p>
        </p:txBody>
      </p:sp>
    </p:spTree>
    <p:extLst>
      <p:ext uri="{BB962C8B-B14F-4D97-AF65-F5344CB8AC3E}">
        <p14:creationId xmlns:p14="http://schemas.microsoft.com/office/powerpoint/2010/main" val="188249163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E8CDAC-97C1-4778-AC90-7A3C9F94C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E31F6-A7B6-44CB-86AC-9CDBD0E7A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The recorded position is developing; assurance is narrower than the score.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CB61B-83BA-451B-A9F9-FF51CA3B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Separate the deterministic result from what the evidence review can support.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D5C332-8936-456B-B4D2-6C8CFE65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62EC1A-F19E-40FF-A2DA-6D97C2FD1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E6F2D8-AB74-44D4-A4D4-E6969D4C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02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9F397E-52BD-431A-9EA2-36E91D8A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5CE63-43E6-4EA4-8A65-50974008E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09987B-3A51-4E4D-A001-8FADE29B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E7080"/>
                </a:solidFill>
              </a:defRPr>
            </a:pPr>
            <a:r>
              <a:rPr sz="1125" b="1">
                <a:solidFill>
                  <a:srgbClr val="5E7080"/>
                </a:solidFill>
              </a:rPr>
              <a:t>Reported readiness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91C736-8A0C-4F74-A510-B0F977E3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55 / 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14C82C-2F2B-4DDF-BDCE-AB52BDE0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Developing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D6AD7C-9DB8-47F6-ADAC-284C666BB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4EAC05-F641-4C6C-AD69-8127D0E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3E38"/>
          </a:solidFill>
          <a:ln xmlns:a="http://schemas.openxmlformats.org/drawingml/2006/main" w="0">
            <a:solidFill>
              <a:srgbClr val="A93E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72BD62-DA8F-4B75-B8A9-CD983F56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E7080"/>
                </a:solidFill>
              </a:defRPr>
            </a:pPr>
            <a:r>
              <a:rPr sz="1125" b="1">
                <a:solidFill>
                  <a:srgbClr val="5E7080"/>
                </a:solidFill>
              </a:rPr>
              <a:t>Exposure position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4C6C6-5D5B-45FC-AF71-09DC13336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0 / 100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7D41E-A19A-47E7-A168-CE871146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Not assessed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E94B1-F199-47C6-9E4C-74ADE6CAD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141FAA-87B9-4435-97BC-8AC2B78B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C57"/>
          </a:solidFill>
          <a:ln xmlns:a="http://schemas.openxmlformats.org/drawingml/2006/main" w="0">
            <a:solidFill>
              <a:srgbClr val="2D7C5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136BAB-253B-4CD5-BF00-352B90037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E7080"/>
                </a:solidFill>
              </a:defRPr>
            </a:pPr>
            <a:r>
              <a:rPr sz="1125" b="1">
                <a:solidFill>
                  <a:srgbClr val="5E7080"/>
                </a:solidFill>
              </a:rPr>
              <a:t>Supported 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076303-09AA-478A-B352-0CA83A8E8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16C172-64D6-4C19-A218-202767FBC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of 12 items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176AEC-1021-40DB-8C6F-C1A4188A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2860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15536B-9F4D-432C-8217-6AA3F5069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981200"/>
            <a:ext cx="2286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3726E8-C14B-4A40-9760-D01E7BBD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52650"/>
            <a:ext cx="1943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E7080"/>
                </a:solidFill>
              </a:defRPr>
            </a:pPr>
            <a:r>
              <a:rPr sz="1125" b="1">
                <a:solidFill>
                  <a:srgbClr val="5E7080"/>
                </a:solidFill>
              </a:rPr>
              <a:t>Unresolved evidence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4ACB49-117D-41E5-AEF3-F7245206B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28875"/>
            <a:ext cx="1943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42F4C"/>
                </a:solidFill>
              </a:defRPr>
            </a:pPr>
            <a:r>
              <a:rPr sz="2400" b="1">
                <a:solidFill>
                  <a:srgbClr val="142F4C"/>
                </a:solidFill>
              </a:rPr>
              <a:t>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3D73073-ED54-4C86-878E-ECF19C7D6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76550"/>
            <a:ext cx="1943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items requiring closure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E2754A-C59E-48BD-9761-4C26BD4DE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9772650" cy="123825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BD92528-4ACA-42AD-B5D2-C5FD48354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96240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Management reading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AC061D-21EC-4443-B84B-FA66FA54F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4350"/>
            <a:ext cx="895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42F4C"/>
                </a:solidFill>
              </a:defRPr>
            </a:pPr>
            <a:r>
              <a:rPr sz="1500">
                <a:solidFill>
                  <a:srgbClr val="142F4C"/>
                </a:solidFill>
              </a:rPr>
              <a:t>The score is the locked recorded result. Human review changes the confidence, scope and decision implications around that result; it does not silently recalculate it.</a:t>
            </a:r>
          </a:p>
        </p:txBody>
      </p:sp>
    </p:spTree>
    <p:extLst>
      <p:ext uri="{BB962C8B-B14F-4D97-AF65-F5344CB8AC3E}">
        <p14:creationId xmlns:p14="http://schemas.microsoft.com/office/powerpoint/2010/main" val="5587346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07A049-1C50-4D3B-A7F2-DCEF99B2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623E9A-9165-4329-BA70-10AEA63B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Evidence review supports selected positions, but the scope is not fully closed.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E7C28-8DA3-4E41-8FCA-A368A760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The evidence ledger makes the reliance boundary visible in one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7B84-591C-40F7-A839-7FE07179B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62180D-6E9E-4A60-B236-89F40FFAB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CE904-B105-4B1A-8EF9-C70128D5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03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01B39-C545-406A-8E8E-FD2D9928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Supported for stated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7FE6F-BC88-4796-A406-02B8E587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31CFF-348A-467A-B8A1-7B06142C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143125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C57"/>
          </a:solidFill>
          <a:ln xmlns:a="http://schemas.openxmlformats.org/drawingml/2006/main" w="0">
            <a:solidFill>
              <a:srgbClr val="2D7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F3B7B0-5794-47E0-8C39-E2AF9F23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0955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418E11-F652-41ED-9764-0D5AF729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Evidence reviewed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F241F5-2C76-4D8B-831B-0F2FD6F1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C6C1D8-011E-4E47-A555-37E2D9AB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733675"/>
            <a:ext cx="41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58C"/>
          </a:solidFill>
          <a:ln xmlns:a="http://schemas.openxmlformats.org/drawingml/2006/main" w="0">
            <a:solidFill>
              <a:srgbClr val="25658C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F9F24-70D1-4AFA-9B81-7907708C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6860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F6986A-9264-4283-834F-12A9D62C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Insufficient for conclusion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D1EA1C-D8FE-4CB8-83FE-A740E81E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B67D5-A32D-4B3D-B3F1-5ECB536AB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324225"/>
            <a:ext cx="825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3E38"/>
          </a:solidFill>
          <a:ln xmlns:a="http://schemas.openxmlformats.org/drawingml/2006/main" w="0">
            <a:solidFill>
              <a:srgbClr val="A93E3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3334CD-E32C-4849-82E7-46320A06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2766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305CE-30F5-456E-8F48-2387FA94D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862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Self-reported / open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FA7B46-F593-4D4C-B9A8-954E565A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DABA95-FEC5-4FCC-B6AB-302579AC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914775"/>
            <a:ext cx="165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43F29A-5155-4038-A96E-1CA9CBF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86715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42F4C"/>
                </a:solidFill>
              </a:defRPr>
            </a:pPr>
            <a:r>
              <a:rPr sz="1650" b="1">
                <a:solidFill>
                  <a:srgbClr val="142F4C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A73345-E59D-4AE4-B062-D6D682C9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62500"/>
            <a:ext cx="9191625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26CA88-9C13-4697-9958-FB8985D6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720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What the board can rely 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2BBAFD-4F77-4A4E-AEFE-D6ED43904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95900"/>
            <a:ext cx="828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72232"/>
                </a:solidFill>
              </a:defRPr>
            </a:pPr>
            <a:r>
              <a:rPr sz="1350">
                <a:solidFill>
                  <a:srgbClr val="172232"/>
                </a:solidFill>
              </a:rPr>
              <a:t>Only the named evidence scope. “Insufficient” means the evidence did not establish a conclusion; it does not mean misconduct occurred.</a:t>
            </a:r>
          </a:p>
        </p:txBody>
      </p:sp>
    </p:spTree>
    <p:extLst>
      <p:ext uri="{BB962C8B-B14F-4D97-AF65-F5344CB8AC3E}">
        <p14:creationId xmlns:p14="http://schemas.microsoft.com/office/powerpoint/2010/main" val="9801174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065C23-708A-4BB7-8D44-94B491F37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5C0316-0BDD-4EBA-BFB2-FA4794453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Human review adds judgement where the self-assessment is too broad.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EEF951-6174-4947-B4E6-0A31BB8E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The review narrows claims to the population and artefacts actually examined.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2388E7-D6C3-46A6-B8B2-C6856794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063D0-7583-4911-91A0-FCA9FF44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B27087-51DE-450F-B8CE-F777A3BC0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04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0F1F1E-EC85-4996-8F1B-738B4A07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C57"/>
          </a:solidFill>
          <a:ln xmlns:a="http://schemas.openxmlformats.org/drawingml/2006/main" w="0">
            <a:solidFill>
              <a:srgbClr val="2D7C5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675DA4-48FB-4122-BF7B-404B848A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9812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Awareness completion is not reconciled to higher-risk 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6ECFF-114F-48B6-A406-DA3FE842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9812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Recorded: Self-reported position: Exists only informally or inconsistently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162D7-5411-4FF0-B948-262653F8F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812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Reviewer view: Retain the deterministic issue while keeping assurance bounded.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107FDB-7C09-4D0A-877A-EDD8D6AE5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7655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9B7728-BF14-409F-BF7C-B1573890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76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Committee oversight does not yet evidence a complete fraud-risk cycle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B0DC78-7D19-4C28-908E-F0A0A676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765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Recorded: Self-reported position: No control exists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A09DE-C394-4D8D-B825-FC22230C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765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Reviewer view: Retain the conclusion for the reviewed scope only.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B7338-C536-405A-97C5-5EF9417DD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7190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C57"/>
          </a:solidFill>
          <a:ln xmlns:a="http://schemas.openxmlformats.org/drawingml/2006/main" w="0">
            <a:solidFill>
              <a:srgbClr val="2D7C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92C10D-5559-4D06-9625-33C2B7582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719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Detection tuning and alert ageing need a fixed management rhythm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02A86C-6334-4FF2-9D9C-A139695A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7190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Recorded: Self-reported position: Exists only informally or inconsistently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3079D2-AF4C-4E96-B3FB-5A3A73962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7190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Reviewer view: Retain the deterministic issue while keeping assurance bounded.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1A2C66-034A-4FBD-BBD7-531731D84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67250"/>
            <a:ext cx="762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555D48-72DC-4AC7-8FB7-30916AF9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672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42F4C"/>
                </a:solidFill>
              </a:defRPr>
            </a:pPr>
            <a:r>
              <a:rPr sz="1350" b="1">
                <a:solidFill>
                  <a:srgbClr val="142F4C"/>
                </a:solidFill>
              </a:rPr>
              <a:t>Evidence review: Approved fraud risk management policy and committee terms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E75EF1-176B-42DF-B79E-ED1E81519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67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Recorded: Self-reported position retained unless separately evidenced.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BD662-0BF8-466A-BEC1-7C5042D5D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67250"/>
            <a:ext cx="257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Reviewer view: The reviewed artefact supports the stated scope.</a:t>
            </a:r>
          </a:p>
        </p:txBody>
      </p:sp>
    </p:spTree>
    <p:extLst>
      <p:ext uri="{BB962C8B-B14F-4D97-AF65-F5344CB8AC3E}">
        <p14:creationId xmlns:p14="http://schemas.microsoft.com/office/powerpoint/2010/main" val="112064017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67040D-E5C4-4E0D-9751-5BBF297F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850EF-9211-421D-B2AA-ED67FE7D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Risk concentrates where ownership, detection and response do not yet connect.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35203D-1B5A-46DE-9B3C-409396C5A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Top risk pathways are shown as operating exposure, not as allegations.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54525D-5202-48FF-AC28-045D6649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31EC1C-D543-422F-B01A-04A60045C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C462A4-CD16-4F81-B9F9-73BD646CB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05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C43287-0650-41FA-AAD8-39AC617D1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A supplier bank change may redirect a legitimate payment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E5874B-0ECC-4B93-9683-C59459F4F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57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976174-AB31-4003-A2AC-37C49EF3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57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3E38"/>
          </a:solidFill>
          <a:ln xmlns:a="http://schemas.openxmlformats.org/drawingml/2006/main" w="0">
            <a:solidFill>
              <a:srgbClr val="A93E3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9A9170-227C-439F-82C2-6D673A52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000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93E38"/>
                </a:solidFill>
              </a:defRPr>
            </a:pPr>
            <a:r>
              <a:rPr sz="1200" b="1">
                <a:solidFill>
                  <a:srgbClr val="A93E38"/>
                </a:solidFill>
              </a:rPr>
              <a:t>Critical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59435D-73D4-44F9-99E9-35AB53B1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812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Implement a complete role-based access review.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317C28-474E-48E7-BD61-25468DD7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Privileged access may enable unauthorised record changes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BE94E0-EE1E-4A3E-AEA1-3AE2A217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5B3D0E-58AD-43A6-92C4-FCCF5F64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24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93E38"/>
          </a:solidFill>
          <a:ln xmlns:a="http://schemas.openxmlformats.org/drawingml/2006/main" w="0">
            <a:solidFill>
              <a:srgbClr val="A93E3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04BA27-9D5B-4ACD-A7A4-84F099FDD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670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A93E38"/>
                </a:solidFill>
              </a:defRPr>
            </a:pPr>
            <a:r>
              <a:rPr sz="1200" b="1">
                <a:solidFill>
                  <a:srgbClr val="A93E38"/>
                </a:solidFill>
              </a:rPr>
              <a:t>Critical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793785-799E-4E3F-BDC0-DF69657B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479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Implement a complete role-based access review.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EE7AD-5F9E-43A4-948A-148375AB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147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Fraud-risk decisions may remain unchallenged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5BFC9B-6F43-4E0D-ADFA-695E9998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909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4BB40E-DC0C-4116-BE4D-2AEA5ADB3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909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8D1F08-E813-469E-8FD2-6D7398F0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3337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High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2E2C16-17F8-4242-A581-339B6335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3147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Implement a complete role-based access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1C766B-430E-4B4A-AFFB-E556C818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8145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Stale detection rules may delay an alert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225EA2-E975-4A06-8BFB-390882D50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576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9F5DDF-2A4C-4378-8B49-68DDAE85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05765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EEF398-A2A1-45D1-9A0E-E0FFE9A58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0005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High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EC4E36-8DF4-457E-8109-F3C235A0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98145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Implement a complete role-based access review.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FE5A97-4599-4FED-9AA1-C6A70A29F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482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Incident lessons may not reduce repeat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B6D8CD-39F6-478D-A44C-DB7379601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2440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AEE"/>
          </a:solidFill>
          <a:ln xmlns:a="http://schemas.openxmlformats.org/drawingml/2006/main" w="0">
            <a:solidFill>
              <a:srgbClr val="E4EAEE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A07120-5BFE-4B5D-93F6-70DCEB19F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724400"/>
            <a:ext cx="2476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74FC89-D75C-4617-A415-64ACC000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6672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High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C8CDA20-360A-4925-B8A7-695B26C77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48200"/>
            <a:ext cx="1619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080"/>
                </a:solidFill>
              </a:defRPr>
            </a:pPr>
            <a:r>
              <a:rPr sz="1050">
                <a:solidFill>
                  <a:srgbClr val="5E7080"/>
                </a:solidFill>
              </a:rPr>
              <a:t>Implement a complete role-based access review.</a:t>
            </a:r>
          </a:p>
        </p:txBody>
      </p:sp>
    </p:spTree>
    <p:extLst>
      <p:ext uri="{BB962C8B-B14F-4D97-AF65-F5344CB8AC3E}">
        <p14:creationId xmlns:p14="http://schemas.microsoft.com/office/powerpoint/2010/main" val="10554691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D93716-8BF9-43D9-A000-14191782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B4EDD-34A6-49A1-9593-40C4FE13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Three plausible pathways show how control gaps can compound.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F7C4F5-3572-4CAE-889F-3E7D3DED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Scenario logic helps management validate prevention, detection and containment together.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6738D5-4240-476A-A716-DA221320E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BC6DBC-D221-4CF2-82E8-9B4146DB5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D4895D-C188-4097-8E10-7B3B0649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06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380A66-38FB-4774-B0D5-00BD5E827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EEF3F6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7DD7A4-1DEC-4F56-A1ED-3AF34AFD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77B35"/>
                </a:solidFill>
              </a:defRPr>
            </a:pPr>
            <a:r>
              <a:rPr sz="1950" b="1">
                <a:solidFill>
                  <a:srgbClr val="C77B35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1EDDE-FF9C-4ADE-9BF2-48A407A34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Supplier bank-detail redirection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794C6F-3FA4-42D0-8980-5CBCC6A6C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A stale or excessive account remains active.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74775E-BFF8-4269-8F12-C106D9D9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An unauthorised change is made and the audit trail is obscured or discovered late.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4892AD-820E-4872-BF2A-6E7ADBA2C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EE65F8-0DF5-4E5D-AA2D-17EBFF65A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C77B35"/>
                </a:solidFill>
              </a:defRPr>
            </a:pPr>
            <a:r>
              <a:rPr sz="1950" b="1">
                <a:solidFill>
                  <a:srgbClr val="C77B35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83778B-059C-4D15-94A6-DBB18A9A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Privileged access misuse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F952B1-2BC5-4177-8C22-B1CF56E6A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A pattern changes after the last rule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C9CDB6-2E70-49D8-B411-B86849998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Activity continues below or outside stale thresholds until a manual review identifies it.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82AE9B-ACD4-4F9F-B54E-D5A2E1DD3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1432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0EE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3C95DB-C845-4C89-8EC8-43EE06E6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860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A93E38"/>
                </a:solidFill>
              </a:defRPr>
            </a:pPr>
            <a:r>
              <a:rPr sz="1950" b="1">
                <a:solidFill>
                  <a:srgbClr val="A93E38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D7D8B3-AFFC-4253-BF0D-6638C1B4A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813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Detection-rule evasion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B56296-5C78-4A15-9472-F51F9B61E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6004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5E7080"/>
                </a:solidFill>
              </a:defRPr>
            </a:pPr>
            <a:r>
              <a:rPr sz="1200">
                <a:solidFill>
                  <a:srgbClr val="5E7080"/>
                </a:solidFill>
              </a:rPr>
              <a:t>A higher-risk role receives outdated or no role-specific guidance.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D940B-BAA6-4F7A-A366-19CDDBB8F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266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A warning sign is not escalated or recorded promptly.</a:t>
            </a:r>
          </a:p>
        </p:txBody>
      </p:sp>
    </p:spTree>
    <p:extLst>
      <p:ext uri="{BB962C8B-B14F-4D97-AF65-F5344CB8AC3E}">
        <p14:creationId xmlns:p14="http://schemas.microsoft.com/office/powerpoint/2010/main" val="77926493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DC4466-FEA2-4065-9ECF-B40AE8A2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31759-7A1A-480B-A744-178027BC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Management must choose how to close the access-review gap.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C813F1-9644-4D9F-83B2-52933CA8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Options and trade-offs make the decision explicit before the action plan is agreed.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BF241D-E543-47B4-A0CA-A5B5B2344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56A61-3F8D-45F6-A490-EC51084B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ECC38F-4997-4BAA-82A6-535FC1808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07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61837-F34A-4BBE-99B0-DE639E7CE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933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Approve the Financial Controller mandate for detection ownership and evidence-led oversight.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D879F8-9C0D-4CF6-9809-A2B08F2B3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ABA40-9EC1-4DA4-A534-C647760E1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OPTION 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1392C0-654F-4703-9A1D-6A6BFC56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A: assign ownership internally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3DB453-22D9-4246-A9F2-1A12EAEB6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46197E-DBED-43B2-82CE-2A677CD6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OPTION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F0EC55-0DBD-410A-A01B-466A82CBA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B: appoint a specialist partner for the first cycle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404EF7-5547-422B-BDB7-5621CABE4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971800"/>
            <a:ext cx="2809875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1AC948-FB02-460A-9C4E-A33D203B2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1623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OPTION 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6348DE-7BA2-4213-BD04-64F06A6E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238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2F4C"/>
                </a:solidFill>
              </a:defRPr>
            </a:pPr>
            <a:r>
              <a:rPr sz="1500" b="1">
                <a:solidFill>
                  <a:srgbClr val="142F4C"/>
                </a:solidFill>
              </a:rPr>
              <a:t>Option C: combine internal ownership with targeted specialist validation.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0D7DF7-0BE1-4629-803F-F9D14B70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72050"/>
            <a:ext cx="9191625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FF6E8"/>
          </a:solidFill>
          <a:ln xmlns:a="http://schemas.openxmlformats.org/drawingml/2006/main" w="9525">
            <a:solidFill>
              <a:srgbClr val="E8D1B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CE7C3D-1420-4BF0-A49F-E92767BD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81600"/>
            <a:ext cx="866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42F4C"/>
                </a:solidFill>
              </a:defRPr>
            </a:pPr>
            <a:r>
              <a:rPr sz="1350">
                <a:solidFill>
                  <a:srgbClr val="142F4C"/>
                </a:solidFill>
              </a:rPr>
              <a:t>Trade-off to record: Option B provides the fastest independent capability uplift but creates recurring cost and a handover dependency.</a:t>
            </a:r>
          </a:p>
        </p:txBody>
      </p:sp>
    </p:spTree>
    <p:extLst>
      <p:ext uri="{BB962C8B-B14F-4D97-AF65-F5344CB8AC3E}">
        <p14:creationId xmlns:p14="http://schemas.microsoft.com/office/powerpoint/2010/main" val="117452305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6F6DD5-0492-4931-B7B9-FF473D46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7F568-335A-400B-94AE-CE0B05B2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The first 90 days should establish population, ownership and validate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551322-1779-48D8-A617-93997B94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Sequence the work so early progress creates a reliable control baseline.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C7730-8C72-42BC-940A-C936E15E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E0667-5B6D-48BC-8240-D330A6C8F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D5F2AA-799F-4648-A342-FC4D0AD2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08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3DDFB-49A2-4F34-A055-981CE0999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B1F0F-7E93-414A-90D9-CE2D11BA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FB2D6-77A8-407A-972E-935E7460B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30 days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EDF6A5-E652-4B83-936F-AC1971E9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3F79F-5E22-4DFC-BD41-270849B4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Approve the detection ownership mandate and first evidence cycle.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1022B-CE65-46CE-A80E-DE8E9900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5AEBC1-C9DF-4917-9670-5C84089A2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5052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5D44C1-470A-469F-8CDC-387E7A37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C393F6-276D-4D74-AE23-18F69A42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529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Run the first fixed-cycle detection tuning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A62DA1-2D06-411B-8DDC-80839510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AB3A66B-41A9-4863-9230-057FB8262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0A601C-100B-4C43-BAEA-5A93ED90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60 days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A4E3F5-3717-4552-A733-D34B1B4F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3CA610-00D1-4AA0-AC3B-92BB4956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49C028-61DE-46A2-B052-AB626995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814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6839F9-5447-404E-B10D-1CC7C2D7A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5052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Reconcile role-based awareness coverage.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465389-06CC-4F7F-81E1-B87FBD49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291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B8A3C1-D396-4BCD-9C4E-02F901AF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529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Link incident closure to root cause and control improvement.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4D5691-9F5A-4E35-AFBD-3CF3B4986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2857500" cy="314325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50EEC1D-3F3E-4640-B997-0C9C3640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095500"/>
            <a:ext cx="2857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7C57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1F957D-D795-4978-A73B-676882F4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622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90 days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06B0AA-C604-4133-9103-B9A506D5F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337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70F682F-7052-4954-A74E-0CB8FA1C6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57500"/>
            <a:ext cx="238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72232"/>
                </a:solidFill>
              </a:defRPr>
            </a:pPr>
            <a:r>
              <a:rPr sz="1125">
                <a:solidFill>
                  <a:srgbClr val="172232"/>
                </a:solidFill>
              </a:rPr>
              <a:t>Approve the detection ownership mandate and first evidence cycle.</a:t>
            </a:r>
          </a:p>
        </p:txBody>
      </p:sp>
    </p:spTree>
    <p:extLst>
      <p:ext uri="{BB962C8B-B14F-4D97-AF65-F5344CB8AC3E}">
        <p14:creationId xmlns:p14="http://schemas.microsoft.com/office/powerpoint/2010/main" val="6458850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50E62B-DB7E-4EF6-B4AE-ED22F12B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09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6BF06-F855-4A80-995F-18209F2B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Every action needs an owner, an effectiveness measure and a board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862992-A7EA-4213-84DF-EC89912E0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Accountability is the mechanism that turns advisory judgement into operating change.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69D363-855E-49A1-BBD2-E855BD6F3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A6785-ED8A-4751-BE7B-B6482924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03DD2-6862-4CDB-B16C-8016AF07C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09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2184A2-F6A8-400A-A797-2B4A17CDF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F631E-FF58-4AB1-A6BA-58C79FBF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812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Approve the detection ownership mandate and first evidence cycle.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F32FD3-4580-4724-B784-863612A9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812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Financial Controller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334E6F-7AD7-48BE-A6FA-420419C4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812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30 days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B6FEC3-C9B7-47F0-8838-F3C93CD5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9812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E7080"/>
                </a:solidFill>
              </a:defRPr>
            </a:pPr>
            <a:r>
              <a:rPr sz="1125">
                <a:solidFill>
                  <a:srgbClr val="5E7080"/>
                </a:solidFill>
              </a:rPr>
              <a:t>100% of in-scope access reviewed.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FE5CE1-E20F-40D8-86A2-0AC27272E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1813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43C9CC-D568-44BC-A95F-AC70C7C7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670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A4691-666D-4466-B216-7CC84B14A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Chief Information Officer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B0F0B-4235-4139-80C6-FB40B975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6670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30 days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7C38B3-2C14-4870-A591-5C9AE9673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670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E7080"/>
                </a:solidFill>
              </a:defRPr>
            </a:pPr>
            <a:r>
              <a:rPr sz="1125">
                <a:solidFill>
                  <a:srgbClr val="5E7080"/>
                </a:solidFill>
              </a:rPr>
              <a:t>100% of in-scope access reviewed.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6C30A8-5BA8-433B-905D-671CD341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671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FD59EF-6586-4AB5-AE33-78D99276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Run the first fixed-cycle detection tuning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3BAE32-2D14-45AE-8F19-C1706051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3528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Chief Information Officer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76D9F-0B94-4956-A7A0-35368914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528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30 days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EDC032-74AD-40D9-B372-5B8F3493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528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E7080"/>
                </a:solidFill>
              </a:defRPr>
            </a:pPr>
            <a:r>
              <a:rPr sz="1125">
                <a:solidFill>
                  <a:srgbClr val="5E7080"/>
                </a:solidFill>
              </a:rPr>
              <a:t>100% of in-scope access reviewed.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A72F14-91C7-45F5-A56B-DFE120365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529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F8BC2B-E9A4-473B-A136-70EDB59AE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386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Review segregation-of-duties overrides and expiry.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53C875-AB5D-416A-AE61-009D9A3E1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386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Financial Controller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F72D96-37BB-43FE-87DC-B6B8F7FD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386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30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4BCA56-E54D-409A-BDA1-24C2341B1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386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E7080"/>
                </a:solidFill>
              </a:defRPr>
            </a:pPr>
            <a:r>
              <a:rPr sz="1125">
                <a:solidFill>
                  <a:srgbClr val="5E7080"/>
                </a:solidFill>
              </a:rPr>
              <a:t>100% of in-scope access reviewed.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5E5BE-E337-43C9-8D86-E42FD68C5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21F28F-88CB-4747-8DBF-67ED17D6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244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42F4C"/>
                </a:solidFill>
              </a:defRPr>
            </a:pPr>
            <a:r>
              <a:rPr sz="1275" b="1">
                <a:solidFill>
                  <a:srgbClr val="142F4C"/>
                </a:solidFill>
              </a:rPr>
              <a:t>Reconcile supplier bank-detail changes and add independent verification.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0D4F485-3039-48D9-9D89-4BA09DDD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172232"/>
                </a:solidFill>
              </a:defRPr>
            </a:pPr>
            <a:r>
              <a:rPr sz="1200">
                <a:solidFill>
                  <a:srgbClr val="172232"/>
                </a:solidFill>
              </a:rPr>
              <a:t>Chief Information Officer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445EE1-5981-4CD1-8887-74D31F63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7244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C77B35"/>
                </a:solidFill>
              </a:defRPr>
            </a:pPr>
            <a:r>
              <a:rPr sz="1200" b="1">
                <a:solidFill>
                  <a:srgbClr val="C77B35"/>
                </a:solidFill>
              </a:rPr>
              <a:t>60 days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36654AA-951F-485D-931D-69B487D21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7244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E7080"/>
                </a:solidFill>
              </a:defRPr>
            </a:pPr>
            <a:r>
              <a:rPr sz="1125">
                <a:solidFill>
                  <a:srgbClr val="5E7080"/>
                </a:solidFill>
              </a:rPr>
              <a:t>All active rules reviewed monthly.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EEECAC-B1A5-4974-B317-315638D5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E7080"/>
                </a:solidFill>
              </a:defRPr>
            </a:pPr>
            <a:r>
              <a:rPr sz="1050" b="1">
                <a:solidFill>
                  <a:srgbClr val="5E7080"/>
                </a:solidFill>
              </a:rPr>
              <a:t>Owner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BECE6-D13B-4B89-8285-2931A6DE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954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E7080"/>
                </a:solidFill>
              </a:defRPr>
            </a:pPr>
            <a:r>
              <a:rPr sz="1050" b="1">
                <a:solidFill>
                  <a:srgbClr val="5E7080"/>
                </a:solidFill>
              </a:rPr>
              <a:t>Timing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8FB0DA-A972-477B-BFAA-C63571F9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954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E7080"/>
                </a:solidFill>
              </a:defRPr>
            </a:pPr>
            <a:r>
              <a:rPr sz="1050" b="1">
                <a:solidFill>
                  <a:srgbClr val="5E7080"/>
                </a:solidFill>
              </a:rPr>
              <a:t>Effectiveness measure</a:t>
            </a:r>
          </a:p>
        </p:txBody>
      </p:sp>
    </p:spTree>
    <p:extLst>
      <p:ext uri="{BB962C8B-B14F-4D97-AF65-F5344CB8AC3E}">
        <p14:creationId xmlns:p14="http://schemas.microsoft.com/office/powerpoint/2010/main" val="1784291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4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3CB006-91E7-4244-BAD0-F4F5C5DA6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C77B35"/>
                </a:solidFill>
              </a:defRPr>
            </a:pPr>
            <a:r>
              <a:rPr sz="1050" b="1">
                <a:solidFill>
                  <a:srgbClr val="C77B35"/>
                </a:solidFill>
              </a:rPr>
              <a:t>COMPREHENSIVE REVIEW ·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EE8084-9F85-42F5-A32B-BD67830E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42F4C"/>
                </a:solidFill>
              </a:defRPr>
            </a:pPr>
            <a:r>
              <a:rPr sz="2925" b="1">
                <a:solidFill>
                  <a:srgbClr val="142F4C"/>
                </a:solidFill>
              </a:rPr>
              <a:t>Next checkpoint: review evidence closure and overdue action ageing.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2E00FA-6889-412A-B940-8B099E9D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000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7080"/>
                </a:solidFill>
              </a:defRPr>
            </a:pPr>
            <a:r>
              <a:rPr sz="1350">
                <a:solidFill>
                  <a:srgbClr val="5E7080"/>
                </a:solidFill>
              </a:rPr>
              <a:t>The deliverable is complete when the decision record and proof of operation are both maintained.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E6372D-35A7-467B-9F4E-52A4ACEE5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246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9D0F06-792C-47B9-A089-CA0B8092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MK Fraud Readiness · Comprehensive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4F7D4-7D4D-4BA9-B5A1-6851F2B0D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6438900"/>
            <a:ext cx="685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>
                <a:solidFill>
                  <a:srgbClr val="5E7080"/>
                </a:solidFill>
              </a:defRPr>
            </a:pPr>
            <a:r>
              <a:rPr sz="975">
                <a:solidFill>
                  <a:srgbClr val="5E7080"/>
                </a:solidFill>
              </a:rPr>
              <a:t>10 / 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82F1F-F92E-4BB9-9D53-AF2E0A4FA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71700"/>
            <a:ext cx="9048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42F4C"/>
          </a:solidFill>
          <a:ln xmlns:a="http://schemas.openxmlformats.org/drawingml/2006/main" w="0">
            <a:solidFill>
              <a:srgbClr val="142F4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E164B6-A474-4BA2-8935-8ED580BC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765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C77B35"/>
                </a:solidFill>
              </a:defRPr>
            </a:pPr>
            <a:r>
              <a:rPr sz="1725" b="1">
                <a:solidFill>
                  <a:srgbClr val="C77B35"/>
                </a:solidFill>
              </a:rPr>
              <a:t>Bring four things to the next 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C23CA-E170-40C2-B461-C3A65B33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480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16951-9668-4670-9184-8BA6A3464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718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Completed evidence items with a clear scope statement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A0410E-C2FF-4679-8170-70261E6E0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419E60-976F-4BA5-A141-D64FB7A0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3337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Open action ageing by accountable owner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71A148-C255-4B77-BA10-3B23292D5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7190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913343-65F6-4813-B2ED-D1EA2D02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9570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Effectiveness measures for the highest-priority controls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FCB450-7EC8-42A1-B580-DE074B3C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338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B35"/>
          </a:solidFill>
          <a:ln xmlns:a="http://schemas.openxmlformats.org/drawingml/2006/main" w="0">
            <a:solidFill>
              <a:srgbClr val="C77B3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F5D68-FB18-4EF1-A1D0-453BF49F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57650"/>
            <a:ext cx="762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FFF"/>
                </a:solidFill>
              </a:defRPr>
            </a:pPr>
            <a:r>
              <a:rPr sz="1350">
                <a:solidFill>
                  <a:srgbClr val="FFFFFF"/>
                </a:solidFill>
              </a:rPr>
              <a:t>Explicit residual-risk and escalation decisions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CAA4C1A-0FB2-4407-B774-EC76CEB3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10125"/>
            <a:ext cx="9048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2F4C"/>
                </a:solidFill>
              </a:defRPr>
            </a:pPr>
            <a:r>
              <a:rPr sz="1800" b="1">
                <a:solidFill>
                  <a:srgbClr val="142F4C"/>
                </a:solidFill>
              </a:rPr>
              <a:t>The board should see the decision, the owner, the date and the proof - not a longer register.</a:t>
            </a:r>
          </a:p>
        </p:txBody>
      </p:sp>
    </p:spTree>
    <p:extLst>
      <p:ext uri="{BB962C8B-B14F-4D97-AF65-F5344CB8AC3E}">
        <p14:creationId xmlns:p14="http://schemas.microsoft.com/office/powerpoint/2010/main" val="19489037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2026-08-11T20:49:08.6990000Z</dcterms:created>
  <dcterms:modified xsi:type="dcterms:W3CDTF">2026-08-11T20:49:08.6990000Z</dcterms:modified>
</coreProperties>
</file>