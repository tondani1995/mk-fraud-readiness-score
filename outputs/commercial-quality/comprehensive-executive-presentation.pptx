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b6a1c67c1e046fc" /><Relationship Type="http://schemas.openxmlformats.org/officeDocument/2006/relationships/extended-properties" Target="/docProps/app.xml" Id="R3bbee0cefdbf4b4f" /><Relationship Type="http://schemas.openxmlformats.org/officeDocument/2006/relationships/officeDocument" Target="/ppt/presentation.xml" Id="R9eda788619f24ad2" /></Relationships>
</file>

<file path=ppt/presentation.xml><?xml version="1.0" encoding="utf-8"?>
<p:presentation xmlns:p="http://schemas.openxmlformats.org/presentationml/2006/main">
  <p:sldMasterIdLst>
    <p:sldMasterId xmlns:r="http://schemas.openxmlformats.org/officeDocument/2006/relationships" id="2147483648" r:id="R77e7ed94a8264d84"/>
  </p:sldMasterIdLst>
  <p:notesMasterIdLst>
    <p:notesMasterId xmlns:r="http://schemas.openxmlformats.org/officeDocument/2006/relationships" r:id="Rd4882d21dc2147a9"/>
  </p:notesMasterIdLst>
  <p:sldIdLst>
    <p:sldId xmlns:r="http://schemas.openxmlformats.org/officeDocument/2006/relationships" id="256" r:id="R79f9c2a78e6d4c31"/>
    <p:sldId xmlns:r="http://schemas.openxmlformats.org/officeDocument/2006/relationships" id="257" r:id="R970c988c179d4d62"/>
    <p:sldId xmlns:r="http://schemas.openxmlformats.org/officeDocument/2006/relationships" id="258" r:id="R2031c965482d4ed2"/>
    <p:sldId xmlns:r="http://schemas.openxmlformats.org/officeDocument/2006/relationships" id="259" r:id="R238dddf1ee334316"/>
    <p:sldId xmlns:r="http://schemas.openxmlformats.org/officeDocument/2006/relationships" id="260" r:id="R2c83a6e609e84541"/>
    <p:sldId xmlns:r="http://schemas.openxmlformats.org/officeDocument/2006/relationships" id="261" r:id="R0b9a4342d38d46b5"/>
    <p:sldId xmlns:r="http://schemas.openxmlformats.org/officeDocument/2006/relationships" id="262" r:id="R2bd9ce409a4549fe"/>
    <p:sldId xmlns:r="http://schemas.openxmlformats.org/officeDocument/2006/relationships" id="263" r:id="R70699dfe1a814123"/>
    <p:sldId xmlns:r="http://schemas.openxmlformats.org/officeDocument/2006/relationships" id="264" r:id="R24e046c90b374cfe"/>
    <p:sldId xmlns:r="http://schemas.openxmlformats.org/officeDocument/2006/relationships" id="265" r:id="Re32fc3f964cc46a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492d1a8b73a4b6e" /><Relationship Type="http://schemas.openxmlformats.org/officeDocument/2006/relationships/slideMaster" Target="/ppt/slideMasters/slideMaster1.xml" Id="R77e7ed94a8264d84" /><Relationship Type="http://schemas.openxmlformats.org/officeDocument/2006/relationships/notesMaster" Target="/ppt/notesMasters/notesMaster1.xml" Id="Rd4882d21dc2147a9" /><Relationship Type="http://schemas.openxmlformats.org/officeDocument/2006/relationships/presProps" Target="/ppt/presProps.xml" Id="R263a23b13cab44ed" /><Relationship Type="http://schemas.openxmlformats.org/officeDocument/2006/relationships/tableStyles" Target="/ppt/tableStyles.xml" Id="Re6a6f556ec844dd6" /><Relationship Type="http://schemas.openxmlformats.org/officeDocument/2006/relationships/slide" Target="/ppt/slides/slide1.xml" Id="R79f9c2a78e6d4c31" /><Relationship Type="http://schemas.openxmlformats.org/officeDocument/2006/relationships/slide" Target="/ppt/slides/slide2.xml" Id="R970c988c179d4d62" /><Relationship Type="http://schemas.openxmlformats.org/officeDocument/2006/relationships/slide" Target="/ppt/slides/slide3.xml" Id="R2031c965482d4ed2" /><Relationship Type="http://schemas.openxmlformats.org/officeDocument/2006/relationships/slide" Target="/ppt/slides/slide4.xml" Id="R238dddf1ee334316" /><Relationship Type="http://schemas.openxmlformats.org/officeDocument/2006/relationships/slide" Target="/ppt/slides/slide5.xml" Id="R2c83a6e609e84541" /><Relationship Type="http://schemas.openxmlformats.org/officeDocument/2006/relationships/slide" Target="/ppt/slides/slide6.xml" Id="R0b9a4342d38d46b5" /><Relationship Type="http://schemas.openxmlformats.org/officeDocument/2006/relationships/slide" Target="/ppt/slides/slide7.xml" Id="R2bd9ce409a4549fe" /><Relationship Type="http://schemas.openxmlformats.org/officeDocument/2006/relationships/slide" Target="/ppt/slides/slide8.xml" Id="R70699dfe1a814123" /><Relationship Type="http://schemas.openxmlformats.org/officeDocument/2006/relationships/slide" Target="/ppt/slides/slide9.xml" Id="R24e046c90b374cfe" /><Relationship Type="http://schemas.openxmlformats.org/officeDocument/2006/relationships/slide" Target="/ppt/slides/slide10.xml" Id="Re32fc3f964cc46a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61dce3a1d744f3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8538e095e234c63" /><Relationship Type="http://schemas.openxmlformats.org/officeDocument/2006/relationships/notesMaster" Target="/ppt/notesMasters/notesMaster1.xml" Id="R039ddaffa8a34846" /></Relationships>
</file>

<file path=ppt/notesSlides/_rels/notesSlide2.xml.rels>&#65279;<?xml version="1.0" encoding="utf-8"?><Relationships xmlns="http://schemas.openxmlformats.org/package/2006/relationships"><Relationship Type="http://schemas.openxmlformats.org/officeDocument/2006/relationships/slide" Target="/ppt/slides/slide2.xml" Id="R8147024c9f294152" /><Relationship Type="http://schemas.openxmlformats.org/officeDocument/2006/relationships/notesMaster" Target="/ppt/notesMasters/notesMaster1.xml" Id="Rfdce1442967443cb" /></Relationships>
</file>

<file path=ppt/notesSlides/_rels/notesSlide3.xml.rels>&#65279;<?xml version="1.0" encoding="utf-8"?><Relationships xmlns="http://schemas.openxmlformats.org/package/2006/relationships"><Relationship Type="http://schemas.openxmlformats.org/officeDocument/2006/relationships/slide" Target="/ppt/slides/slide3.xml" Id="Rcaba09a2ef944963" /><Relationship Type="http://schemas.openxmlformats.org/officeDocument/2006/relationships/notesMaster" Target="/ppt/notesMasters/notesMaster1.xml" Id="R781f165de2284a25" /></Relationships>
</file>

<file path=ppt/notesSlides/_rels/notesSlide4.xml.rels>&#65279;<?xml version="1.0" encoding="utf-8"?><Relationships xmlns="http://schemas.openxmlformats.org/package/2006/relationships"><Relationship Type="http://schemas.openxmlformats.org/officeDocument/2006/relationships/slide" Target="/ppt/slides/slide4.xml" Id="R67b92e7f117c4a0a" /><Relationship Type="http://schemas.openxmlformats.org/officeDocument/2006/relationships/notesMaster" Target="/ppt/notesMasters/notesMaster1.xml" Id="R20fade05cb6f4301" /></Relationships>
</file>

<file path=ppt/notesSlides/_rels/notesSlide5.xml.rels>&#65279;<?xml version="1.0" encoding="utf-8"?><Relationships xmlns="http://schemas.openxmlformats.org/package/2006/relationships"><Relationship Type="http://schemas.openxmlformats.org/officeDocument/2006/relationships/slide" Target="/ppt/slides/slide5.xml" Id="Rbd614f730529462b" /><Relationship Type="http://schemas.openxmlformats.org/officeDocument/2006/relationships/notesMaster" Target="/ppt/notesMasters/notesMaster1.xml" Id="Rfc0cc129bc8e4dbd" /></Relationships>
</file>

<file path=ppt/notesSlides/_rels/notesSlide6.xml.rels>&#65279;<?xml version="1.0" encoding="utf-8"?><Relationships xmlns="http://schemas.openxmlformats.org/package/2006/relationships"><Relationship Type="http://schemas.openxmlformats.org/officeDocument/2006/relationships/slide" Target="/ppt/slides/slide6.xml" Id="Rd844674c2f484834" /><Relationship Type="http://schemas.openxmlformats.org/officeDocument/2006/relationships/notesMaster" Target="/ppt/notesMasters/notesMaster1.xml" Id="R4b602d83c9ee4733" /></Relationships>
</file>

<file path=ppt/notesSlides/_rels/notesSlide7.xml.rels>&#65279;<?xml version="1.0" encoding="utf-8"?><Relationships xmlns="http://schemas.openxmlformats.org/package/2006/relationships"><Relationship Type="http://schemas.openxmlformats.org/officeDocument/2006/relationships/slide" Target="/ppt/slides/slide7.xml" Id="R381b0a54ff0a4d63" /><Relationship Type="http://schemas.openxmlformats.org/officeDocument/2006/relationships/notesMaster" Target="/ppt/notesMasters/notesMaster1.xml" Id="Ra4a50f9aa70c4d0b" /></Relationships>
</file>

<file path=ppt/notesSlides/_rels/notesSlide8.xml.rels>&#65279;<?xml version="1.0" encoding="utf-8"?><Relationships xmlns="http://schemas.openxmlformats.org/package/2006/relationships"><Relationship Type="http://schemas.openxmlformats.org/officeDocument/2006/relationships/slide" Target="/ppt/slides/slide8.xml" Id="R1cb95e58ca3341b5" /><Relationship Type="http://schemas.openxmlformats.org/officeDocument/2006/relationships/notesMaster" Target="/ppt/notesMasters/notesMaster1.xml" Id="R5f860b068bc9481d" /></Relationships>
</file>

<file path=ppt/notesSlides/_rels/notesSlide9.xml.rels>&#65279;<?xml version="1.0" encoding="utf-8"?><Relationships xmlns="http://schemas.openxmlformats.org/package/2006/relationships"><Relationship Type="http://schemas.openxmlformats.org/officeDocument/2006/relationships/slide" Target="/ppt/slides/slide9.xml" Id="R0ef71d1ffd4f4bc6" /><Relationship Type="http://schemas.openxmlformats.org/officeDocument/2006/relationships/notesMaster" Target="/ppt/notesMasters/notesMaster1.xml" Id="Rffde5a2744d240b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46959395693415e" /><Relationship Type="http://schemas.openxmlformats.org/officeDocument/2006/relationships/notesMaster" Target="/ppt/notesMasters/notesMaster1.xml" Id="Rbc7a52f0ac1a43c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Source: persisted Kestrel engagement MKORD-2026-7FBBEE23.</a:t>
            </a:r>
          </a:p>
          <a:p xmlns:a="http://schemas.openxmlformats.org/drawingml/2006/main">
            <a:r>
              <a:t>- McKinsey board risk perspective: https://www.mckinsey.com/~/media/mckinsey/dotcom/client_service/risk/working%20papers/18_a_board_perspective_on_enterprise_risk_management.pdf</a:t>
            </a:r>
          </a:p>
          <a:p xmlns:a="http://schemas.openxmlformats.org/drawingml/2006/main">
            <a:r>
              <a:t>- Deloitte fraud risk management: https://www.deloitte.com/ch/en/services/financial-advisory/perspectives/fraud-risk-management-strategic-imperative.html</a:t>
            </a:r>
          </a:p>
          <a:p xmlns:a="http://schemas.openxmlformats.org/drawingml/2006/main">
            <a:r>
              <a:t>- Preserve scope, position, information boundary, owner, date and proof in the annotated register.</a:t>
            </a:r>
          </a:p>
          <a:p xmlns:a="http://schemas.openxmlformats.org/drawingml/2006/main">
            <a:r>
              <a:t>- Scenarios: actor, opportunity, entry point, mechanism, bypassed control, concealment, consequence, warning, containment, long-term response.</a:t>
            </a:r>
          </a:p>
          <a:p xmlns:a="http://schemas.openxmlformats.org/drawingml/2006/main">
            <a:r>
              <a:t>- Controls: What (control objective), Who, Population, Frequency, Evidence retained, Independent check, Escalation, SLA, Effectiveness measure, Failure response.</a:t>
            </a:r>
          </a:p>
          <a:p xmlns:a="http://schemas.openxmlformats.org/drawingml/2006/main">
            <a:r>
              <a:t>- Decisions: three options with cost, benefit, trade-off; recommendation, rationale, rejection reason, owner, deadline.</a:t>
            </a:r>
          </a:p>
          <a:p xmlns:a="http://schemas.openxmlformats.org/drawingml/2006/main">
            <a:r>
              <a:t>- Traceability: annotated register preserves the source chain.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Source: persisted Kestrel engagement MKORD-2026-7FBBEE23.</a:t>
            </a:r>
          </a:p>
          <a:p xmlns:a="http://schemas.openxmlformats.org/drawingml/2006/main">
            <a:r>
              <a:t>- McKinsey board risk perspective: https://www.mckinsey.com/~/media/mckinsey/dotcom/client_service/risk/working%20papers/18_a_board_perspective_on_enterprise_risk_management.pdf</a:t>
            </a:r>
          </a:p>
          <a:p xmlns:a="http://schemas.openxmlformats.org/drawingml/2006/main">
            <a:r>
              <a:t>- Deloitte fraud risk management: https://www.deloitte.com/ch/en/services/financial-advisory/perspectives/fraud-risk-management-strategic-imperative.html</a:t>
            </a:r>
          </a:p>
          <a:p xmlns:a="http://schemas.openxmlformats.org/drawingml/2006/main">
            <a:r>
              <a:t>- Preserve scope, position, information boundary, owner, date and proof in the annotated register.</a:t>
            </a:r>
          </a:p>
          <a:p xmlns:a="http://schemas.openxmlformats.org/drawingml/2006/main">
            <a:r>
              <a:t>- Scenarios: actor, opportunity, entry point, mechanism, bypassed control, concealment, consequence, warning, containment, long-term response.</a:t>
            </a:r>
          </a:p>
          <a:p xmlns:a="http://schemas.openxmlformats.org/drawingml/2006/main">
            <a:r>
              <a:t>- Controls: What (control objective), Who, Population, Frequency, Evidence retained, Independent check, Escalation, SLA, Effectiveness measure, Failure response.</a:t>
            </a:r>
          </a:p>
          <a:p xmlns:a="http://schemas.openxmlformats.org/drawingml/2006/main">
            <a:r>
              <a:t>- Decisions: three options with cost, benefit, trade-off; recommendation, rationale, rejection reason, owner, deadline.</a:t>
            </a:r>
          </a:p>
          <a:p xmlns:a="http://schemas.openxmlformats.org/drawingml/2006/main">
            <a:r>
              <a:t>- Traceability: annotated register preserves the source chain.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Source: persisted Kestrel engagement MKORD-2026-7FBBEE23.</a:t>
            </a:r>
          </a:p>
          <a:p xmlns:a="http://schemas.openxmlformats.org/drawingml/2006/main">
            <a:r>
              <a:t>- McKinsey board risk perspective: https://www.mckinsey.com/~/media/mckinsey/dotcom/client_service/risk/working%20papers/18_a_board_perspective_on_enterprise_risk_management.pdf</a:t>
            </a:r>
          </a:p>
          <a:p xmlns:a="http://schemas.openxmlformats.org/drawingml/2006/main">
            <a:r>
              <a:t>- Deloitte fraud risk management: https://www.deloitte.com/ch/en/services/financial-advisory/perspectives/fraud-risk-management-strategic-imperative.html</a:t>
            </a:r>
          </a:p>
          <a:p xmlns:a="http://schemas.openxmlformats.org/drawingml/2006/main">
            <a:r>
              <a:t>- Preserve scope, position, information boundary, owner, date and proof in the annotated register.</a:t>
            </a:r>
          </a:p>
          <a:p xmlns:a="http://schemas.openxmlformats.org/drawingml/2006/main">
            <a:r>
              <a:t>- Scenarios: actor, opportunity, entry point, mechanism, bypassed control, concealment, consequence, warning, containment, long-term response.</a:t>
            </a:r>
          </a:p>
          <a:p xmlns:a="http://schemas.openxmlformats.org/drawingml/2006/main">
            <a:r>
              <a:t>- Controls: What (control objective), Who, Population, Frequency, Evidence retained, Independent check, Escalation, SLA, Effectiveness measure, Failure response.</a:t>
            </a:r>
          </a:p>
          <a:p xmlns:a="http://schemas.openxmlformats.org/drawingml/2006/main">
            <a:r>
              <a:t>- Decisions: three options with cost, benefit, trade-off; recommendation, rationale, rejection reason, owner, deadline.</a:t>
            </a:r>
          </a:p>
          <a:p xmlns:a="http://schemas.openxmlformats.org/drawingml/2006/main">
            <a:r>
              <a:t>- Traceability: annotated register preserves the source chain.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Source: persisted Kestrel engagement MKORD-2026-7FBBEE23.</a:t>
            </a:r>
          </a:p>
          <a:p xmlns:a="http://schemas.openxmlformats.org/drawingml/2006/main">
            <a:r>
              <a:t>- McKinsey board risk perspective: https://www.mckinsey.com/~/media/mckinsey/dotcom/client_service/risk/working%20papers/18_a_board_perspective_on_enterprise_risk_management.pdf</a:t>
            </a:r>
          </a:p>
          <a:p xmlns:a="http://schemas.openxmlformats.org/drawingml/2006/main">
            <a:r>
              <a:t>- Deloitte fraud risk management: https://www.deloitte.com/ch/en/services/financial-advisory/perspectives/fraud-risk-management-strategic-imperative.html</a:t>
            </a:r>
          </a:p>
          <a:p xmlns:a="http://schemas.openxmlformats.org/drawingml/2006/main">
            <a:r>
              <a:t>- Preserve scope, position, information boundary, owner, date and proof in the annotated register.</a:t>
            </a:r>
          </a:p>
          <a:p xmlns:a="http://schemas.openxmlformats.org/drawingml/2006/main">
            <a:r>
              <a:t>- Scenarios: actor, opportunity, entry point, mechanism, bypassed control, concealment, consequence, warning, containment, long-term response.</a:t>
            </a:r>
          </a:p>
          <a:p xmlns:a="http://schemas.openxmlformats.org/drawingml/2006/main">
            <a:r>
              <a:t>- Controls: What (control objective), Who, Population, Frequency, Evidence retained, Independent check, Escalation, SLA, Effectiveness measure, Failure response.</a:t>
            </a:r>
          </a:p>
          <a:p xmlns:a="http://schemas.openxmlformats.org/drawingml/2006/main">
            <a:r>
              <a:t>- Decisions: three options with cost, benefit, trade-off; recommendation, rationale, rejection reason, owner, deadline.</a:t>
            </a:r>
          </a:p>
          <a:p xmlns:a="http://schemas.openxmlformats.org/drawingml/2006/main">
            <a:r>
              <a:t>- Traceability: annotated register preserves the source chain.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Source: persisted Kestrel engagement MKORD-2026-7FBBEE23.</a:t>
            </a:r>
          </a:p>
          <a:p xmlns:a="http://schemas.openxmlformats.org/drawingml/2006/main">
            <a:r>
              <a:t>- McKinsey board risk perspective: https://www.mckinsey.com/~/media/mckinsey/dotcom/client_service/risk/working%20papers/18_a_board_perspective_on_enterprise_risk_management.pdf</a:t>
            </a:r>
          </a:p>
          <a:p xmlns:a="http://schemas.openxmlformats.org/drawingml/2006/main">
            <a:r>
              <a:t>- Deloitte fraud risk management: https://www.deloitte.com/ch/en/services/financial-advisory/perspectives/fraud-risk-management-strategic-imperative.html</a:t>
            </a:r>
          </a:p>
          <a:p xmlns:a="http://schemas.openxmlformats.org/drawingml/2006/main">
            <a:r>
              <a:t>- Preserve scope, position, information boundary, owner, date and proof in the annotated register.</a:t>
            </a:r>
          </a:p>
          <a:p xmlns:a="http://schemas.openxmlformats.org/drawingml/2006/main">
            <a:r>
              <a:t>- Scenarios: actor, opportunity, entry point, mechanism, bypassed control, concealment, consequence, warning, containment, long-term response.</a:t>
            </a:r>
          </a:p>
          <a:p xmlns:a="http://schemas.openxmlformats.org/drawingml/2006/main">
            <a:r>
              <a:t>- Controls: What (control objective), Who, Population, Frequency, Evidence retained, Independent check, Escalation, SLA, Effectiveness measure, Failure response.</a:t>
            </a:r>
          </a:p>
          <a:p xmlns:a="http://schemas.openxmlformats.org/drawingml/2006/main">
            <a:r>
              <a:t>- Decisions: three options with cost, benefit, trade-off; recommendation, rationale, rejection reason, owner, deadline.</a:t>
            </a:r>
          </a:p>
          <a:p xmlns:a="http://schemas.openxmlformats.org/drawingml/2006/main">
            <a:r>
              <a:t>- Traceability: annotated register preserves the source chain.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Source: persisted Kestrel engagement MKORD-2026-7FBBEE23.</a:t>
            </a:r>
          </a:p>
          <a:p xmlns:a="http://schemas.openxmlformats.org/drawingml/2006/main">
            <a:r>
              <a:t>- McKinsey board risk perspective: https://www.mckinsey.com/~/media/mckinsey/dotcom/client_service/risk/working%20papers/18_a_board_perspective_on_enterprise_risk_management.pdf</a:t>
            </a:r>
          </a:p>
          <a:p xmlns:a="http://schemas.openxmlformats.org/drawingml/2006/main">
            <a:r>
              <a:t>- Deloitte fraud risk management: https://www.deloitte.com/ch/en/services/financial-advisory/perspectives/fraud-risk-management-strategic-imperative.html</a:t>
            </a:r>
          </a:p>
          <a:p xmlns:a="http://schemas.openxmlformats.org/drawingml/2006/main">
            <a:r>
              <a:t>- Preserve scope, position, information boundary, owner, date and proof in the annotated register.</a:t>
            </a:r>
          </a:p>
          <a:p xmlns:a="http://schemas.openxmlformats.org/drawingml/2006/main">
            <a:r>
              <a:t>- Scenarios: actor, opportunity, entry point, mechanism, bypassed control, concealment, consequence, warning, containment, long-term response.</a:t>
            </a:r>
          </a:p>
          <a:p xmlns:a="http://schemas.openxmlformats.org/drawingml/2006/main">
            <a:r>
              <a:t>- Controls: What (control objective), Who, Population, Frequency, Evidence retained, Independent check, Escalation, SLA, Effectiveness measure, Failure response.</a:t>
            </a:r>
          </a:p>
          <a:p xmlns:a="http://schemas.openxmlformats.org/drawingml/2006/main">
            <a:r>
              <a:t>- Decisions: three options with cost, benefit, trade-off; recommendation, rationale, rejection reason, owner, deadline.</a:t>
            </a:r>
          </a:p>
          <a:p xmlns:a="http://schemas.openxmlformats.org/drawingml/2006/main">
            <a:r>
              <a:t>- Traceability: annotated register preserves the source chain.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Source: persisted Kestrel engagement MKORD-2026-7FBBEE23.</a:t>
            </a:r>
          </a:p>
          <a:p xmlns:a="http://schemas.openxmlformats.org/drawingml/2006/main">
            <a:r>
              <a:t>- McKinsey board risk perspective: https://www.mckinsey.com/~/media/mckinsey/dotcom/client_service/risk/working%20papers/18_a_board_perspective_on_enterprise_risk_management.pdf</a:t>
            </a:r>
          </a:p>
          <a:p xmlns:a="http://schemas.openxmlformats.org/drawingml/2006/main">
            <a:r>
              <a:t>- Deloitte fraud risk management: https://www.deloitte.com/ch/en/services/financial-advisory/perspectives/fraud-risk-management-strategic-imperative.html</a:t>
            </a:r>
          </a:p>
          <a:p xmlns:a="http://schemas.openxmlformats.org/drawingml/2006/main">
            <a:r>
              <a:t>- Preserve scope, position, information boundary, owner, date and proof in the annotated register.</a:t>
            </a:r>
          </a:p>
          <a:p xmlns:a="http://schemas.openxmlformats.org/drawingml/2006/main">
            <a:r>
              <a:t>- Scenarios: actor, opportunity, entry point, mechanism, bypassed control, concealment, consequence, warning, containment, long-term response.</a:t>
            </a:r>
          </a:p>
          <a:p xmlns:a="http://schemas.openxmlformats.org/drawingml/2006/main">
            <a:r>
              <a:t>- Controls: What (control objective), Who, Population, Frequency, Evidence retained, Independent check, Escalation, SLA, Effectiveness measure, Failure response.</a:t>
            </a:r>
          </a:p>
          <a:p xmlns:a="http://schemas.openxmlformats.org/drawingml/2006/main">
            <a:r>
              <a:t>- Decisions: three options with cost, benefit, trade-off; recommendation, rationale, rejection reason, owner, deadline.</a:t>
            </a:r>
          </a:p>
          <a:p xmlns:a="http://schemas.openxmlformats.org/drawingml/2006/main">
            <a:r>
              <a:t>- Traceability: annotated register preserves the source chain.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Source: persisted Kestrel engagement MKORD-2026-7FBBEE23.</a:t>
            </a:r>
          </a:p>
          <a:p xmlns:a="http://schemas.openxmlformats.org/drawingml/2006/main">
            <a:r>
              <a:t>- McKinsey board risk perspective: https://www.mckinsey.com/~/media/mckinsey/dotcom/client_service/risk/working%20papers/18_a_board_perspective_on_enterprise_risk_management.pdf</a:t>
            </a:r>
          </a:p>
          <a:p xmlns:a="http://schemas.openxmlformats.org/drawingml/2006/main">
            <a:r>
              <a:t>- Deloitte fraud risk management: https://www.deloitte.com/ch/en/services/financial-advisory/perspectives/fraud-risk-management-strategic-imperative.html</a:t>
            </a:r>
          </a:p>
          <a:p xmlns:a="http://schemas.openxmlformats.org/drawingml/2006/main">
            <a:r>
              <a:t>- Preserve scope, position, information boundary, owner, date and proof in the annotated register.</a:t>
            </a:r>
          </a:p>
          <a:p xmlns:a="http://schemas.openxmlformats.org/drawingml/2006/main">
            <a:r>
              <a:t>- Scenarios: actor, opportunity, entry point, mechanism, bypassed control, concealment, consequence, warning, containment, long-term response.</a:t>
            </a:r>
          </a:p>
          <a:p xmlns:a="http://schemas.openxmlformats.org/drawingml/2006/main">
            <a:r>
              <a:t>- Controls: What (control objective), Who, Population, Frequency, Evidence retained, Independent check, Escalation, SLA, Effectiveness measure, Failure response.</a:t>
            </a:r>
          </a:p>
          <a:p xmlns:a="http://schemas.openxmlformats.org/drawingml/2006/main">
            <a:r>
              <a:t>- Decisions: three options with cost, benefit, trade-off; recommendation, rationale, rejection reason, owner, deadline.</a:t>
            </a:r>
          </a:p>
          <a:p xmlns:a="http://schemas.openxmlformats.org/drawingml/2006/main">
            <a:r>
              <a:t>- Traceability: annotated register preserves the source chain.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Source: persisted Kestrel engagement MKORD-2026-7FBBEE23.</a:t>
            </a:r>
          </a:p>
          <a:p xmlns:a="http://schemas.openxmlformats.org/drawingml/2006/main">
            <a:r>
              <a:t>- McKinsey board risk perspective: https://www.mckinsey.com/~/media/mckinsey/dotcom/client_service/risk/working%20papers/18_a_board_perspective_on_enterprise_risk_management.pdf</a:t>
            </a:r>
          </a:p>
          <a:p xmlns:a="http://schemas.openxmlformats.org/drawingml/2006/main">
            <a:r>
              <a:t>- Deloitte fraud risk management: https://www.deloitte.com/ch/en/services/financial-advisory/perspectives/fraud-risk-management-strategic-imperative.html</a:t>
            </a:r>
          </a:p>
          <a:p xmlns:a="http://schemas.openxmlformats.org/drawingml/2006/main">
            <a:r>
              <a:t>- Preserve scope, position, information boundary, owner, date and proof in the annotated register.</a:t>
            </a:r>
          </a:p>
          <a:p xmlns:a="http://schemas.openxmlformats.org/drawingml/2006/main">
            <a:r>
              <a:t>- Scenarios: actor, opportunity, entry point, mechanism, bypassed control, concealment, consequence, warning, containment, long-term response.</a:t>
            </a:r>
          </a:p>
          <a:p xmlns:a="http://schemas.openxmlformats.org/drawingml/2006/main">
            <a:r>
              <a:t>- Controls: What (control objective), Who, Population, Frequency, Evidence retained, Independent check, Escalation, SLA, Effectiveness measure, Failure response.</a:t>
            </a:r>
          </a:p>
          <a:p xmlns:a="http://schemas.openxmlformats.org/drawingml/2006/main">
            <a:r>
              <a:t>- Decisions: three options with cost, benefit, trade-off; recommendation, rationale, rejection reason, owner, deadline.</a:t>
            </a:r>
          </a:p>
          <a:p xmlns:a="http://schemas.openxmlformats.org/drawingml/2006/main">
            <a:r>
              <a:t>- Traceability: annotated register preserves the source chain.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Source: persisted Kestrel engagement MKORD-2026-7FBBEE23.</a:t>
            </a:r>
          </a:p>
          <a:p xmlns:a="http://schemas.openxmlformats.org/drawingml/2006/main">
            <a:r>
              <a:t>- McKinsey board risk perspective: https://www.mckinsey.com/~/media/mckinsey/dotcom/client_service/risk/working%20papers/18_a_board_perspective_on_enterprise_risk_management.pdf</a:t>
            </a:r>
          </a:p>
          <a:p xmlns:a="http://schemas.openxmlformats.org/drawingml/2006/main">
            <a:r>
              <a:t>- Deloitte fraud risk management: https://www.deloitte.com/ch/en/services/financial-advisory/perspectives/fraud-risk-management-strategic-imperative.html</a:t>
            </a:r>
          </a:p>
          <a:p xmlns:a="http://schemas.openxmlformats.org/drawingml/2006/main">
            <a:r>
              <a:t>- Preserve scope, position, information boundary, owner, date and proof in the annotated register.</a:t>
            </a:r>
          </a:p>
          <a:p xmlns:a="http://schemas.openxmlformats.org/drawingml/2006/main">
            <a:r>
              <a:t>- Scenarios: actor, opportunity, entry point, mechanism, bypassed control, concealment, consequence, warning, containment, long-term response.</a:t>
            </a:r>
          </a:p>
          <a:p xmlns:a="http://schemas.openxmlformats.org/drawingml/2006/main">
            <a:r>
              <a:t>- Controls: What (control objective), Who, Population, Frequency, Evidence retained, Independent check, Escalation, SLA, Effectiveness measure, Failure response.</a:t>
            </a:r>
          </a:p>
          <a:p xmlns:a="http://schemas.openxmlformats.org/drawingml/2006/main">
            <a:r>
              <a:t>- Decisions: three options with cost, benefit, trade-off; recommendation, rationale, rejection reason, owner, deadline.</a:t>
            </a:r>
          </a:p>
          <a:p xmlns:a="http://schemas.openxmlformats.org/drawingml/2006/main">
            <a:r>
              <a:t>- Traceability: annotated register preserves the source chain.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4e9783c94f146a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79430e308144446" /><Relationship Type="http://schemas.openxmlformats.org/officeDocument/2006/relationships/slideLayout" Target="/ppt/slideLayouts/slideLayout1.xml" Id="R19e622f7bf7f430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9e622f7bf7f430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a8e9a79cdb7473f" /><Relationship Type="http://schemas.openxmlformats.org/officeDocument/2006/relationships/notesSlide" Target="/ppt/notesSlides/notesSlide1.xml" Id="Rceff34a21915434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99aaaf8b1244acc" /><Relationship Type="http://schemas.openxmlformats.org/officeDocument/2006/relationships/notesSlide" Target="/ppt/notesSlides/notesSlide2.xml" Id="R4310eaed4da249e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3b9b5b67f0e40ee" /><Relationship Type="http://schemas.openxmlformats.org/officeDocument/2006/relationships/notesSlide" Target="/ppt/notesSlides/notesSlide3.xml" Id="Rc93fb7f6947a4f4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b66c95c0f2f403f" /><Relationship Type="http://schemas.openxmlformats.org/officeDocument/2006/relationships/notesSlide" Target="/ppt/notesSlides/notesSlide4.xml" Id="R655fab1bcf8c45a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5136e5fb08543d1" /><Relationship Type="http://schemas.openxmlformats.org/officeDocument/2006/relationships/notesSlide" Target="/ppt/notesSlides/notesSlide5.xml" Id="R270bfaed98594de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68b9a20833a46a6" /><Relationship Type="http://schemas.openxmlformats.org/officeDocument/2006/relationships/notesSlide" Target="/ppt/notesSlides/notesSlide6.xml" Id="Rd06ca4cd3845442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0bf3077e5854430" /><Relationship Type="http://schemas.openxmlformats.org/officeDocument/2006/relationships/notesSlide" Target="/ppt/notesSlides/notesSlide7.xml" Id="Rd0af804aff6d447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f7297bb446340ff" /><Relationship Type="http://schemas.openxmlformats.org/officeDocument/2006/relationships/notesSlide" Target="/ppt/notesSlides/notesSlide8.xml" Id="Rd8a1feca4d044c9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b6c9d5a4aab4376" /><Relationship Type="http://schemas.openxmlformats.org/officeDocument/2006/relationships/notesSlide" Target="/ppt/notesSlides/notesSlide9.xml" Id="Ra0b255acb6bf4b8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f5a328d29314e8a" /><Relationship Type="http://schemas.openxmlformats.org/officeDocument/2006/relationships/notesSlide" Target="/ppt/notesSlides/notesSlide10.xml" Id="Re8e22265569844e5" /></Relationships>
</file>

<file path=ppt/slides/slide1.xml><?xml version="1.0" encoding="utf-8"?>
<p:sld xmlns:p="http://schemas.openxmlformats.org/presentationml/2006/main">
  <p:cSld>
    <p:bg>
      <p:bgPr>
        <a:solidFill xmlns:a="http://schemas.openxmlformats.org/drawingml/2006/main">
          <a:srgbClr val="142F4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9230606-D8AD-4B5E-A525-034C6C6ACF1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C9A227"/>
          </a:solidFill>
          <a:ln xmlns:a="http://schemas.openxmlformats.org/drawingml/2006/main" w="0">
            <a:solidFill>
              <a:srgbClr val="C9A227"/>
            </a:solidFill>
            <a:prstDash val="solid"/>
          </a:ln>
        </p:spPr>
      </p:sp>
      <p:sp>
        <p:nvSpPr>
          <p:cNvPr id="2" name="">
            <a:extLst xmlns:a="http://schemas.openxmlformats.org/drawingml/2006/main">
              <a:ext uri="{FF2B5EF4-FFF2-40B4-BE49-F238E27FC236}">
                <a16:creationId xmlns:a16="http://schemas.microsoft.com/office/drawing/2014/main" id="{6E2DD84F-B18A-48E8-9AAB-433C4DCE9E89}"/>
              </a:ext>
            </a:extLst>
          </p:cNvPr>
          <p:cNvSpPr>
            <a:spLocks xmlns:a="http://schemas.openxmlformats.org/drawingml/2006/main" noGrp="1"/>
          </p:cNvSpPr>
          <p:nvPr/>
        </p:nvSpPr>
        <p:spPr>
          <a:xfrm xmlns:a="http://schemas.openxmlformats.org/drawingml/2006/main">
            <a:off x="838200" y="87630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D9E1E7"/>
                </a:solidFill>
              </a:defRPr>
            </a:pPr>
            <a:r>
              <a:rPr sz="1200" b="1">
                <a:solidFill>
                  <a:srgbClr val="D9E1E7"/>
                </a:solidFill>
              </a:rPr>
              <a:t>MK FRAUD READINESS</a:t>
            </a:r>
          </a:p>
        </p:txBody>
      </p:sp>
      <p:sp>
        <p:nvSpPr>
          <p:cNvPr id="3" name="">
            <a:extLst xmlns:a="http://schemas.openxmlformats.org/drawingml/2006/main">
              <a:ext uri="{FF2B5EF4-FFF2-40B4-BE49-F238E27FC236}">
                <a16:creationId xmlns:a16="http://schemas.microsoft.com/office/drawing/2014/main" id="{9260D5A4-12C3-4983-A8E8-2760348EDAE9}"/>
              </a:ext>
            </a:extLst>
          </p:cNvPr>
          <p:cNvSpPr>
            <a:spLocks xmlns:a="http://schemas.openxmlformats.org/drawingml/2006/main" noGrp="1"/>
          </p:cNvSpPr>
          <p:nvPr/>
        </p:nvSpPr>
        <p:spPr>
          <a:xfrm xmlns:a="http://schemas.openxmlformats.org/drawingml/2006/main">
            <a:off x="838200" y="1790700"/>
            <a:ext cx="8572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750" b="1">
                <a:solidFill>
                  <a:srgbClr val="FFFFFF"/>
                </a:solidFill>
              </a:defRPr>
            </a:pPr>
            <a:r>
              <a:rPr sz="3750" b="1">
                <a:solidFill>
                  <a:srgbClr val="FFFFFF"/>
                </a:solidFill>
              </a:rPr>
              <a:t>The target-state blueprint turns a diagnostic into a management decision record.</a:t>
            </a:r>
          </a:p>
        </p:txBody>
      </p:sp>
      <p:sp>
        <p:nvSpPr>
          <p:cNvPr id="4" name="">
            <a:extLst xmlns:a="http://schemas.openxmlformats.org/drawingml/2006/main">
              <a:ext uri="{FF2B5EF4-FFF2-40B4-BE49-F238E27FC236}">
                <a16:creationId xmlns:a16="http://schemas.microsoft.com/office/drawing/2014/main" id="{259E2981-3086-4861-9279-71A6C5F9E4E2}"/>
              </a:ext>
            </a:extLst>
          </p:cNvPr>
          <p:cNvSpPr>
            <a:spLocks xmlns:a="http://schemas.openxmlformats.org/drawingml/2006/main" noGrp="1"/>
          </p:cNvSpPr>
          <p:nvPr/>
        </p:nvSpPr>
        <p:spPr>
          <a:xfrm xmlns:a="http://schemas.openxmlformats.org/drawingml/2006/main">
            <a:off x="857250" y="4095750"/>
            <a:ext cx="6096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a:solidFill>
                  <a:srgbClr val="D9E1E7"/>
                </a:solidFill>
              </a:defRPr>
            </a:pPr>
            <a:r>
              <a:rPr sz="1650">
                <a:solidFill>
                  <a:srgbClr val="D9E1E7"/>
                </a:solidFill>
              </a:rPr>
              <a:t>Kestrel Industrial Supply (Pty) Ltd</a:t>
            </a:r>
          </a:p>
          <a:p xmlns:a="http://schemas.openxmlformats.org/drawingml/2006/main">
            <a:pPr>
              <a:defRPr sz="1650">
                <a:solidFill>
                  <a:srgbClr val="D9E1E7"/>
                </a:solidFill>
              </a:defRPr>
            </a:pPr>
            <a:r>
              <a:rPr sz="1650">
                <a:solidFill>
                  <a:srgbClr val="D9E1E7"/>
                </a:solidFill>
              </a:rPr>
              <a:t>Comprehensive review · strategic design engagement</a:t>
            </a:r>
          </a:p>
        </p:txBody>
      </p:sp>
      <p:sp>
        <p:nvSpPr>
          <p:cNvPr id="5" name="">
            <a:extLst xmlns:a="http://schemas.openxmlformats.org/drawingml/2006/main">
              <a:ext uri="{FF2B5EF4-FFF2-40B4-BE49-F238E27FC236}">
                <a16:creationId xmlns:a16="http://schemas.microsoft.com/office/drawing/2014/main" id="{D41B472E-6489-4EF4-83A2-0D8AD6D0D4E1}"/>
              </a:ext>
            </a:extLst>
          </p:cNvPr>
          <p:cNvSpPr>
            <a:spLocks xmlns:a="http://schemas.openxmlformats.org/drawingml/2006/main" noGrp="1"/>
          </p:cNvSpPr>
          <p:nvPr/>
        </p:nvSpPr>
        <p:spPr>
          <a:xfrm xmlns:a="http://schemas.openxmlformats.org/drawingml/2006/main">
            <a:off x="857250" y="56197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D9E1E7"/>
                </a:solidFill>
              </a:defRPr>
            </a:pPr>
            <a:r>
              <a:rPr sz="1200">
                <a:solidFill>
                  <a:srgbClr val="D9E1E7"/>
                </a:solidFill>
              </a:rPr>
              <a:t>Named reviewer: Named review lead</a:t>
            </a:r>
          </a:p>
        </p:txBody>
      </p:sp>
      <p:sp>
        <p:nvSpPr>
          <p:cNvPr id="6" name="">
            <a:extLst xmlns:a="http://schemas.openxmlformats.org/drawingml/2006/main">
              <a:ext uri="{FF2B5EF4-FFF2-40B4-BE49-F238E27FC236}">
                <a16:creationId xmlns:a16="http://schemas.microsoft.com/office/drawing/2014/main" id="{FF64BB82-AE3B-497F-B095-405BD1437B96}"/>
              </a:ext>
            </a:extLst>
          </p:cNvPr>
          <p:cNvSpPr>
            <a:spLocks xmlns:a="http://schemas.openxmlformats.org/drawingml/2006/main" noGrp="1"/>
          </p:cNvSpPr>
          <p:nvPr/>
        </p:nvSpPr>
        <p:spPr>
          <a:xfrm xmlns:a="http://schemas.openxmlformats.org/drawingml/2006/main">
            <a:off x="8858250" y="57150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C9A227"/>
                </a:solidFill>
              </a:defRPr>
            </a:pPr>
            <a:r>
              <a:rPr sz="975" b="1">
                <a:solidFill>
                  <a:srgbClr val="C9A227"/>
                </a:solidFill>
              </a:rPr>
              <a:t>CONFIDENTIAL · DECISION SUPPORT</a:t>
            </a:r>
          </a:p>
        </p:txBody>
      </p:sp>
    </p:spTree>
    <p:extLst>
      <p:ext uri="{BB962C8B-B14F-4D97-AF65-F5344CB8AC3E}">
        <p14:creationId xmlns:p14="http://schemas.microsoft.com/office/powerpoint/2010/main" val="1120665951"/>
      </p:ext>
    </p:extLst>
  </p:cSld>
</p:sld>
</file>

<file path=ppt/slides/slide2.xml><?xml version="1.0" encoding="utf-8"?>
<p:sld xmlns:p="http://schemas.openxmlformats.org/presentationml/2006/main">
  <p:cSld>
    <p:bg>
      <p:bgPr>
        <a:solidFill xmlns:a="http://schemas.openxmlformats.org/drawingml/2006/main">
          <a:srgbClr val="FBF9F5"/>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A203B178-5B12-4BAC-8834-93B2EC6C4CDB}"/>
              </a:ext>
            </a:extLst>
          </p:cNvPr>
          <p:cNvSpPr>
            <a:spLocks xmlns:a="http://schemas.openxmlformats.org/drawingml/2006/main" noGrp="1"/>
          </p:cNvSpPr>
          <p:nvPr/>
        </p:nvSpPr>
        <p:spPr>
          <a:xfrm xmlns:a="http://schemas.openxmlformats.org/drawingml/2006/main">
            <a:off x="685800" y="4000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C9A227"/>
                </a:solidFill>
              </a:defRPr>
            </a:pPr>
            <a:r>
              <a:rPr sz="1050" b="1">
                <a:solidFill>
                  <a:srgbClr val="C9A227"/>
                </a:solidFill>
              </a:rPr>
              <a:t>COMPREHENSIVE REVIEW · 02</a:t>
            </a:r>
          </a:p>
        </p:txBody>
      </p:sp>
      <p:sp>
        <p:nvSpPr>
          <p:cNvPr id="2" name="">
            <a:extLst xmlns:a="http://schemas.openxmlformats.org/drawingml/2006/main">
              <a:ext uri="{FF2B5EF4-FFF2-40B4-BE49-F238E27FC236}">
                <a16:creationId xmlns:a16="http://schemas.microsoft.com/office/drawing/2014/main" id="{03E848D8-2683-4D38-8CC1-EAEB1ADC47DC}"/>
              </a:ext>
            </a:extLst>
          </p:cNvPr>
          <p:cNvSpPr>
            <a:spLocks xmlns:a="http://schemas.openxmlformats.org/drawingml/2006/main" noGrp="1"/>
          </p:cNvSpPr>
          <p:nvPr/>
        </p:nvSpPr>
        <p:spPr>
          <a:xfrm xmlns:a="http://schemas.openxmlformats.org/drawingml/2006/main">
            <a:off x="685800" y="723900"/>
            <a:ext cx="1028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925" b="1">
                <a:solidFill>
                  <a:srgbClr val="142F4C"/>
                </a:solidFill>
              </a:defRPr>
            </a:pPr>
            <a:r>
              <a:rPr sz="2925" b="1">
                <a:solidFill>
                  <a:srgbClr val="142F4C"/>
                </a:solidFill>
              </a:rPr>
              <a:t>The recorded position is developing; reliance is narrower than the score.</a:t>
            </a:r>
          </a:p>
        </p:txBody>
      </p:sp>
      <p:sp>
        <p:nvSpPr>
          <p:cNvPr id="3" name="">
            <a:extLst xmlns:a="http://schemas.openxmlformats.org/drawingml/2006/main">
              <a:ext uri="{FF2B5EF4-FFF2-40B4-BE49-F238E27FC236}">
                <a16:creationId xmlns:a16="http://schemas.microsoft.com/office/drawing/2014/main" id="{A22B4B13-EA77-4717-927B-9965D0B661E4}"/>
              </a:ext>
            </a:extLst>
          </p:cNvPr>
          <p:cNvSpPr>
            <a:spLocks xmlns:a="http://schemas.openxmlformats.org/drawingml/2006/main" noGrp="1"/>
          </p:cNvSpPr>
          <p:nvPr/>
        </p:nvSpPr>
        <p:spPr>
          <a:xfrm xmlns:a="http://schemas.openxmlformats.org/drawingml/2006/main">
            <a:off x="685800" y="1562100"/>
            <a:ext cx="1000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5A6B7C"/>
                </a:solidFill>
              </a:defRPr>
            </a:pPr>
            <a:r>
              <a:rPr sz="1350">
                <a:solidFill>
                  <a:srgbClr val="5A6B7C"/>
                </a:solidFill>
              </a:rPr>
              <a:t>Separate the deterministic result from the information boundary.</a:t>
            </a:r>
          </a:p>
        </p:txBody>
      </p:sp>
      <p:sp>
        <p:nvSpPr>
          <p:cNvPr id="4" name="">
            <a:extLst xmlns:a="http://schemas.openxmlformats.org/drawingml/2006/main">
              <a:ext uri="{FF2B5EF4-FFF2-40B4-BE49-F238E27FC236}">
                <a16:creationId xmlns:a16="http://schemas.microsoft.com/office/drawing/2014/main" id="{D7C4F327-6F74-401F-9DB2-7BBFC8E24B77}"/>
              </a:ext>
            </a:extLst>
          </p:cNvPr>
          <p:cNvSpPr>
            <a:spLocks xmlns:a="http://schemas.openxmlformats.org/drawingml/2006/main" noGrp="1"/>
          </p:cNvSpPr>
          <p:nvPr/>
        </p:nvSpPr>
        <p:spPr>
          <a:xfrm xmlns:a="http://schemas.openxmlformats.org/drawingml/2006/main">
            <a:off x="685800" y="6324600"/>
            <a:ext cx="10820400" cy="0"/>
          </a:xfrm>
          <a:prstGeom xmlns:a="http://schemas.openxmlformats.org/drawingml/2006/main" prst="line">
            <a:avLst/>
          </a:prstGeom>
          <a:noFill xmlns:a="http://schemas.openxmlformats.org/drawingml/2006/main"/>
          <a:ln xmlns:a="http://schemas.openxmlformats.org/drawingml/2006/main" w="9525">
            <a:solidFill>
              <a:srgbClr val="D9E1E7"/>
            </a:solidFill>
            <a:prstDash val="solid"/>
          </a:ln>
        </p:spPr>
      </p:sp>
      <p:sp>
        <p:nvSpPr>
          <p:cNvPr id="5" name="">
            <a:extLst xmlns:a="http://schemas.openxmlformats.org/drawingml/2006/main">
              <a:ext uri="{FF2B5EF4-FFF2-40B4-BE49-F238E27FC236}">
                <a16:creationId xmlns:a16="http://schemas.microsoft.com/office/drawing/2014/main" id="{9FF5A5A8-BB33-4244-BBD4-B0D68A608170}"/>
              </a:ext>
            </a:extLst>
          </p:cNvPr>
          <p:cNvSpPr>
            <a:spLocks xmlns:a="http://schemas.openxmlformats.org/drawingml/2006/main" noGrp="1"/>
          </p:cNvSpPr>
          <p:nvPr/>
        </p:nvSpPr>
        <p:spPr>
          <a:xfrm xmlns:a="http://schemas.openxmlformats.org/drawingml/2006/main">
            <a:off x="685800" y="64389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5A6B7C"/>
                </a:solidFill>
              </a:defRPr>
            </a:pPr>
            <a:r>
              <a:rPr sz="975">
                <a:solidFill>
                  <a:srgbClr val="5A6B7C"/>
                </a:solidFill>
              </a:rPr>
              <a:t>MK Fraud Readiness · Comprehensive</a:t>
            </a:r>
          </a:p>
        </p:txBody>
      </p:sp>
      <p:sp>
        <p:nvSpPr>
          <p:cNvPr id="6" name="">
            <a:extLst xmlns:a="http://schemas.openxmlformats.org/drawingml/2006/main">
              <a:ext uri="{FF2B5EF4-FFF2-40B4-BE49-F238E27FC236}">
                <a16:creationId xmlns:a16="http://schemas.microsoft.com/office/drawing/2014/main" id="{5778DC7F-04E7-4613-AED2-E4FAC6043C0F}"/>
              </a:ext>
            </a:extLst>
          </p:cNvPr>
          <p:cNvSpPr>
            <a:spLocks xmlns:a="http://schemas.openxmlformats.org/drawingml/2006/main" noGrp="1"/>
          </p:cNvSpPr>
          <p:nvPr/>
        </p:nvSpPr>
        <p:spPr>
          <a:xfrm xmlns:a="http://schemas.openxmlformats.org/drawingml/2006/main">
            <a:off x="10810875" y="643890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a:solidFill>
                  <a:srgbClr val="5A6B7C"/>
                </a:solidFill>
              </a:defRPr>
            </a:pPr>
            <a:r>
              <a:rPr sz="975">
                <a:solidFill>
                  <a:srgbClr val="5A6B7C"/>
                </a:solidFill>
              </a:rPr>
              <a:t>02 / 10</a:t>
            </a:r>
          </a:p>
        </p:txBody>
      </p:sp>
      <p:sp>
        <p:nvSpPr>
          <p:cNvPr id="7" name="">
            <a:extLst xmlns:a="http://schemas.openxmlformats.org/drawingml/2006/main">
              <a:ext uri="{FF2B5EF4-FFF2-40B4-BE49-F238E27FC236}">
                <a16:creationId xmlns:a16="http://schemas.microsoft.com/office/drawing/2014/main" id="{90FAD54A-57B0-44EC-A98C-D9FA717E5D00}"/>
              </a:ext>
            </a:extLst>
          </p:cNvPr>
          <p:cNvSpPr>
            <a:spLocks xmlns:a="http://schemas.openxmlformats.org/drawingml/2006/main" noGrp="1"/>
          </p:cNvSpPr>
          <p:nvPr/>
        </p:nvSpPr>
        <p:spPr>
          <a:xfrm xmlns:a="http://schemas.openxmlformats.org/drawingml/2006/main">
            <a:off x="685800" y="1981200"/>
            <a:ext cx="2286000" cy="1219200"/>
          </a:xfrm>
          <a:prstGeom xmlns:a="http://schemas.openxmlformats.org/drawingml/2006/main" prst="roundRect">
            <a:avLst>
              <a:gd name="adj" fmla="val 9375"/>
            </a:avLst>
          </a:prstGeom>
          <a:solidFill xmlns:a="http://schemas.openxmlformats.org/drawingml/2006/main">
            <a:srgbClr val="FFFFFF"/>
          </a:solidFill>
          <a:ln xmlns:a="http://schemas.openxmlformats.org/drawingml/2006/main" w="9525">
            <a:solidFill>
              <a:srgbClr val="D9E1E7"/>
            </a:solidFill>
            <a:prstDash val="solid"/>
          </a:ln>
        </p:spPr>
      </p:sp>
      <p:sp>
        <p:nvSpPr>
          <p:cNvPr id="8" name="">
            <a:extLst xmlns:a="http://schemas.openxmlformats.org/drawingml/2006/main">
              <a:ext uri="{FF2B5EF4-FFF2-40B4-BE49-F238E27FC236}">
                <a16:creationId xmlns:a16="http://schemas.microsoft.com/office/drawing/2014/main" id="{85720461-CC28-422A-B669-F3688858329A}"/>
              </a:ext>
            </a:extLst>
          </p:cNvPr>
          <p:cNvSpPr>
            <a:spLocks xmlns:a="http://schemas.openxmlformats.org/drawingml/2006/main" noGrp="1"/>
          </p:cNvSpPr>
          <p:nvPr/>
        </p:nvSpPr>
        <p:spPr>
          <a:xfrm xmlns:a="http://schemas.openxmlformats.org/drawingml/2006/main">
            <a:off x="685800" y="1981200"/>
            <a:ext cx="2286000" cy="57150"/>
          </a:xfrm>
          <a:prstGeom xmlns:a="http://schemas.openxmlformats.org/drawingml/2006/main" prst="rect">
            <a:avLst/>
          </a:prstGeom>
          <a:solidFill xmlns:a="http://schemas.openxmlformats.org/drawingml/2006/main">
            <a:srgbClr val="142F4C"/>
          </a:solidFill>
          <a:ln xmlns:a="http://schemas.openxmlformats.org/drawingml/2006/main" w="0">
            <a:solidFill>
              <a:srgbClr val="142F4C"/>
            </a:solidFill>
            <a:prstDash val="solid"/>
          </a:ln>
        </p:spPr>
      </p:sp>
      <p:sp>
        <p:nvSpPr>
          <p:cNvPr id="9" name="">
            <a:extLst xmlns:a="http://schemas.openxmlformats.org/drawingml/2006/main">
              <a:ext uri="{FF2B5EF4-FFF2-40B4-BE49-F238E27FC236}">
                <a16:creationId xmlns:a16="http://schemas.microsoft.com/office/drawing/2014/main" id="{EB1E8A97-3678-434E-802F-E9280312F5FD}"/>
              </a:ext>
            </a:extLst>
          </p:cNvPr>
          <p:cNvSpPr>
            <a:spLocks xmlns:a="http://schemas.openxmlformats.org/drawingml/2006/main" noGrp="1"/>
          </p:cNvSpPr>
          <p:nvPr/>
        </p:nvSpPr>
        <p:spPr>
          <a:xfrm xmlns:a="http://schemas.openxmlformats.org/drawingml/2006/main">
            <a:off x="857250" y="2152650"/>
            <a:ext cx="1943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5A6B7C"/>
                </a:solidFill>
              </a:defRPr>
            </a:pPr>
            <a:r>
              <a:rPr sz="1125" b="1">
                <a:solidFill>
                  <a:srgbClr val="5A6B7C"/>
                </a:solidFill>
              </a:rPr>
              <a:t>Reported readiness</a:t>
            </a:r>
          </a:p>
        </p:txBody>
      </p:sp>
      <p:sp>
        <p:nvSpPr>
          <p:cNvPr id="10" name="">
            <a:extLst xmlns:a="http://schemas.openxmlformats.org/drawingml/2006/main">
              <a:ext uri="{FF2B5EF4-FFF2-40B4-BE49-F238E27FC236}">
                <a16:creationId xmlns:a16="http://schemas.microsoft.com/office/drawing/2014/main" id="{B234FE86-F1AD-4900-A414-BD8A294F8AD2}"/>
              </a:ext>
            </a:extLst>
          </p:cNvPr>
          <p:cNvSpPr>
            <a:spLocks xmlns:a="http://schemas.openxmlformats.org/drawingml/2006/main" noGrp="1"/>
          </p:cNvSpPr>
          <p:nvPr/>
        </p:nvSpPr>
        <p:spPr>
          <a:xfrm xmlns:a="http://schemas.openxmlformats.org/drawingml/2006/main">
            <a:off x="857250" y="2428875"/>
            <a:ext cx="1943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400" b="1">
                <a:solidFill>
                  <a:srgbClr val="142F4C"/>
                </a:solidFill>
              </a:defRPr>
            </a:pPr>
            <a:r>
              <a:rPr sz="2400" b="1">
                <a:solidFill>
                  <a:srgbClr val="142F4C"/>
                </a:solidFill>
              </a:rPr>
              <a:t>55 / 100</a:t>
            </a:r>
          </a:p>
        </p:txBody>
      </p:sp>
      <p:sp>
        <p:nvSpPr>
          <p:cNvPr id="11" name="">
            <a:extLst xmlns:a="http://schemas.openxmlformats.org/drawingml/2006/main">
              <a:ext uri="{FF2B5EF4-FFF2-40B4-BE49-F238E27FC236}">
                <a16:creationId xmlns:a16="http://schemas.microsoft.com/office/drawing/2014/main" id="{991BC2EA-7748-48E6-8B70-38635A407992}"/>
              </a:ext>
            </a:extLst>
          </p:cNvPr>
          <p:cNvSpPr>
            <a:spLocks xmlns:a="http://schemas.openxmlformats.org/drawingml/2006/main" noGrp="1"/>
          </p:cNvSpPr>
          <p:nvPr/>
        </p:nvSpPr>
        <p:spPr>
          <a:xfrm xmlns:a="http://schemas.openxmlformats.org/drawingml/2006/main">
            <a:off x="857250" y="2876550"/>
            <a:ext cx="1943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a:solidFill>
                  <a:srgbClr val="5A6B7C"/>
                </a:solidFill>
              </a:defRPr>
            </a:pPr>
            <a:r>
              <a:rPr sz="1050">
                <a:solidFill>
                  <a:srgbClr val="5A6B7C"/>
                </a:solidFill>
              </a:rPr>
              <a:t>Developing</a:t>
            </a:r>
          </a:p>
        </p:txBody>
      </p:sp>
      <p:sp>
        <p:nvSpPr>
          <p:cNvPr id="12" name="">
            <a:extLst xmlns:a="http://schemas.openxmlformats.org/drawingml/2006/main">
              <a:ext uri="{FF2B5EF4-FFF2-40B4-BE49-F238E27FC236}">
                <a16:creationId xmlns:a16="http://schemas.microsoft.com/office/drawing/2014/main" id="{44510E62-8ED3-4AE6-8364-9FA21809DC8A}"/>
              </a:ext>
            </a:extLst>
          </p:cNvPr>
          <p:cNvSpPr>
            <a:spLocks xmlns:a="http://schemas.openxmlformats.org/drawingml/2006/main" noGrp="1"/>
          </p:cNvSpPr>
          <p:nvPr/>
        </p:nvSpPr>
        <p:spPr>
          <a:xfrm xmlns:a="http://schemas.openxmlformats.org/drawingml/2006/main">
            <a:off x="3181350" y="1981200"/>
            <a:ext cx="2286000" cy="1219200"/>
          </a:xfrm>
          <a:prstGeom xmlns:a="http://schemas.openxmlformats.org/drawingml/2006/main" prst="roundRect">
            <a:avLst>
              <a:gd name="adj" fmla="val 9375"/>
            </a:avLst>
          </a:prstGeom>
          <a:solidFill xmlns:a="http://schemas.openxmlformats.org/drawingml/2006/main">
            <a:srgbClr val="FFFFFF"/>
          </a:solidFill>
          <a:ln xmlns:a="http://schemas.openxmlformats.org/drawingml/2006/main" w="9525">
            <a:solidFill>
              <a:srgbClr val="D9E1E7"/>
            </a:solidFill>
            <a:prstDash val="solid"/>
          </a:ln>
        </p:spPr>
      </p:sp>
      <p:sp>
        <p:nvSpPr>
          <p:cNvPr id="13" name="">
            <a:extLst xmlns:a="http://schemas.openxmlformats.org/drawingml/2006/main">
              <a:ext uri="{FF2B5EF4-FFF2-40B4-BE49-F238E27FC236}">
                <a16:creationId xmlns:a16="http://schemas.microsoft.com/office/drawing/2014/main" id="{311958E4-69CB-4928-A880-31BD2CAE0F02}"/>
              </a:ext>
            </a:extLst>
          </p:cNvPr>
          <p:cNvSpPr>
            <a:spLocks xmlns:a="http://schemas.openxmlformats.org/drawingml/2006/main" noGrp="1"/>
          </p:cNvSpPr>
          <p:nvPr/>
        </p:nvSpPr>
        <p:spPr>
          <a:xfrm xmlns:a="http://schemas.openxmlformats.org/drawingml/2006/main">
            <a:off x="3181350" y="1981200"/>
            <a:ext cx="2286000" cy="57150"/>
          </a:xfrm>
          <a:prstGeom xmlns:a="http://schemas.openxmlformats.org/drawingml/2006/main" prst="rect">
            <a:avLst/>
          </a:prstGeom>
          <a:solidFill xmlns:a="http://schemas.openxmlformats.org/drawingml/2006/main">
            <a:srgbClr val="A32020"/>
          </a:solidFill>
          <a:ln xmlns:a="http://schemas.openxmlformats.org/drawingml/2006/main" w="0">
            <a:solidFill>
              <a:srgbClr val="A32020"/>
            </a:solidFill>
            <a:prstDash val="solid"/>
          </a:ln>
        </p:spPr>
      </p:sp>
      <p:sp>
        <p:nvSpPr>
          <p:cNvPr id="14" name="">
            <a:extLst xmlns:a="http://schemas.openxmlformats.org/drawingml/2006/main">
              <a:ext uri="{FF2B5EF4-FFF2-40B4-BE49-F238E27FC236}">
                <a16:creationId xmlns:a16="http://schemas.microsoft.com/office/drawing/2014/main" id="{4896A7EC-4C0B-4F4F-8DA2-5EEBF7C8FFE8}"/>
              </a:ext>
            </a:extLst>
          </p:cNvPr>
          <p:cNvSpPr>
            <a:spLocks xmlns:a="http://schemas.openxmlformats.org/drawingml/2006/main" noGrp="1"/>
          </p:cNvSpPr>
          <p:nvPr/>
        </p:nvSpPr>
        <p:spPr>
          <a:xfrm xmlns:a="http://schemas.openxmlformats.org/drawingml/2006/main">
            <a:off x="3352800" y="2152650"/>
            <a:ext cx="1943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5A6B7C"/>
                </a:solidFill>
              </a:defRPr>
            </a:pPr>
            <a:r>
              <a:rPr sz="1125" b="1">
                <a:solidFill>
                  <a:srgbClr val="5A6B7C"/>
                </a:solidFill>
              </a:rPr>
              <a:t>Exposure position</a:t>
            </a:r>
          </a:p>
        </p:txBody>
      </p:sp>
      <p:sp>
        <p:nvSpPr>
          <p:cNvPr id="15" name="">
            <a:extLst xmlns:a="http://schemas.openxmlformats.org/drawingml/2006/main">
              <a:ext uri="{FF2B5EF4-FFF2-40B4-BE49-F238E27FC236}">
                <a16:creationId xmlns:a16="http://schemas.microsoft.com/office/drawing/2014/main" id="{4363664A-288F-44FC-8C47-AA67F27AC84C}"/>
              </a:ext>
            </a:extLst>
          </p:cNvPr>
          <p:cNvSpPr>
            <a:spLocks xmlns:a="http://schemas.openxmlformats.org/drawingml/2006/main" noGrp="1"/>
          </p:cNvSpPr>
          <p:nvPr/>
        </p:nvSpPr>
        <p:spPr>
          <a:xfrm xmlns:a="http://schemas.openxmlformats.org/drawingml/2006/main">
            <a:off x="3352800" y="2428875"/>
            <a:ext cx="1943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400" b="1">
                <a:solidFill>
                  <a:srgbClr val="142F4C"/>
                </a:solidFill>
              </a:defRPr>
            </a:pPr>
            <a:r>
              <a:rPr sz="2400" b="1">
                <a:solidFill>
                  <a:srgbClr val="142F4C"/>
                </a:solidFill>
              </a:rPr>
              <a:t>0 / 100</a:t>
            </a:r>
          </a:p>
        </p:txBody>
      </p:sp>
      <p:sp>
        <p:nvSpPr>
          <p:cNvPr id="16" name="">
            <a:extLst xmlns:a="http://schemas.openxmlformats.org/drawingml/2006/main">
              <a:ext uri="{FF2B5EF4-FFF2-40B4-BE49-F238E27FC236}">
                <a16:creationId xmlns:a16="http://schemas.microsoft.com/office/drawing/2014/main" id="{95E3C51A-2F99-40D4-90C7-2FCDA19DB1D1}"/>
              </a:ext>
            </a:extLst>
          </p:cNvPr>
          <p:cNvSpPr>
            <a:spLocks xmlns:a="http://schemas.openxmlformats.org/drawingml/2006/main" noGrp="1"/>
          </p:cNvSpPr>
          <p:nvPr/>
        </p:nvSpPr>
        <p:spPr>
          <a:xfrm xmlns:a="http://schemas.openxmlformats.org/drawingml/2006/main">
            <a:off x="3352800" y="2876550"/>
            <a:ext cx="1943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a:solidFill>
                  <a:srgbClr val="5A6B7C"/>
                </a:solidFill>
              </a:defRPr>
            </a:pPr>
            <a:r>
              <a:rPr sz="1050">
                <a:solidFill>
                  <a:srgbClr val="5A6B7C"/>
                </a:solidFill>
              </a:rPr>
              <a:t>Not assessed</a:t>
            </a:r>
          </a:p>
        </p:txBody>
      </p:sp>
      <p:sp>
        <p:nvSpPr>
          <p:cNvPr id="17" name="">
            <a:extLst xmlns:a="http://schemas.openxmlformats.org/drawingml/2006/main">
              <a:ext uri="{FF2B5EF4-FFF2-40B4-BE49-F238E27FC236}">
                <a16:creationId xmlns:a16="http://schemas.microsoft.com/office/drawing/2014/main" id="{FD92676B-A59E-4A31-A4D8-63B977298A9F}"/>
              </a:ext>
            </a:extLst>
          </p:cNvPr>
          <p:cNvSpPr>
            <a:spLocks xmlns:a="http://schemas.openxmlformats.org/drawingml/2006/main" noGrp="1"/>
          </p:cNvSpPr>
          <p:nvPr/>
        </p:nvSpPr>
        <p:spPr>
          <a:xfrm xmlns:a="http://schemas.openxmlformats.org/drawingml/2006/main">
            <a:off x="5676900" y="1981200"/>
            <a:ext cx="2286000" cy="1219200"/>
          </a:xfrm>
          <a:prstGeom xmlns:a="http://schemas.openxmlformats.org/drawingml/2006/main" prst="roundRect">
            <a:avLst>
              <a:gd name="adj" fmla="val 9375"/>
            </a:avLst>
          </a:prstGeom>
          <a:solidFill xmlns:a="http://schemas.openxmlformats.org/drawingml/2006/main">
            <a:srgbClr val="FFFFFF"/>
          </a:solidFill>
          <a:ln xmlns:a="http://schemas.openxmlformats.org/drawingml/2006/main" w="9525">
            <a:solidFill>
              <a:srgbClr val="D9E1E7"/>
            </a:solidFill>
            <a:prstDash val="solid"/>
          </a:ln>
        </p:spPr>
      </p:sp>
      <p:sp>
        <p:nvSpPr>
          <p:cNvPr id="18" name="">
            <a:extLst xmlns:a="http://schemas.openxmlformats.org/drawingml/2006/main">
              <a:ext uri="{FF2B5EF4-FFF2-40B4-BE49-F238E27FC236}">
                <a16:creationId xmlns:a16="http://schemas.microsoft.com/office/drawing/2014/main" id="{ABC9A05F-99EE-4C03-A443-F56A17811D85}"/>
              </a:ext>
            </a:extLst>
          </p:cNvPr>
          <p:cNvSpPr>
            <a:spLocks xmlns:a="http://schemas.openxmlformats.org/drawingml/2006/main" noGrp="1"/>
          </p:cNvSpPr>
          <p:nvPr/>
        </p:nvSpPr>
        <p:spPr>
          <a:xfrm xmlns:a="http://schemas.openxmlformats.org/drawingml/2006/main">
            <a:off x="5676900" y="1981200"/>
            <a:ext cx="2286000" cy="57150"/>
          </a:xfrm>
          <a:prstGeom xmlns:a="http://schemas.openxmlformats.org/drawingml/2006/main" prst="rect">
            <a:avLst/>
          </a:prstGeom>
          <a:solidFill xmlns:a="http://schemas.openxmlformats.org/drawingml/2006/main">
            <a:srgbClr val="1F6B4A"/>
          </a:solidFill>
          <a:ln xmlns:a="http://schemas.openxmlformats.org/drawingml/2006/main" w="0">
            <a:solidFill>
              <a:srgbClr val="1F6B4A"/>
            </a:solidFill>
            <a:prstDash val="solid"/>
          </a:ln>
        </p:spPr>
      </p:sp>
      <p:sp>
        <p:nvSpPr>
          <p:cNvPr id="19" name="">
            <a:extLst xmlns:a="http://schemas.openxmlformats.org/drawingml/2006/main">
              <a:ext uri="{FF2B5EF4-FFF2-40B4-BE49-F238E27FC236}">
                <a16:creationId xmlns:a16="http://schemas.microsoft.com/office/drawing/2014/main" id="{573BF0A0-CD5F-4EFD-8A33-98E94AC55599}"/>
              </a:ext>
            </a:extLst>
          </p:cNvPr>
          <p:cNvSpPr>
            <a:spLocks xmlns:a="http://schemas.openxmlformats.org/drawingml/2006/main" noGrp="1"/>
          </p:cNvSpPr>
          <p:nvPr/>
        </p:nvSpPr>
        <p:spPr>
          <a:xfrm xmlns:a="http://schemas.openxmlformats.org/drawingml/2006/main">
            <a:off x="5848350" y="2152650"/>
            <a:ext cx="1943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5A6B7C"/>
                </a:solidFill>
              </a:defRPr>
            </a:pPr>
            <a:r>
              <a:rPr sz="1125" b="1">
                <a:solidFill>
                  <a:srgbClr val="5A6B7C"/>
                </a:solidFill>
              </a:rPr>
              <a:t>Review notes in scope</a:t>
            </a:r>
          </a:p>
        </p:txBody>
      </p:sp>
      <p:sp>
        <p:nvSpPr>
          <p:cNvPr id="20" name="">
            <a:extLst xmlns:a="http://schemas.openxmlformats.org/drawingml/2006/main">
              <a:ext uri="{FF2B5EF4-FFF2-40B4-BE49-F238E27FC236}">
                <a16:creationId xmlns:a16="http://schemas.microsoft.com/office/drawing/2014/main" id="{3D1DF570-B563-428C-A08A-20203510BE01}"/>
              </a:ext>
            </a:extLst>
          </p:cNvPr>
          <p:cNvSpPr>
            <a:spLocks xmlns:a="http://schemas.openxmlformats.org/drawingml/2006/main" noGrp="1"/>
          </p:cNvSpPr>
          <p:nvPr/>
        </p:nvSpPr>
        <p:spPr>
          <a:xfrm xmlns:a="http://schemas.openxmlformats.org/drawingml/2006/main">
            <a:off x="5848350" y="2428875"/>
            <a:ext cx="1943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400" b="1">
                <a:solidFill>
                  <a:srgbClr val="142F4C"/>
                </a:solidFill>
              </a:defRPr>
            </a:pPr>
            <a:r>
              <a:rPr sz="2400" b="1">
                <a:solidFill>
                  <a:srgbClr val="142F4C"/>
                </a:solidFill>
              </a:rPr>
              <a:t>1</a:t>
            </a:r>
          </a:p>
        </p:txBody>
      </p:sp>
      <p:sp>
        <p:nvSpPr>
          <p:cNvPr id="21" name="">
            <a:extLst xmlns:a="http://schemas.openxmlformats.org/drawingml/2006/main">
              <a:ext uri="{FF2B5EF4-FFF2-40B4-BE49-F238E27FC236}">
                <a16:creationId xmlns:a16="http://schemas.microsoft.com/office/drawing/2014/main" id="{DB3ECE6D-9818-46E8-BE93-261B81CA8BE2}"/>
              </a:ext>
            </a:extLst>
          </p:cNvPr>
          <p:cNvSpPr>
            <a:spLocks xmlns:a="http://schemas.openxmlformats.org/drawingml/2006/main" noGrp="1"/>
          </p:cNvSpPr>
          <p:nvPr/>
        </p:nvSpPr>
        <p:spPr>
          <a:xfrm xmlns:a="http://schemas.openxmlformats.org/drawingml/2006/main">
            <a:off x="5848350" y="2876550"/>
            <a:ext cx="1943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a:solidFill>
                  <a:srgbClr val="5A6B7C"/>
                </a:solidFill>
              </a:defRPr>
            </a:pPr>
            <a:r>
              <a:rPr sz="1050">
                <a:solidFill>
                  <a:srgbClr val="5A6B7C"/>
                </a:solidFill>
              </a:rPr>
              <a:t>of 64 items</a:t>
            </a:r>
          </a:p>
        </p:txBody>
      </p:sp>
      <p:sp>
        <p:nvSpPr>
          <p:cNvPr id="22" name="">
            <a:extLst xmlns:a="http://schemas.openxmlformats.org/drawingml/2006/main">
              <a:ext uri="{FF2B5EF4-FFF2-40B4-BE49-F238E27FC236}">
                <a16:creationId xmlns:a16="http://schemas.microsoft.com/office/drawing/2014/main" id="{ACEF1172-46B3-42E3-BEB0-137D12BBEDC7}"/>
              </a:ext>
            </a:extLst>
          </p:cNvPr>
          <p:cNvSpPr>
            <a:spLocks xmlns:a="http://schemas.openxmlformats.org/drawingml/2006/main" noGrp="1"/>
          </p:cNvSpPr>
          <p:nvPr/>
        </p:nvSpPr>
        <p:spPr>
          <a:xfrm xmlns:a="http://schemas.openxmlformats.org/drawingml/2006/main">
            <a:off x="8172450" y="1981200"/>
            <a:ext cx="2286000" cy="1219200"/>
          </a:xfrm>
          <a:prstGeom xmlns:a="http://schemas.openxmlformats.org/drawingml/2006/main" prst="roundRect">
            <a:avLst>
              <a:gd name="adj" fmla="val 9375"/>
            </a:avLst>
          </a:prstGeom>
          <a:solidFill xmlns:a="http://schemas.openxmlformats.org/drawingml/2006/main">
            <a:srgbClr val="FFFFFF"/>
          </a:solidFill>
          <a:ln xmlns:a="http://schemas.openxmlformats.org/drawingml/2006/main" w="9525">
            <a:solidFill>
              <a:srgbClr val="D9E1E7"/>
            </a:solidFill>
            <a:prstDash val="solid"/>
          </a:ln>
        </p:spPr>
      </p:sp>
      <p:sp>
        <p:nvSpPr>
          <p:cNvPr id="23" name="">
            <a:extLst xmlns:a="http://schemas.openxmlformats.org/drawingml/2006/main">
              <a:ext uri="{FF2B5EF4-FFF2-40B4-BE49-F238E27FC236}">
                <a16:creationId xmlns:a16="http://schemas.microsoft.com/office/drawing/2014/main" id="{7C858EF8-7B80-4651-AD36-4046716F5E65}"/>
              </a:ext>
            </a:extLst>
          </p:cNvPr>
          <p:cNvSpPr>
            <a:spLocks xmlns:a="http://schemas.openxmlformats.org/drawingml/2006/main" noGrp="1"/>
          </p:cNvSpPr>
          <p:nvPr/>
        </p:nvSpPr>
        <p:spPr>
          <a:xfrm xmlns:a="http://schemas.openxmlformats.org/drawingml/2006/main">
            <a:off x="8172450" y="1981200"/>
            <a:ext cx="2286000" cy="57150"/>
          </a:xfrm>
          <a:prstGeom xmlns:a="http://schemas.openxmlformats.org/drawingml/2006/main" prst="rect">
            <a:avLst/>
          </a:prstGeom>
          <a:solidFill xmlns:a="http://schemas.openxmlformats.org/drawingml/2006/main">
            <a:srgbClr val="C9A227"/>
          </a:solidFill>
          <a:ln xmlns:a="http://schemas.openxmlformats.org/drawingml/2006/main" w="0">
            <a:solidFill>
              <a:srgbClr val="C9A227"/>
            </a:solidFill>
            <a:prstDash val="solid"/>
          </a:ln>
        </p:spPr>
      </p:sp>
      <p:sp>
        <p:nvSpPr>
          <p:cNvPr id="24" name="">
            <a:extLst xmlns:a="http://schemas.openxmlformats.org/drawingml/2006/main">
              <a:ext uri="{FF2B5EF4-FFF2-40B4-BE49-F238E27FC236}">
                <a16:creationId xmlns:a16="http://schemas.microsoft.com/office/drawing/2014/main" id="{E5BD11DE-F069-4600-BF66-ED407B49FB9B}"/>
              </a:ext>
            </a:extLst>
          </p:cNvPr>
          <p:cNvSpPr>
            <a:spLocks xmlns:a="http://schemas.openxmlformats.org/drawingml/2006/main" noGrp="1"/>
          </p:cNvSpPr>
          <p:nvPr/>
        </p:nvSpPr>
        <p:spPr>
          <a:xfrm xmlns:a="http://schemas.openxmlformats.org/drawingml/2006/main">
            <a:off x="8343900" y="2152650"/>
            <a:ext cx="1943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5A6B7C"/>
                </a:solidFill>
              </a:defRPr>
            </a:pPr>
            <a:r>
              <a:rPr sz="1125" b="1">
                <a:solidFill>
                  <a:srgbClr val="5A6B7C"/>
                </a:solidFill>
              </a:rPr>
              <a:t>Open information items</a:t>
            </a:r>
          </a:p>
        </p:txBody>
      </p:sp>
      <p:sp>
        <p:nvSpPr>
          <p:cNvPr id="25" name="">
            <a:extLst xmlns:a="http://schemas.openxmlformats.org/drawingml/2006/main">
              <a:ext uri="{FF2B5EF4-FFF2-40B4-BE49-F238E27FC236}">
                <a16:creationId xmlns:a16="http://schemas.microsoft.com/office/drawing/2014/main" id="{F6231BAD-1A2D-49DB-9992-4389170C53FE}"/>
              </a:ext>
            </a:extLst>
          </p:cNvPr>
          <p:cNvSpPr>
            <a:spLocks xmlns:a="http://schemas.openxmlformats.org/drawingml/2006/main" noGrp="1"/>
          </p:cNvSpPr>
          <p:nvPr/>
        </p:nvSpPr>
        <p:spPr>
          <a:xfrm xmlns:a="http://schemas.openxmlformats.org/drawingml/2006/main">
            <a:off x="8343900" y="2428875"/>
            <a:ext cx="1943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400" b="1">
                <a:solidFill>
                  <a:srgbClr val="142F4C"/>
                </a:solidFill>
              </a:defRPr>
            </a:pPr>
            <a:r>
              <a:rPr sz="2400" b="1">
                <a:solidFill>
                  <a:srgbClr val="142F4C"/>
                </a:solidFill>
              </a:rPr>
              <a:t>63</a:t>
            </a:r>
          </a:p>
        </p:txBody>
      </p:sp>
      <p:sp>
        <p:nvSpPr>
          <p:cNvPr id="26" name="">
            <a:extLst xmlns:a="http://schemas.openxmlformats.org/drawingml/2006/main">
              <a:ext uri="{FF2B5EF4-FFF2-40B4-BE49-F238E27FC236}">
                <a16:creationId xmlns:a16="http://schemas.microsoft.com/office/drawing/2014/main" id="{87CF3402-ED9C-446D-8826-C8614CF4FED2}"/>
              </a:ext>
            </a:extLst>
          </p:cNvPr>
          <p:cNvSpPr>
            <a:spLocks xmlns:a="http://schemas.openxmlformats.org/drawingml/2006/main" noGrp="1"/>
          </p:cNvSpPr>
          <p:nvPr/>
        </p:nvSpPr>
        <p:spPr>
          <a:xfrm xmlns:a="http://schemas.openxmlformats.org/drawingml/2006/main">
            <a:off x="8343900" y="2876550"/>
            <a:ext cx="1943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a:solidFill>
                  <a:srgbClr val="5A6B7C"/>
                </a:solidFill>
              </a:defRPr>
            </a:pPr>
            <a:r>
              <a:rPr sz="1050">
                <a:solidFill>
                  <a:srgbClr val="5A6B7C"/>
                </a:solidFill>
              </a:rPr>
              <a:t>items requiring closure</a:t>
            </a:r>
          </a:p>
        </p:txBody>
      </p:sp>
      <p:sp>
        <p:nvSpPr>
          <p:cNvPr id="27" name="">
            <a:extLst xmlns:a="http://schemas.openxmlformats.org/drawingml/2006/main">
              <a:ext uri="{FF2B5EF4-FFF2-40B4-BE49-F238E27FC236}">
                <a16:creationId xmlns:a16="http://schemas.microsoft.com/office/drawing/2014/main" id="{EB10228F-2157-4ED9-AA7D-7C7D1E2F7114}"/>
              </a:ext>
            </a:extLst>
          </p:cNvPr>
          <p:cNvSpPr>
            <a:spLocks xmlns:a="http://schemas.openxmlformats.org/drawingml/2006/main" noGrp="1"/>
          </p:cNvSpPr>
          <p:nvPr/>
        </p:nvSpPr>
        <p:spPr>
          <a:xfrm xmlns:a="http://schemas.openxmlformats.org/drawingml/2006/main">
            <a:off x="685800" y="3714750"/>
            <a:ext cx="9772650" cy="1238250"/>
          </a:xfrm>
          <a:prstGeom xmlns:a="http://schemas.openxmlformats.org/drawingml/2006/main" prst="roundRect">
            <a:avLst>
              <a:gd name="adj" fmla="val 9231"/>
            </a:avLst>
          </a:prstGeom>
          <a:solidFill xmlns:a="http://schemas.openxmlformats.org/drawingml/2006/main">
            <a:srgbClr val="FBF9F5"/>
          </a:solidFill>
          <a:ln xmlns:a="http://schemas.openxmlformats.org/drawingml/2006/main" w="9525">
            <a:solidFill>
              <a:srgbClr val="D9E1E7"/>
            </a:solidFill>
            <a:prstDash val="solid"/>
          </a:ln>
        </p:spPr>
      </p:sp>
      <p:sp>
        <p:nvSpPr>
          <p:cNvPr id="28" name="">
            <a:extLst xmlns:a="http://schemas.openxmlformats.org/drawingml/2006/main">
              <a:ext uri="{FF2B5EF4-FFF2-40B4-BE49-F238E27FC236}">
                <a16:creationId xmlns:a16="http://schemas.microsoft.com/office/drawing/2014/main" id="{D78EDF21-9208-45C8-AE2C-D31EAAAE2830}"/>
              </a:ext>
            </a:extLst>
          </p:cNvPr>
          <p:cNvSpPr>
            <a:spLocks xmlns:a="http://schemas.openxmlformats.org/drawingml/2006/main" noGrp="1"/>
          </p:cNvSpPr>
          <p:nvPr/>
        </p:nvSpPr>
        <p:spPr>
          <a:xfrm xmlns:a="http://schemas.openxmlformats.org/drawingml/2006/main">
            <a:off x="933450" y="39624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C9A227"/>
                </a:solidFill>
              </a:defRPr>
            </a:pPr>
            <a:r>
              <a:rPr sz="1200" b="1">
                <a:solidFill>
                  <a:srgbClr val="C9A227"/>
                </a:solidFill>
              </a:rPr>
              <a:t>Management reading</a:t>
            </a:r>
          </a:p>
        </p:txBody>
      </p:sp>
      <p:sp>
        <p:nvSpPr>
          <p:cNvPr id="29" name="">
            <a:extLst xmlns:a="http://schemas.openxmlformats.org/drawingml/2006/main">
              <a:ext uri="{FF2B5EF4-FFF2-40B4-BE49-F238E27FC236}">
                <a16:creationId xmlns:a16="http://schemas.microsoft.com/office/drawing/2014/main" id="{55421360-78DA-4CA6-B804-979A4C9C206D}"/>
              </a:ext>
            </a:extLst>
          </p:cNvPr>
          <p:cNvSpPr>
            <a:spLocks xmlns:a="http://schemas.openxmlformats.org/drawingml/2006/main" noGrp="1"/>
          </p:cNvSpPr>
          <p:nvPr/>
        </p:nvSpPr>
        <p:spPr>
          <a:xfrm xmlns:a="http://schemas.openxmlformats.org/drawingml/2006/main">
            <a:off x="933450" y="4324350"/>
            <a:ext cx="8953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a:solidFill>
                  <a:srgbClr val="142F4C"/>
                </a:solidFill>
              </a:defRPr>
            </a:pPr>
            <a:r>
              <a:rPr sz="1500">
                <a:solidFill>
                  <a:srgbClr val="142F4C"/>
                </a:solidFill>
              </a:rPr>
              <a:t>The score is the locked recorded result. Human review changes the confidence, scope and decision implications around that result; it does not silently recalculate it.</a:t>
            </a:r>
          </a:p>
        </p:txBody>
      </p:sp>
    </p:spTree>
    <p:extLst>
      <p:ext uri="{BB962C8B-B14F-4D97-AF65-F5344CB8AC3E}">
        <p14:creationId xmlns:p14="http://schemas.microsoft.com/office/powerpoint/2010/main" val="396547063"/>
      </p:ext>
    </p:extLst>
  </p:cSld>
</p:sld>
</file>

<file path=ppt/slides/slide3.xml><?xml version="1.0" encoding="utf-8"?>
<p:sld xmlns:p="http://schemas.openxmlformats.org/presentationml/2006/main">
  <p:cSld>
    <p:bg>
      <p:bgPr>
        <a:solidFill xmlns:a="http://schemas.openxmlformats.org/drawingml/2006/main">
          <a:srgbClr val="FBF9F5"/>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A6B00832-C541-4FC8-962A-0D352A410B57}"/>
              </a:ext>
            </a:extLst>
          </p:cNvPr>
          <p:cNvSpPr>
            <a:spLocks xmlns:a="http://schemas.openxmlformats.org/drawingml/2006/main" noGrp="1"/>
          </p:cNvSpPr>
          <p:nvPr/>
        </p:nvSpPr>
        <p:spPr>
          <a:xfrm xmlns:a="http://schemas.openxmlformats.org/drawingml/2006/main">
            <a:off x="685800" y="4000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C9A227"/>
                </a:solidFill>
              </a:defRPr>
            </a:pPr>
            <a:r>
              <a:rPr sz="1050" b="1">
                <a:solidFill>
                  <a:srgbClr val="C9A227"/>
                </a:solidFill>
              </a:rPr>
              <a:t>COMPREHENSIVE REVIEW · 03</a:t>
            </a:r>
          </a:p>
        </p:txBody>
      </p:sp>
      <p:sp>
        <p:nvSpPr>
          <p:cNvPr id="2" name="">
            <a:extLst xmlns:a="http://schemas.openxmlformats.org/drawingml/2006/main">
              <a:ext uri="{FF2B5EF4-FFF2-40B4-BE49-F238E27FC236}">
                <a16:creationId xmlns:a16="http://schemas.microsoft.com/office/drawing/2014/main" id="{A9E02EF7-B8B5-488A-BA45-61A6AD8FDE67}"/>
              </a:ext>
            </a:extLst>
          </p:cNvPr>
          <p:cNvSpPr>
            <a:spLocks xmlns:a="http://schemas.openxmlformats.org/drawingml/2006/main" noGrp="1"/>
          </p:cNvSpPr>
          <p:nvPr/>
        </p:nvSpPr>
        <p:spPr>
          <a:xfrm xmlns:a="http://schemas.openxmlformats.org/drawingml/2006/main">
            <a:off x="685800" y="723900"/>
            <a:ext cx="1028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925" b="1">
                <a:solidFill>
                  <a:srgbClr val="142F4C"/>
                </a:solidFill>
              </a:defRPr>
            </a:pPr>
            <a:r>
              <a:rPr sz="2925" b="1">
                <a:solidFill>
                  <a:srgbClr val="142F4C"/>
                </a:solidFill>
              </a:rPr>
              <a:t>The information boundary is visible before decisions are made.</a:t>
            </a:r>
          </a:p>
        </p:txBody>
      </p:sp>
      <p:sp>
        <p:nvSpPr>
          <p:cNvPr id="3" name="">
            <a:extLst xmlns:a="http://schemas.openxmlformats.org/drawingml/2006/main">
              <a:ext uri="{FF2B5EF4-FFF2-40B4-BE49-F238E27FC236}">
                <a16:creationId xmlns:a16="http://schemas.microsoft.com/office/drawing/2014/main" id="{14FE0C2C-39AE-4ECB-AD5B-02FA74BDB1CA}"/>
              </a:ext>
            </a:extLst>
          </p:cNvPr>
          <p:cNvSpPr>
            <a:spLocks xmlns:a="http://schemas.openxmlformats.org/drawingml/2006/main" noGrp="1"/>
          </p:cNvSpPr>
          <p:nvPr/>
        </p:nvSpPr>
        <p:spPr>
          <a:xfrm xmlns:a="http://schemas.openxmlformats.org/drawingml/2006/main">
            <a:off x="685800" y="1562100"/>
            <a:ext cx="1000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5A6B7C"/>
                </a:solidFill>
              </a:defRPr>
            </a:pPr>
            <a:r>
              <a:rPr sz="1350">
                <a:solidFill>
                  <a:srgbClr val="5A6B7C"/>
                </a:solidFill>
              </a:rPr>
              <a:t>The register makes scope, review notes and open items visible in one view.</a:t>
            </a:r>
          </a:p>
        </p:txBody>
      </p:sp>
      <p:sp>
        <p:nvSpPr>
          <p:cNvPr id="4" name="">
            <a:extLst xmlns:a="http://schemas.openxmlformats.org/drawingml/2006/main">
              <a:ext uri="{FF2B5EF4-FFF2-40B4-BE49-F238E27FC236}">
                <a16:creationId xmlns:a16="http://schemas.microsoft.com/office/drawing/2014/main" id="{7D533FDD-BB3B-4DD5-B54B-221178A5C747}"/>
              </a:ext>
            </a:extLst>
          </p:cNvPr>
          <p:cNvSpPr>
            <a:spLocks xmlns:a="http://schemas.openxmlformats.org/drawingml/2006/main" noGrp="1"/>
          </p:cNvSpPr>
          <p:nvPr/>
        </p:nvSpPr>
        <p:spPr>
          <a:xfrm xmlns:a="http://schemas.openxmlformats.org/drawingml/2006/main">
            <a:off x="685800" y="6324600"/>
            <a:ext cx="10820400" cy="0"/>
          </a:xfrm>
          <a:prstGeom xmlns:a="http://schemas.openxmlformats.org/drawingml/2006/main" prst="line">
            <a:avLst/>
          </a:prstGeom>
          <a:noFill xmlns:a="http://schemas.openxmlformats.org/drawingml/2006/main"/>
          <a:ln xmlns:a="http://schemas.openxmlformats.org/drawingml/2006/main" w="9525">
            <a:solidFill>
              <a:srgbClr val="D9E1E7"/>
            </a:solidFill>
            <a:prstDash val="solid"/>
          </a:ln>
        </p:spPr>
      </p:sp>
      <p:sp>
        <p:nvSpPr>
          <p:cNvPr id="5" name="">
            <a:extLst xmlns:a="http://schemas.openxmlformats.org/drawingml/2006/main">
              <a:ext uri="{FF2B5EF4-FFF2-40B4-BE49-F238E27FC236}">
                <a16:creationId xmlns:a16="http://schemas.microsoft.com/office/drawing/2014/main" id="{20B2BED4-8EB5-4D0F-A953-0A5E59709FE9}"/>
              </a:ext>
            </a:extLst>
          </p:cNvPr>
          <p:cNvSpPr>
            <a:spLocks xmlns:a="http://schemas.openxmlformats.org/drawingml/2006/main" noGrp="1"/>
          </p:cNvSpPr>
          <p:nvPr/>
        </p:nvSpPr>
        <p:spPr>
          <a:xfrm xmlns:a="http://schemas.openxmlformats.org/drawingml/2006/main">
            <a:off x="685800" y="64389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5A6B7C"/>
                </a:solidFill>
              </a:defRPr>
            </a:pPr>
            <a:r>
              <a:rPr sz="975">
                <a:solidFill>
                  <a:srgbClr val="5A6B7C"/>
                </a:solidFill>
              </a:rPr>
              <a:t>MK Fraud Readiness · Comprehensive</a:t>
            </a:r>
          </a:p>
        </p:txBody>
      </p:sp>
      <p:sp>
        <p:nvSpPr>
          <p:cNvPr id="6" name="">
            <a:extLst xmlns:a="http://schemas.openxmlformats.org/drawingml/2006/main">
              <a:ext uri="{FF2B5EF4-FFF2-40B4-BE49-F238E27FC236}">
                <a16:creationId xmlns:a16="http://schemas.microsoft.com/office/drawing/2014/main" id="{CBB591A5-107B-4BCB-8AF2-5FD6DB1D98DC}"/>
              </a:ext>
            </a:extLst>
          </p:cNvPr>
          <p:cNvSpPr>
            <a:spLocks xmlns:a="http://schemas.openxmlformats.org/drawingml/2006/main" noGrp="1"/>
          </p:cNvSpPr>
          <p:nvPr/>
        </p:nvSpPr>
        <p:spPr>
          <a:xfrm xmlns:a="http://schemas.openxmlformats.org/drawingml/2006/main">
            <a:off x="10810875" y="643890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a:solidFill>
                  <a:srgbClr val="5A6B7C"/>
                </a:solidFill>
              </a:defRPr>
            </a:pPr>
            <a:r>
              <a:rPr sz="975">
                <a:solidFill>
                  <a:srgbClr val="5A6B7C"/>
                </a:solidFill>
              </a:rPr>
              <a:t>03 / 10</a:t>
            </a:r>
          </a:p>
        </p:txBody>
      </p:sp>
      <p:sp>
        <p:nvSpPr>
          <p:cNvPr id="7" name="">
            <a:extLst xmlns:a="http://schemas.openxmlformats.org/drawingml/2006/main">
              <a:ext uri="{FF2B5EF4-FFF2-40B4-BE49-F238E27FC236}">
                <a16:creationId xmlns:a16="http://schemas.microsoft.com/office/drawing/2014/main" id="{1E2DE2AE-1C7C-47E7-8356-293B26F00C49}"/>
              </a:ext>
            </a:extLst>
          </p:cNvPr>
          <p:cNvSpPr>
            <a:spLocks xmlns:a="http://schemas.openxmlformats.org/drawingml/2006/main" noGrp="1"/>
          </p:cNvSpPr>
          <p:nvPr/>
        </p:nvSpPr>
        <p:spPr>
          <a:xfrm xmlns:a="http://schemas.openxmlformats.org/drawingml/2006/main">
            <a:off x="838200" y="21145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142F4C"/>
                </a:solidFill>
              </a:defRPr>
            </a:pPr>
            <a:r>
              <a:rPr sz="1350" b="1">
                <a:solidFill>
                  <a:srgbClr val="142F4C"/>
                </a:solidFill>
              </a:rPr>
              <a:t>Review note — stated scope</a:t>
            </a:r>
          </a:p>
        </p:txBody>
      </p:sp>
      <p:sp>
        <p:nvSpPr>
          <p:cNvPr id="8" name="">
            <a:extLst xmlns:a="http://schemas.openxmlformats.org/drawingml/2006/main">
              <a:ext uri="{FF2B5EF4-FFF2-40B4-BE49-F238E27FC236}">
                <a16:creationId xmlns:a16="http://schemas.microsoft.com/office/drawing/2014/main" id="{3A9F2A02-461E-4C39-9B4B-2A37023FF9CE}"/>
              </a:ext>
            </a:extLst>
          </p:cNvPr>
          <p:cNvSpPr>
            <a:spLocks xmlns:a="http://schemas.openxmlformats.org/drawingml/2006/main" noGrp="1"/>
          </p:cNvSpPr>
          <p:nvPr/>
        </p:nvSpPr>
        <p:spPr>
          <a:xfrm xmlns:a="http://schemas.openxmlformats.org/drawingml/2006/main">
            <a:off x="4000500" y="2143125"/>
            <a:ext cx="4953000" cy="228600"/>
          </a:xfrm>
          <a:prstGeom xmlns:a="http://schemas.openxmlformats.org/drawingml/2006/main" prst="rect">
            <a:avLst/>
          </a:prstGeom>
          <a:solidFill xmlns:a="http://schemas.openxmlformats.org/drawingml/2006/main">
            <a:srgbClr val="D9E1E7"/>
          </a:solidFill>
          <a:ln xmlns:a="http://schemas.openxmlformats.org/drawingml/2006/main" w="0">
            <a:solidFill>
              <a:srgbClr val="D9E1E7"/>
            </a:solidFill>
            <a:prstDash val="solid"/>
          </a:ln>
        </p:spPr>
      </p:sp>
      <p:sp>
        <p:nvSpPr>
          <p:cNvPr id="9" name="">
            <a:extLst xmlns:a="http://schemas.openxmlformats.org/drawingml/2006/main">
              <a:ext uri="{FF2B5EF4-FFF2-40B4-BE49-F238E27FC236}">
                <a16:creationId xmlns:a16="http://schemas.microsoft.com/office/drawing/2014/main" id="{DD379AA0-0DE5-45ED-8E27-A7A44504440A}"/>
              </a:ext>
            </a:extLst>
          </p:cNvPr>
          <p:cNvSpPr>
            <a:spLocks xmlns:a="http://schemas.openxmlformats.org/drawingml/2006/main" noGrp="1"/>
          </p:cNvSpPr>
          <p:nvPr/>
        </p:nvSpPr>
        <p:spPr>
          <a:xfrm xmlns:a="http://schemas.openxmlformats.org/drawingml/2006/main">
            <a:off x="4000500" y="2143125"/>
            <a:ext cx="171450" cy="228600"/>
          </a:xfrm>
          <a:prstGeom xmlns:a="http://schemas.openxmlformats.org/drawingml/2006/main" prst="rect">
            <a:avLst/>
          </a:prstGeom>
          <a:solidFill xmlns:a="http://schemas.openxmlformats.org/drawingml/2006/main">
            <a:srgbClr val="1F6B4A"/>
          </a:solidFill>
          <a:ln xmlns:a="http://schemas.openxmlformats.org/drawingml/2006/main" w="0">
            <a:solidFill>
              <a:srgbClr val="1F6B4A"/>
            </a:solidFill>
            <a:prstDash val="solid"/>
          </a:ln>
        </p:spPr>
      </p:sp>
      <p:sp>
        <p:nvSpPr>
          <p:cNvPr id="10" name="">
            <a:extLst xmlns:a="http://schemas.openxmlformats.org/drawingml/2006/main">
              <a:ext uri="{FF2B5EF4-FFF2-40B4-BE49-F238E27FC236}">
                <a16:creationId xmlns:a16="http://schemas.microsoft.com/office/drawing/2014/main" id="{D2CF2424-3D0A-4DF9-A7AA-5316621A2E6D}"/>
              </a:ext>
            </a:extLst>
          </p:cNvPr>
          <p:cNvSpPr>
            <a:spLocks xmlns:a="http://schemas.openxmlformats.org/drawingml/2006/main" noGrp="1"/>
          </p:cNvSpPr>
          <p:nvPr/>
        </p:nvSpPr>
        <p:spPr>
          <a:xfrm xmlns:a="http://schemas.openxmlformats.org/drawingml/2006/main">
            <a:off x="9191625" y="2095500"/>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650" b="1">
                <a:solidFill>
                  <a:srgbClr val="142F4C"/>
                </a:solidFill>
              </a:defRPr>
            </a:pPr>
            <a:r>
              <a:rPr sz="1650" b="1">
                <a:solidFill>
                  <a:srgbClr val="142F4C"/>
                </a:solidFill>
              </a:rPr>
              <a:t>1</a:t>
            </a:r>
          </a:p>
        </p:txBody>
      </p:sp>
      <p:sp>
        <p:nvSpPr>
          <p:cNvPr id="11" name="">
            <a:extLst xmlns:a="http://schemas.openxmlformats.org/drawingml/2006/main">
              <a:ext uri="{FF2B5EF4-FFF2-40B4-BE49-F238E27FC236}">
                <a16:creationId xmlns:a16="http://schemas.microsoft.com/office/drawing/2014/main" id="{F444AA37-4F19-462E-96BE-662B571FAC4F}"/>
              </a:ext>
            </a:extLst>
          </p:cNvPr>
          <p:cNvSpPr>
            <a:spLocks xmlns:a="http://schemas.openxmlformats.org/drawingml/2006/main" noGrp="1"/>
          </p:cNvSpPr>
          <p:nvPr/>
        </p:nvSpPr>
        <p:spPr>
          <a:xfrm xmlns:a="http://schemas.openxmlformats.org/drawingml/2006/main">
            <a:off x="838200" y="27051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142F4C"/>
                </a:solidFill>
              </a:defRPr>
            </a:pPr>
            <a:r>
              <a:rPr sz="1350" b="1">
                <a:solidFill>
                  <a:srgbClr val="142F4C"/>
                </a:solidFill>
              </a:rPr>
              <a:t>Management review record</a:t>
            </a:r>
          </a:p>
        </p:txBody>
      </p:sp>
      <p:sp>
        <p:nvSpPr>
          <p:cNvPr id="12" name="">
            <a:extLst xmlns:a="http://schemas.openxmlformats.org/drawingml/2006/main">
              <a:ext uri="{FF2B5EF4-FFF2-40B4-BE49-F238E27FC236}">
                <a16:creationId xmlns:a16="http://schemas.microsoft.com/office/drawing/2014/main" id="{35BB73E9-6547-46FB-8FF0-198FB3327990}"/>
              </a:ext>
            </a:extLst>
          </p:cNvPr>
          <p:cNvSpPr>
            <a:spLocks xmlns:a="http://schemas.openxmlformats.org/drawingml/2006/main" noGrp="1"/>
          </p:cNvSpPr>
          <p:nvPr/>
        </p:nvSpPr>
        <p:spPr>
          <a:xfrm xmlns:a="http://schemas.openxmlformats.org/drawingml/2006/main">
            <a:off x="4000500" y="2733675"/>
            <a:ext cx="4953000" cy="228600"/>
          </a:xfrm>
          <a:prstGeom xmlns:a="http://schemas.openxmlformats.org/drawingml/2006/main" prst="rect">
            <a:avLst/>
          </a:prstGeom>
          <a:solidFill xmlns:a="http://schemas.openxmlformats.org/drawingml/2006/main">
            <a:srgbClr val="D9E1E7"/>
          </a:solidFill>
          <a:ln xmlns:a="http://schemas.openxmlformats.org/drawingml/2006/main" w="0">
            <a:solidFill>
              <a:srgbClr val="D9E1E7"/>
            </a:solidFill>
            <a:prstDash val="solid"/>
          </a:ln>
        </p:spPr>
      </p:sp>
      <p:sp>
        <p:nvSpPr>
          <p:cNvPr id="13" name="">
            <a:extLst xmlns:a="http://schemas.openxmlformats.org/drawingml/2006/main">
              <a:ext uri="{FF2B5EF4-FFF2-40B4-BE49-F238E27FC236}">
                <a16:creationId xmlns:a16="http://schemas.microsoft.com/office/drawing/2014/main" id="{CCCCDCA8-321C-4BA0-941C-2135A452915B}"/>
              </a:ext>
            </a:extLst>
          </p:cNvPr>
          <p:cNvSpPr>
            <a:spLocks xmlns:a="http://schemas.openxmlformats.org/drawingml/2006/main" noGrp="1"/>
          </p:cNvSpPr>
          <p:nvPr/>
        </p:nvSpPr>
        <p:spPr>
          <a:xfrm xmlns:a="http://schemas.openxmlformats.org/drawingml/2006/main">
            <a:off x="4000500" y="2733675"/>
            <a:ext cx="171450" cy="228600"/>
          </a:xfrm>
          <a:prstGeom xmlns:a="http://schemas.openxmlformats.org/drawingml/2006/main" prst="rect">
            <a:avLst/>
          </a:prstGeom>
          <a:solidFill xmlns:a="http://schemas.openxmlformats.org/drawingml/2006/main">
            <a:srgbClr val="2C4A6B"/>
          </a:solidFill>
          <a:ln xmlns:a="http://schemas.openxmlformats.org/drawingml/2006/main" w="0">
            <a:solidFill>
              <a:srgbClr val="2C4A6B"/>
            </a:solidFill>
            <a:prstDash val="solid"/>
          </a:ln>
        </p:spPr>
      </p:sp>
      <p:sp>
        <p:nvSpPr>
          <p:cNvPr id="14" name="">
            <a:extLst xmlns:a="http://schemas.openxmlformats.org/drawingml/2006/main">
              <a:ext uri="{FF2B5EF4-FFF2-40B4-BE49-F238E27FC236}">
                <a16:creationId xmlns:a16="http://schemas.microsoft.com/office/drawing/2014/main" id="{29A8FCA0-44E3-4E51-B7E4-F890ACF3EB5C}"/>
              </a:ext>
            </a:extLst>
          </p:cNvPr>
          <p:cNvSpPr>
            <a:spLocks xmlns:a="http://schemas.openxmlformats.org/drawingml/2006/main" noGrp="1"/>
          </p:cNvSpPr>
          <p:nvPr/>
        </p:nvSpPr>
        <p:spPr>
          <a:xfrm xmlns:a="http://schemas.openxmlformats.org/drawingml/2006/main">
            <a:off x="9191625" y="2686050"/>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650" b="1">
                <a:solidFill>
                  <a:srgbClr val="142F4C"/>
                </a:solidFill>
              </a:defRPr>
            </a:pPr>
            <a:r>
              <a:rPr sz="1650" b="1">
                <a:solidFill>
                  <a:srgbClr val="142F4C"/>
                </a:solidFill>
              </a:rPr>
              <a:t>0</a:t>
            </a:r>
          </a:p>
        </p:txBody>
      </p:sp>
      <p:sp>
        <p:nvSpPr>
          <p:cNvPr id="15" name="">
            <a:extLst xmlns:a="http://schemas.openxmlformats.org/drawingml/2006/main">
              <a:ext uri="{FF2B5EF4-FFF2-40B4-BE49-F238E27FC236}">
                <a16:creationId xmlns:a16="http://schemas.microsoft.com/office/drawing/2014/main" id="{D03A429A-C0F7-4A93-994E-928D86D5F55A}"/>
              </a:ext>
            </a:extLst>
          </p:cNvPr>
          <p:cNvSpPr>
            <a:spLocks xmlns:a="http://schemas.openxmlformats.org/drawingml/2006/main" noGrp="1"/>
          </p:cNvSpPr>
          <p:nvPr/>
        </p:nvSpPr>
        <p:spPr>
          <a:xfrm xmlns:a="http://schemas.openxmlformats.org/drawingml/2006/main">
            <a:off x="838200" y="32956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142F4C"/>
                </a:solidFill>
              </a:defRPr>
            </a:pPr>
            <a:r>
              <a:rPr sz="1350" b="1">
                <a:solidFill>
                  <a:srgbClr val="142F4C"/>
                </a:solidFill>
              </a:rPr>
              <a:t>Further basis required</a:t>
            </a:r>
          </a:p>
        </p:txBody>
      </p:sp>
      <p:sp>
        <p:nvSpPr>
          <p:cNvPr id="16" name="">
            <a:extLst xmlns:a="http://schemas.openxmlformats.org/drawingml/2006/main">
              <a:ext uri="{FF2B5EF4-FFF2-40B4-BE49-F238E27FC236}">
                <a16:creationId xmlns:a16="http://schemas.microsoft.com/office/drawing/2014/main" id="{5AA82CB4-3023-4F55-9E87-E3E95ED1726E}"/>
              </a:ext>
            </a:extLst>
          </p:cNvPr>
          <p:cNvSpPr>
            <a:spLocks xmlns:a="http://schemas.openxmlformats.org/drawingml/2006/main" noGrp="1"/>
          </p:cNvSpPr>
          <p:nvPr/>
        </p:nvSpPr>
        <p:spPr>
          <a:xfrm xmlns:a="http://schemas.openxmlformats.org/drawingml/2006/main">
            <a:off x="4000500" y="3324225"/>
            <a:ext cx="4953000" cy="228600"/>
          </a:xfrm>
          <a:prstGeom xmlns:a="http://schemas.openxmlformats.org/drawingml/2006/main" prst="rect">
            <a:avLst/>
          </a:prstGeom>
          <a:solidFill xmlns:a="http://schemas.openxmlformats.org/drawingml/2006/main">
            <a:srgbClr val="D9E1E7"/>
          </a:solidFill>
          <a:ln xmlns:a="http://schemas.openxmlformats.org/drawingml/2006/main" w="0">
            <a:solidFill>
              <a:srgbClr val="D9E1E7"/>
            </a:solidFill>
            <a:prstDash val="solid"/>
          </a:ln>
        </p:spPr>
      </p:sp>
      <p:sp>
        <p:nvSpPr>
          <p:cNvPr id="17" name="">
            <a:extLst xmlns:a="http://schemas.openxmlformats.org/drawingml/2006/main">
              <a:ext uri="{FF2B5EF4-FFF2-40B4-BE49-F238E27FC236}">
                <a16:creationId xmlns:a16="http://schemas.microsoft.com/office/drawing/2014/main" id="{76C68314-29F8-48BC-9317-B82100C8EB7D}"/>
              </a:ext>
            </a:extLst>
          </p:cNvPr>
          <p:cNvSpPr>
            <a:spLocks xmlns:a="http://schemas.openxmlformats.org/drawingml/2006/main" noGrp="1"/>
          </p:cNvSpPr>
          <p:nvPr/>
        </p:nvSpPr>
        <p:spPr>
          <a:xfrm xmlns:a="http://schemas.openxmlformats.org/drawingml/2006/main">
            <a:off x="4000500" y="3324225"/>
            <a:ext cx="171450" cy="228600"/>
          </a:xfrm>
          <a:prstGeom xmlns:a="http://schemas.openxmlformats.org/drawingml/2006/main" prst="rect">
            <a:avLst/>
          </a:prstGeom>
          <a:solidFill xmlns:a="http://schemas.openxmlformats.org/drawingml/2006/main">
            <a:srgbClr val="A32020"/>
          </a:solidFill>
          <a:ln xmlns:a="http://schemas.openxmlformats.org/drawingml/2006/main" w="0">
            <a:solidFill>
              <a:srgbClr val="A32020"/>
            </a:solidFill>
            <a:prstDash val="solid"/>
          </a:ln>
        </p:spPr>
      </p:sp>
      <p:sp>
        <p:nvSpPr>
          <p:cNvPr id="18" name="">
            <a:extLst xmlns:a="http://schemas.openxmlformats.org/drawingml/2006/main">
              <a:ext uri="{FF2B5EF4-FFF2-40B4-BE49-F238E27FC236}">
                <a16:creationId xmlns:a16="http://schemas.microsoft.com/office/drawing/2014/main" id="{7D453511-850B-447A-B86A-A7940D4493BA}"/>
              </a:ext>
            </a:extLst>
          </p:cNvPr>
          <p:cNvSpPr>
            <a:spLocks xmlns:a="http://schemas.openxmlformats.org/drawingml/2006/main" noGrp="1"/>
          </p:cNvSpPr>
          <p:nvPr/>
        </p:nvSpPr>
        <p:spPr>
          <a:xfrm xmlns:a="http://schemas.openxmlformats.org/drawingml/2006/main">
            <a:off x="9191625" y="3276600"/>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650" b="1">
                <a:solidFill>
                  <a:srgbClr val="142F4C"/>
                </a:solidFill>
              </a:defRPr>
            </a:pPr>
            <a:r>
              <a:rPr sz="1650" b="1">
                <a:solidFill>
                  <a:srgbClr val="142F4C"/>
                </a:solidFill>
              </a:rPr>
              <a:t>1</a:t>
            </a:r>
          </a:p>
        </p:txBody>
      </p:sp>
      <p:sp>
        <p:nvSpPr>
          <p:cNvPr id="19" name="">
            <a:extLst xmlns:a="http://schemas.openxmlformats.org/drawingml/2006/main">
              <a:ext uri="{FF2B5EF4-FFF2-40B4-BE49-F238E27FC236}">
                <a16:creationId xmlns:a16="http://schemas.microsoft.com/office/drawing/2014/main" id="{5B9F2899-CD1D-4E07-B3B9-86A92DF5FFF5}"/>
              </a:ext>
            </a:extLst>
          </p:cNvPr>
          <p:cNvSpPr>
            <a:spLocks xmlns:a="http://schemas.openxmlformats.org/drawingml/2006/main" noGrp="1"/>
          </p:cNvSpPr>
          <p:nvPr/>
        </p:nvSpPr>
        <p:spPr>
          <a:xfrm xmlns:a="http://schemas.openxmlformats.org/drawingml/2006/main">
            <a:off x="838200" y="38862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142F4C"/>
                </a:solidFill>
              </a:defRPr>
            </a:pPr>
            <a:r>
              <a:rPr sz="1350" b="1">
                <a:solidFill>
                  <a:srgbClr val="142F4C"/>
                </a:solidFill>
              </a:rPr>
              <a:t>Recorded / open</a:t>
            </a:r>
          </a:p>
        </p:txBody>
      </p:sp>
      <p:sp>
        <p:nvSpPr>
          <p:cNvPr id="20" name="">
            <a:extLst xmlns:a="http://schemas.openxmlformats.org/drawingml/2006/main">
              <a:ext uri="{FF2B5EF4-FFF2-40B4-BE49-F238E27FC236}">
                <a16:creationId xmlns:a16="http://schemas.microsoft.com/office/drawing/2014/main" id="{8C08062F-9464-4C08-8527-749B0376765B}"/>
              </a:ext>
            </a:extLst>
          </p:cNvPr>
          <p:cNvSpPr>
            <a:spLocks xmlns:a="http://schemas.openxmlformats.org/drawingml/2006/main" noGrp="1"/>
          </p:cNvSpPr>
          <p:nvPr/>
        </p:nvSpPr>
        <p:spPr>
          <a:xfrm xmlns:a="http://schemas.openxmlformats.org/drawingml/2006/main">
            <a:off x="4000500" y="3914775"/>
            <a:ext cx="4953000" cy="228600"/>
          </a:xfrm>
          <a:prstGeom xmlns:a="http://schemas.openxmlformats.org/drawingml/2006/main" prst="rect">
            <a:avLst/>
          </a:prstGeom>
          <a:solidFill xmlns:a="http://schemas.openxmlformats.org/drawingml/2006/main">
            <a:srgbClr val="D9E1E7"/>
          </a:solidFill>
          <a:ln xmlns:a="http://schemas.openxmlformats.org/drawingml/2006/main" w="0">
            <a:solidFill>
              <a:srgbClr val="D9E1E7"/>
            </a:solidFill>
            <a:prstDash val="solid"/>
          </a:ln>
        </p:spPr>
      </p:sp>
      <p:sp>
        <p:nvSpPr>
          <p:cNvPr id="21" name="">
            <a:extLst xmlns:a="http://schemas.openxmlformats.org/drawingml/2006/main">
              <a:ext uri="{FF2B5EF4-FFF2-40B4-BE49-F238E27FC236}">
                <a16:creationId xmlns:a16="http://schemas.microsoft.com/office/drawing/2014/main" id="{CE143B89-54AE-4023-B6B9-9DCDAED58FBE}"/>
              </a:ext>
            </a:extLst>
          </p:cNvPr>
          <p:cNvSpPr>
            <a:spLocks xmlns:a="http://schemas.openxmlformats.org/drawingml/2006/main" noGrp="1"/>
          </p:cNvSpPr>
          <p:nvPr/>
        </p:nvSpPr>
        <p:spPr>
          <a:xfrm xmlns:a="http://schemas.openxmlformats.org/drawingml/2006/main">
            <a:off x="4000500" y="3914775"/>
            <a:ext cx="4720828" cy="228600"/>
          </a:xfrm>
          <a:prstGeom xmlns:a="http://schemas.openxmlformats.org/drawingml/2006/main" prst="rect">
            <a:avLst/>
          </a:prstGeom>
          <a:solidFill xmlns:a="http://schemas.openxmlformats.org/drawingml/2006/main">
            <a:srgbClr val="C9A227"/>
          </a:solidFill>
          <a:ln xmlns:a="http://schemas.openxmlformats.org/drawingml/2006/main" w="0">
            <a:solidFill>
              <a:srgbClr val="C9A227"/>
            </a:solidFill>
            <a:prstDash val="solid"/>
          </a:ln>
        </p:spPr>
      </p:sp>
      <p:sp>
        <p:nvSpPr>
          <p:cNvPr id="22" name="">
            <a:extLst xmlns:a="http://schemas.openxmlformats.org/drawingml/2006/main">
              <a:ext uri="{FF2B5EF4-FFF2-40B4-BE49-F238E27FC236}">
                <a16:creationId xmlns:a16="http://schemas.microsoft.com/office/drawing/2014/main" id="{821752F9-F9CD-4D74-9014-C3F7D5F1FF75}"/>
              </a:ext>
            </a:extLst>
          </p:cNvPr>
          <p:cNvSpPr>
            <a:spLocks xmlns:a="http://schemas.openxmlformats.org/drawingml/2006/main" noGrp="1"/>
          </p:cNvSpPr>
          <p:nvPr/>
        </p:nvSpPr>
        <p:spPr>
          <a:xfrm xmlns:a="http://schemas.openxmlformats.org/drawingml/2006/main">
            <a:off x="9191625" y="3867150"/>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650" b="1">
                <a:solidFill>
                  <a:srgbClr val="142F4C"/>
                </a:solidFill>
              </a:defRPr>
            </a:pPr>
            <a:r>
              <a:rPr sz="1650" b="1">
                <a:solidFill>
                  <a:srgbClr val="142F4C"/>
                </a:solidFill>
              </a:rPr>
              <a:t>61</a:t>
            </a:r>
          </a:p>
        </p:txBody>
      </p:sp>
      <p:sp>
        <p:nvSpPr>
          <p:cNvPr id="23" name="">
            <a:extLst xmlns:a="http://schemas.openxmlformats.org/drawingml/2006/main">
              <a:ext uri="{FF2B5EF4-FFF2-40B4-BE49-F238E27FC236}">
                <a16:creationId xmlns:a16="http://schemas.microsoft.com/office/drawing/2014/main" id="{6027C477-FD4E-48FD-81D1-3BFDBD425506}"/>
              </a:ext>
            </a:extLst>
          </p:cNvPr>
          <p:cNvSpPr>
            <a:spLocks xmlns:a="http://schemas.openxmlformats.org/drawingml/2006/main" noGrp="1"/>
          </p:cNvSpPr>
          <p:nvPr/>
        </p:nvSpPr>
        <p:spPr>
          <a:xfrm xmlns:a="http://schemas.openxmlformats.org/drawingml/2006/main">
            <a:off x="838200" y="4762500"/>
            <a:ext cx="9191625" cy="876300"/>
          </a:xfrm>
          <a:prstGeom xmlns:a="http://schemas.openxmlformats.org/drawingml/2006/main" prst="roundRect">
            <a:avLst>
              <a:gd name="adj" fmla="val 13043"/>
            </a:avLst>
          </a:prstGeom>
          <a:solidFill xmlns:a="http://schemas.openxmlformats.org/drawingml/2006/main">
            <a:srgbClr val="FFFFFF"/>
          </a:solidFill>
          <a:ln xmlns:a="http://schemas.openxmlformats.org/drawingml/2006/main" w="9525">
            <a:solidFill>
              <a:srgbClr val="D9E1E7"/>
            </a:solidFill>
            <a:prstDash val="solid"/>
          </a:ln>
        </p:spPr>
      </p:sp>
      <p:sp>
        <p:nvSpPr>
          <p:cNvPr id="24" name="">
            <a:extLst xmlns:a="http://schemas.openxmlformats.org/drawingml/2006/main">
              <a:ext uri="{FF2B5EF4-FFF2-40B4-BE49-F238E27FC236}">
                <a16:creationId xmlns:a16="http://schemas.microsoft.com/office/drawing/2014/main" id="{B877741B-2441-4B38-90E7-C28D4DA1AC6D}"/>
              </a:ext>
            </a:extLst>
          </p:cNvPr>
          <p:cNvSpPr>
            <a:spLocks xmlns:a="http://schemas.openxmlformats.org/drawingml/2006/main" noGrp="1"/>
          </p:cNvSpPr>
          <p:nvPr/>
        </p:nvSpPr>
        <p:spPr>
          <a:xfrm xmlns:a="http://schemas.openxmlformats.org/drawingml/2006/main">
            <a:off x="1066800" y="4972050"/>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C9A227"/>
                </a:solidFill>
              </a:defRPr>
            </a:pPr>
            <a:r>
              <a:rPr sz="1200" b="1">
                <a:solidFill>
                  <a:srgbClr val="C9A227"/>
                </a:solidFill>
              </a:rPr>
              <a:t>What the board can rely on</a:t>
            </a:r>
          </a:p>
        </p:txBody>
      </p:sp>
      <p:sp>
        <p:nvSpPr>
          <p:cNvPr id="25" name="">
            <a:extLst xmlns:a="http://schemas.openxmlformats.org/drawingml/2006/main">
              <a:ext uri="{FF2B5EF4-FFF2-40B4-BE49-F238E27FC236}">
                <a16:creationId xmlns:a16="http://schemas.microsoft.com/office/drawing/2014/main" id="{9A3BDAE5-2DEC-4305-83C9-D67DC908774C}"/>
              </a:ext>
            </a:extLst>
          </p:cNvPr>
          <p:cNvSpPr>
            <a:spLocks xmlns:a="http://schemas.openxmlformats.org/drawingml/2006/main" noGrp="1"/>
          </p:cNvSpPr>
          <p:nvPr/>
        </p:nvSpPr>
        <p:spPr>
          <a:xfrm xmlns:a="http://schemas.openxmlformats.org/drawingml/2006/main">
            <a:off x="1066800" y="5295900"/>
            <a:ext cx="828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1A2634"/>
                </a:solidFill>
              </a:defRPr>
            </a:pPr>
            <a:r>
              <a:rPr sz="1350">
                <a:solidFill>
                  <a:srgbClr val="1A2634"/>
                </a:solidFill>
              </a:rPr>
              <a:t>Only the named information scope. An open item limits reliance; it does not mean misconduct occurred.</a:t>
            </a:r>
          </a:p>
        </p:txBody>
      </p:sp>
    </p:spTree>
    <p:extLst>
      <p:ext uri="{BB962C8B-B14F-4D97-AF65-F5344CB8AC3E}">
        <p14:creationId xmlns:p14="http://schemas.microsoft.com/office/powerpoint/2010/main" val="461055899"/>
      </p:ext>
    </p:extLst>
  </p:cSld>
</p:sld>
</file>

<file path=ppt/slides/slide4.xml><?xml version="1.0" encoding="utf-8"?>
<p:sld xmlns:p="http://schemas.openxmlformats.org/presentationml/2006/main">
  <p:cSld>
    <p:bg>
      <p:bgPr>
        <a:solidFill xmlns:a="http://schemas.openxmlformats.org/drawingml/2006/main">
          <a:srgbClr val="FBF9F5"/>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04F9E7D7-2914-4A80-81C9-CC077DAA2636}"/>
              </a:ext>
            </a:extLst>
          </p:cNvPr>
          <p:cNvSpPr>
            <a:spLocks xmlns:a="http://schemas.openxmlformats.org/drawingml/2006/main" noGrp="1"/>
          </p:cNvSpPr>
          <p:nvPr/>
        </p:nvSpPr>
        <p:spPr>
          <a:xfrm xmlns:a="http://schemas.openxmlformats.org/drawingml/2006/main">
            <a:off x="685800" y="4000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C9A227"/>
                </a:solidFill>
              </a:defRPr>
            </a:pPr>
            <a:r>
              <a:rPr sz="1050" b="1">
                <a:solidFill>
                  <a:srgbClr val="C9A227"/>
                </a:solidFill>
              </a:rPr>
              <a:t>COMPREHENSIVE REVIEW · 04</a:t>
            </a:r>
          </a:p>
        </p:txBody>
      </p:sp>
      <p:sp>
        <p:nvSpPr>
          <p:cNvPr id="2" name="">
            <a:extLst xmlns:a="http://schemas.openxmlformats.org/drawingml/2006/main">
              <a:ext uri="{FF2B5EF4-FFF2-40B4-BE49-F238E27FC236}">
                <a16:creationId xmlns:a16="http://schemas.microsoft.com/office/drawing/2014/main" id="{394D7A68-FCBE-4403-9F86-17DE27FCF980}"/>
              </a:ext>
            </a:extLst>
          </p:cNvPr>
          <p:cNvSpPr>
            <a:spLocks xmlns:a="http://schemas.openxmlformats.org/drawingml/2006/main" noGrp="1"/>
          </p:cNvSpPr>
          <p:nvPr/>
        </p:nvSpPr>
        <p:spPr>
          <a:xfrm xmlns:a="http://schemas.openxmlformats.org/drawingml/2006/main">
            <a:off x="685800" y="723900"/>
            <a:ext cx="1028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925" b="1">
                <a:solidFill>
                  <a:srgbClr val="142F4C"/>
                </a:solidFill>
              </a:defRPr>
            </a:pPr>
            <a:r>
              <a:rPr sz="2925" b="1">
                <a:solidFill>
                  <a:srgbClr val="142F4C"/>
                </a:solidFill>
              </a:rPr>
              <a:t>Management review adds context where the assessment is too broad.</a:t>
            </a:r>
          </a:p>
        </p:txBody>
      </p:sp>
      <p:sp>
        <p:nvSpPr>
          <p:cNvPr id="3" name="">
            <a:extLst xmlns:a="http://schemas.openxmlformats.org/drawingml/2006/main">
              <a:ext uri="{FF2B5EF4-FFF2-40B4-BE49-F238E27FC236}">
                <a16:creationId xmlns:a16="http://schemas.microsoft.com/office/drawing/2014/main" id="{1270EDDB-6062-4C07-B9B8-F22D6CFFF897}"/>
              </a:ext>
            </a:extLst>
          </p:cNvPr>
          <p:cNvSpPr>
            <a:spLocks xmlns:a="http://schemas.openxmlformats.org/drawingml/2006/main" noGrp="1"/>
          </p:cNvSpPr>
          <p:nvPr/>
        </p:nvSpPr>
        <p:spPr>
          <a:xfrm xmlns:a="http://schemas.openxmlformats.org/drawingml/2006/main">
            <a:off x="685800" y="1562100"/>
            <a:ext cx="1000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5A6B7C"/>
                </a:solidFill>
              </a:defRPr>
            </a:pPr>
            <a:r>
              <a:rPr sz="1350">
                <a:solidFill>
                  <a:srgbClr val="5A6B7C"/>
                </a:solidFill>
              </a:rPr>
              <a:t>Review notes narrow the conversation to the population and records actually supplied.</a:t>
            </a:r>
          </a:p>
        </p:txBody>
      </p:sp>
      <p:sp>
        <p:nvSpPr>
          <p:cNvPr id="4" name="">
            <a:extLst xmlns:a="http://schemas.openxmlformats.org/drawingml/2006/main">
              <a:ext uri="{FF2B5EF4-FFF2-40B4-BE49-F238E27FC236}">
                <a16:creationId xmlns:a16="http://schemas.microsoft.com/office/drawing/2014/main" id="{ADB34519-6185-4C4A-B53C-431DB3A80A2D}"/>
              </a:ext>
            </a:extLst>
          </p:cNvPr>
          <p:cNvSpPr>
            <a:spLocks xmlns:a="http://schemas.openxmlformats.org/drawingml/2006/main" noGrp="1"/>
          </p:cNvSpPr>
          <p:nvPr/>
        </p:nvSpPr>
        <p:spPr>
          <a:xfrm xmlns:a="http://schemas.openxmlformats.org/drawingml/2006/main">
            <a:off x="685800" y="6324600"/>
            <a:ext cx="10820400" cy="0"/>
          </a:xfrm>
          <a:prstGeom xmlns:a="http://schemas.openxmlformats.org/drawingml/2006/main" prst="line">
            <a:avLst/>
          </a:prstGeom>
          <a:noFill xmlns:a="http://schemas.openxmlformats.org/drawingml/2006/main"/>
          <a:ln xmlns:a="http://schemas.openxmlformats.org/drawingml/2006/main" w="9525">
            <a:solidFill>
              <a:srgbClr val="D9E1E7"/>
            </a:solidFill>
            <a:prstDash val="solid"/>
          </a:ln>
        </p:spPr>
      </p:sp>
      <p:sp>
        <p:nvSpPr>
          <p:cNvPr id="5" name="">
            <a:extLst xmlns:a="http://schemas.openxmlformats.org/drawingml/2006/main">
              <a:ext uri="{FF2B5EF4-FFF2-40B4-BE49-F238E27FC236}">
                <a16:creationId xmlns:a16="http://schemas.microsoft.com/office/drawing/2014/main" id="{84ABD712-D8E1-4F48-A193-CC7FD571531D}"/>
              </a:ext>
            </a:extLst>
          </p:cNvPr>
          <p:cNvSpPr>
            <a:spLocks xmlns:a="http://schemas.openxmlformats.org/drawingml/2006/main" noGrp="1"/>
          </p:cNvSpPr>
          <p:nvPr/>
        </p:nvSpPr>
        <p:spPr>
          <a:xfrm xmlns:a="http://schemas.openxmlformats.org/drawingml/2006/main">
            <a:off x="685800" y="64389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5A6B7C"/>
                </a:solidFill>
              </a:defRPr>
            </a:pPr>
            <a:r>
              <a:rPr sz="975">
                <a:solidFill>
                  <a:srgbClr val="5A6B7C"/>
                </a:solidFill>
              </a:rPr>
              <a:t>MK Fraud Readiness · Comprehensive</a:t>
            </a:r>
          </a:p>
        </p:txBody>
      </p:sp>
      <p:sp>
        <p:nvSpPr>
          <p:cNvPr id="6" name="">
            <a:extLst xmlns:a="http://schemas.openxmlformats.org/drawingml/2006/main">
              <a:ext uri="{FF2B5EF4-FFF2-40B4-BE49-F238E27FC236}">
                <a16:creationId xmlns:a16="http://schemas.microsoft.com/office/drawing/2014/main" id="{6739AD5D-EA2B-42A5-A0B6-F32A6D652DB9}"/>
              </a:ext>
            </a:extLst>
          </p:cNvPr>
          <p:cNvSpPr>
            <a:spLocks xmlns:a="http://schemas.openxmlformats.org/drawingml/2006/main" noGrp="1"/>
          </p:cNvSpPr>
          <p:nvPr/>
        </p:nvSpPr>
        <p:spPr>
          <a:xfrm xmlns:a="http://schemas.openxmlformats.org/drawingml/2006/main">
            <a:off x="10810875" y="643890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a:solidFill>
                  <a:srgbClr val="5A6B7C"/>
                </a:solidFill>
              </a:defRPr>
            </a:pPr>
            <a:r>
              <a:rPr sz="975">
                <a:solidFill>
                  <a:srgbClr val="5A6B7C"/>
                </a:solidFill>
              </a:rPr>
              <a:t>04 / 10</a:t>
            </a:r>
          </a:p>
        </p:txBody>
      </p:sp>
      <p:sp>
        <p:nvSpPr>
          <p:cNvPr id="7" name="">
            <a:extLst xmlns:a="http://schemas.openxmlformats.org/drawingml/2006/main">
              <a:ext uri="{FF2B5EF4-FFF2-40B4-BE49-F238E27FC236}">
                <a16:creationId xmlns:a16="http://schemas.microsoft.com/office/drawing/2014/main" id="{5D3516BC-0275-4C81-B1FF-B8B6D28BD8DC}"/>
              </a:ext>
            </a:extLst>
          </p:cNvPr>
          <p:cNvSpPr>
            <a:spLocks xmlns:a="http://schemas.openxmlformats.org/drawingml/2006/main" noGrp="1"/>
          </p:cNvSpPr>
          <p:nvPr/>
        </p:nvSpPr>
        <p:spPr>
          <a:xfrm xmlns:a="http://schemas.openxmlformats.org/drawingml/2006/main">
            <a:off x="838200" y="1981200"/>
            <a:ext cx="76200" cy="647700"/>
          </a:xfrm>
          <a:prstGeom xmlns:a="http://schemas.openxmlformats.org/drawingml/2006/main" prst="rect">
            <a:avLst/>
          </a:prstGeom>
          <a:solidFill xmlns:a="http://schemas.openxmlformats.org/drawingml/2006/main">
            <a:srgbClr val="1F6B4A"/>
          </a:solidFill>
          <a:ln xmlns:a="http://schemas.openxmlformats.org/drawingml/2006/main" w="0">
            <a:solidFill>
              <a:srgbClr val="1F6B4A"/>
            </a:solidFill>
            <a:prstDash val="solid"/>
          </a:ln>
        </p:spPr>
      </p:sp>
      <p:sp>
        <p:nvSpPr>
          <p:cNvPr id="8" name="">
            <a:extLst xmlns:a="http://schemas.openxmlformats.org/drawingml/2006/main">
              <a:ext uri="{FF2B5EF4-FFF2-40B4-BE49-F238E27FC236}">
                <a16:creationId xmlns:a16="http://schemas.microsoft.com/office/drawing/2014/main" id="{5A324ED2-1466-433C-B925-C19EF20CEA71}"/>
              </a:ext>
            </a:extLst>
          </p:cNvPr>
          <p:cNvSpPr>
            <a:spLocks xmlns:a="http://schemas.openxmlformats.org/drawingml/2006/main" noGrp="1"/>
          </p:cNvSpPr>
          <p:nvPr/>
        </p:nvSpPr>
        <p:spPr>
          <a:xfrm xmlns:a="http://schemas.openxmlformats.org/drawingml/2006/main">
            <a:off x="1104900" y="19812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142F4C"/>
                </a:solidFill>
              </a:defRPr>
            </a:pPr>
            <a:r>
              <a:rPr sz="1350" b="1">
                <a:solidFill>
                  <a:srgbClr val="142F4C"/>
                </a:solidFill>
              </a:rPr>
              <a:t>control design</a:t>
            </a:r>
          </a:p>
        </p:txBody>
      </p:sp>
      <p:sp>
        <p:nvSpPr>
          <p:cNvPr id="9" name="">
            <a:extLst xmlns:a="http://schemas.openxmlformats.org/drawingml/2006/main">
              <a:ext uri="{FF2B5EF4-FFF2-40B4-BE49-F238E27FC236}">
                <a16:creationId xmlns:a16="http://schemas.microsoft.com/office/drawing/2014/main" id="{EA014FE8-5BEA-4EDC-9E51-FEE7D5B4E68F}"/>
              </a:ext>
            </a:extLst>
          </p:cNvPr>
          <p:cNvSpPr>
            <a:spLocks xmlns:a="http://schemas.openxmlformats.org/drawingml/2006/main" noGrp="1"/>
          </p:cNvSpPr>
          <p:nvPr/>
        </p:nvSpPr>
        <p:spPr>
          <a:xfrm xmlns:a="http://schemas.openxmlformats.org/drawingml/2006/main">
            <a:off x="4476750" y="198120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5A6B7C"/>
                </a:solidFill>
              </a:defRPr>
            </a:pPr>
            <a:r>
              <a:rPr sz="1200">
                <a:solidFill>
                  <a:srgbClr val="5A6B7C"/>
                </a:solidFill>
              </a:rPr>
              <a:t>Recorded: Self-reported position retained unless separately evidenced.</a:t>
            </a:r>
          </a:p>
        </p:txBody>
      </p:sp>
      <p:sp>
        <p:nvSpPr>
          <p:cNvPr id="10" name="">
            <a:extLst xmlns:a="http://schemas.openxmlformats.org/drawingml/2006/main">
              <a:ext uri="{FF2B5EF4-FFF2-40B4-BE49-F238E27FC236}">
                <a16:creationId xmlns:a16="http://schemas.microsoft.com/office/drawing/2014/main" id="{8F91DC7D-3BE3-49AC-BB21-75467CE4C5E9}"/>
              </a:ext>
            </a:extLst>
          </p:cNvPr>
          <p:cNvSpPr>
            <a:spLocks xmlns:a="http://schemas.openxmlformats.org/drawingml/2006/main" noGrp="1"/>
          </p:cNvSpPr>
          <p:nvPr/>
        </p:nvSpPr>
        <p:spPr>
          <a:xfrm xmlns:a="http://schemas.openxmlformats.org/drawingml/2006/main">
            <a:off x="7620000" y="1981200"/>
            <a:ext cx="2571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1A2634"/>
                </a:solidFill>
              </a:defRPr>
            </a:pPr>
            <a:r>
              <a:rPr sz="1125">
                <a:solidFill>
                  <a:srgbClr val="1A2634"/>
                </a:solidFill>
              </a:rPr>
              <a:t>Review note: Design weakness: the control has no specification. Without red-flag definitions per process, monitoring frequency, population scope and an exception-handling route, two competent…</a:t>
            </a:r>
          </a:p>
        </p:txBody>
      </p:sp>
      <p:sp>
        <p:nvSpPr>
          <p:cNvPr id="11" name="">
            <a:extLst xmlns:a="http://schemas.openxmlformats.org/drawingml/2006/main">
              <a:ext uri="{FF2B5EF4-FFF2-40B4-BE49-F238E27FC236}">
                <a16:creationId xmlns:a16="http://schemas.microsoft.com/office/drawing/2014/main" id="{65D81EE8-DC2B-4A7B-AC7A-999F8F00AF60}"/>
              </a:ext>
            </a:extLst>
          </p:cNvPr>
          <p:cNvSpPr>
            <a:spLocks xmlns:a="http://schemas.openxmlformats.org/drawingml/2006/main" noGrp="1"/>
          </p:cNvSpPr>
          <p:nvPr/>
        </p:nvSpPr>
        <p:spPr>
          <a:xfrm xmlns:a="http://schemas.openxmlformats.org/drawingml/2006/main">
            <a:off x="838200" y="2876550"/>
            <a:ext cx="76200" cy="647700"/>
          </a:xfrm>
          <a:prstGeom xmlns:a="http://schemas.openxmlformats.org/drawingml/2006/main" prst="rect">
            <a:avLst/>
          </a:prstGeom>
          <a:solidFill xmlns:a="http://schemas.openxmlformats.org/drawingml/2006/main">
            <a:srgbClr val="C9A227"/>
          </a:solidFill>
          <a:ln xmlns:a="http://schemas.openxmlformats.org/drawingml/2006/main" w="0">
            <a:solidFill>
              <a:srgbClr val="C9A227"/>
            </a:solidFill>
            <a:prstDash val="solid"/>
          </a:ln>
        </p:spPr>
      </p:sp>
      <p:sp>
        <p:nvSpPr>
          <p:cNvPr id="12" name="">
            <a:extLst xmlns:a="http://schemas.openxmlformats.org/drawingml/2006/main">
              <a:ext uri="{FF2B5EF4-FFF2-40B4-BE49-F238E27FC236}">
                <a16:creationId xmlns:a16="http://schemas.microsoft.com/office/drawing/2014/main" id="{09801302-E456-4E35-96B8-653401049A14}"/>
              </a:ext>
            </a:extLst>
          </p:cNvPr>
          <p:cNvSpPr>
            <a:spLocks xmlns:a="http://schemas.openxmlformats.org/drawingml/2006/main" noGrp="1"/>
          </p:cNvSpPr>
          <p:nvPr/>
        </p:nvSpPr>
        <p:spPr>
          <a:xfrm xmlns:a="http://schemas.openxmlformats.org/drawingml/2006/main">
            <a:off x="1104900" y="287655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142F4C"/>
                </a:solidFill>
              </a:defRPr>
            </a:pPr>
            <a:r>
              <a:rPr sz="1350" b="1">
                <a:solidFill>
                  <a:srgbClr val="142F4C"/>
                </a:solidFill>
              </a:rPr>
              <a:t>decision</a:t>
            </a:r>
          </a:p>
        </p:txBody>
      </p:sp>
      <p:sp>
        <p:nvSpPr>
          <p:cNvPr id="13" name="">
            <a:extLst xmlns:a="http://schemas.openxmlformats.org/drawingml/2006/main">
              <a:ext uri="{FF2B5EF4-FFF2-40B4-BE49-F238E27FC236}">
                <a16:creationId xmlns:a16="http://schemas.microsoft.com/office/drawing/2014/main" id="{5B9DAFF2-4503-40CD-9FC6-BE0033E6D4CB}"/>
              </a:ext>
            </a:extLst>
          </p:cNvPr>
          <p:cNvSpPr>
            <a:spLocks xmlns:a="http://schemas.openxmlformats.org/drawingml/2006/main" noGrp="1"/>
          </p:cNvSpPr>
          <p:nvPr/>
        </p:nvSpPr>
        <p:spPr>
          <a:xfrm xmlns:a="http://schemas.openxmlformats.org/drawingml/2006/main">
            <a:off x="4476750" y="28765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5A6B7C"/>
                </a:solidFill>
              </a:defRPr>
            </a:pPr>
            <a:r>
              <a:rPr sz="1200">
                <a:solidFill>
                  <a:srgbClr val="5A6B7C"/>
                </a:solidFill>
              </a:rPr>
              <a:t>Recorded: Self-reported position retained unless separately evidenced.</a:t>
            </a:r>
          </a:p>
        </p:txBody>
      </p:sp>
      <p:sp>
        <p:nvSpPr>
          <p:cNvPr id="14" name="">
            <a:extLst xmlns:a="http://schemas.openxmlformats.org/drawingml/2006/main">
              <a:ext uri="{FF2B5EF4-FFF2-40B4-BE49-F238E27FC236}">
                <a16:creationId xmlns:a16="http://schemas.microsoft.com/office/drawing/2014/main" id="{1B6B4187-1B3A-4239-A73B-5E8FF85196AB}"/>
              </a:ext>
            </a:extLst>
          </p:cNvPr>
          <p:cNvSpPr>
            <a:spLocks xmlns:a="http://schemas.openxmlformats.org/drawingml/2006/main" noGrp="1"/>
          </p:cNvSpPr>
          <p:nvPr/>
        </p:nvSpPr>
        <p:spPr>
          <a:xfrm xmlns:a="http://schemas.openxmlformats.org/drawingml/2006/main">
            <a:off x="7620000" y="2876550"/>
            <a:ext cx="2571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1A2634"/>
                </a:solidFill>
              </a:defRPr>
            </a:pPr>
            <a:r>
              <a:rPr sz="1125">
                <a:solidFill>
                  <a:srgbClr val="1A2634"/>
                </a:solidFill>
              </a:rPr>
              <a:t>Review note: Viable options considered. Option A - leave accountability with the Finance Director as the policy currently states. Trade-off: preserves the approved policy…</a:t>
            </a:r>
          </a:p>
        </p:txBody>
      </p:sp>
      <p:sp>
        <p:nvSpPr>
          <p:cNvPr id="15" name="">
            <a:extLst xmlns:a="http://schemas.openxmlformats.org/drawingml/2006/main">
              <a:ext uri="{FF2B5EF4-FFF2-40B4-BE49-F238E27FC236}">
                <a16:creationId xmlns:a16="http://schemas.microsoft.com/office/drawing/2014/main" id="{F1526F73-B0C6-423B-BD34-8E2D75D0575C}"/>
              </a:ext>
            </a:extLst>
          </p:cNvPr>
          <p:cNvSpPr>
            <a:spLocks xmlns:a="http://schemas.openxmlformats.org/drawingml/2006/main" noGrp="1"/>
          </p:cNvSpPr>
          <p:nvPr/>
        </p:nvSpPr>
        <p:spPr>
          <a:xfrm xmlns:a="http://schemas.openxmlformats.org/drawingml/2006/main">
            <a:off x="838200" y="3771900"/>
            <a:ext cx="76200" cy="647700"/>
          </a:xfrm>
          <a:prstGeom xmlns:a="http://schemas.openxmlformats.org/drawingml/2006/main" prst="rect">
            <a:avLst/>
          </a:prstGeom>
          <a:solidFill xmlns:a="http://schemas.openxmlformats.org/drawingml/2006/main">
            <a:srgbClr val="1F6B4A"/>
          </a:solidFill>
          <a:ln xmlns:a="http://schemas.openxmlformats.org/drawingml/2006/main" w="0">
            <a:solidFill>
              <a:srgbClr val="1F6B4A"/>
            </a:solidFill>
            <a:prstDash val="solid"/>
          </a:ln>
        </p:spPr>
      </p:sp>
      <p:sp>
        <p:nvSpPr>
          <p:cNvPr id="16" name="">
            <a:extLst xmlns:a="http://schemas.openxmlformats.org/drawingml/2006/main">
              <a:ext uri="{FF2B5EF4-FFF2-40B4-BE49-F238E27FC236}">
                <a16:creationId xmlns:a16="http://schemas.microsoft.com/office/drawing/2014/main" id="{427DB87D-E27B-4479-A6D7-12061F706E91}"/>
              </a:ext>
            </a:extLst>
          </p:cNvPr>
          <p:cNvSpPr>
            <a:spLocks xmlns:a="http://schemas.openxmlformats.org/drawingml/2006/main" noGrp="1"/>
          </p:cNvSpPr>
          <p:nvPr/>
        </p:nvSpPr>
        <p:spPr>
          <a:xfrm xmlns:a="http://schemas.openxmlformats.org/drawingml/2006/main">
            <a:off x="1104900" y="37719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142F4C"/>
                </a:solidFill>
              </a:defRPr>
            </a:pPr>
            <a:r>
              <a:rPr sz="1350" b="1">
                <a:solidFill>
                  <a:srgbClr val="142F4C"/>
                </a:solidFill>
              </a:rPr>
              <a:t>finding</a:t>
            </a:r>
          </a:p>
        </p:txBody>
      </p:sp>
      <p:sp>
        <p:nvSpPr>
          <p:cNvPr id="17" name="">
            <a:extLst xmlns:a="http://schemas.openxmlformats.org/drawingml/2006/main">
              <a:ext uri="{FF2B5EF4-FFF2-40B4-BE49-F238E27FC236}">
                <a16:creationId xmlns:a16="http://schemas.microsoft.com/office/drawing/2014/main" id="{0DB204FE-D831-49C0-A145-3343DC4299BF}"/>
              </a:ext>
            </a:extLst>
          </p:cNvPr>
          <p:cNvSpPr>
            <a:spLocks xmlns:a="http://schemas.openxmlformats.org/drawingml/2006/main" noGrp="1"/>
          </p:cNvSpPr>
          <p:nvPr/>
        </p:nvSpPr>
        <p:spPr>
          <a:xfrm xmlns:a="http://schemas.openxmlformats.org/drawingml/2006/main">
            <a:off x="4476750" y="377190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5A6B7C"/>
                </a:solidFill>
              </a:defRPr>
            </a:pPr>
            <a:r>
              <a:rPr sz="1200">
                <a:solidFill>
                  <a:srgbClr val="5A6B7C"/>
                </a:solidFill>
              </a:rPr>
              <a:t>Recorded: Self-reported position retained unless separately evidenced.</a:t>
            </a:r>
          </a:p>
        </p:txBody>
      </p:sp>
      <p:sp>
        <p:nvSpPr>
          <p:cNvPr id="18" name="">
            <a:extLst xmlns:a="http://schemas.openxmlformats.org/drawingml/2006/main">
              <a:ext uri="{FF2B5EF4-FFF2-40B4-BE49-F238E27FC236}">
                <a16:creationId xmlns:a16="http://schemas.microsoft.com/office/drawing/2014/main" id="{C4937E1B-F6C1-4362-AD0C-2B66FC321A56}"/>
              </a:ext>
            </a:extLst>
          </p:cNvPr>
          <p:cNvSpPr>
            <a:spLocks xmlns:a="http://schemas.openxmlformats.org/drawingml/2006/main" noGrp="1"/>
          </p:cNvSpPr>
          <p:nvPr/>
        </p:nvSpPr>
        <p:spPr>
          <a:xfrm xmlns:a="http://schemas.openxmlformats.org/drawingml/2006/main">
            <a:off x="7620000" y="3771900"/>
            <a:ext cx="2571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1A2634"/>
                </a:solidFill>
              </a:defRPr>
            </a:pPr>
            <a:r>
              <a:rPr sz="1125">
                <a:solidFill>
                  <a:srgbClr val="1A2634"/>
                </a:solidFill>
              </a:rPr>
              <a:t>Review note: Partially supported, and materially weaker than the self-assessed position. Kestrel asserts transaction and operational monitoring for unusual patterns. The evidence establishes that…</a:t>
            </a:r>
          </a:p>
        </p:txBody>
      </p:sp>
      <p:sp>
        <p:nvSpPr>
          <p:cNvPr id="19" name="">
            <a:extLst xmlns:a="http://schemas.openxmlformats.org/drawingml/2006/main">
              <a:ext uri="{FF2B5EF4-FFF2-40B4-BE49-F238E27FC236}">
                <a16:creationId xmlns:a16="http://schemas.microsoft.com/office/drawing/2014/main" id="{B964C89E-B7CD-4126-B555-47ADAE794851}"/>
              </a:ext>
            </a:extLst>
          </p:cNvPr>
          <p:cNvSpPr>
            <a:spLocks xmlns:a="http://schemas.openxmlformats.org/drawingml/2006/main" noGrp="1"/>
          </p:cNvSpPr>
          <p:nvPr/>
        </p:nvSpPr>
        <p:spPr>
          <a:xfrm xmlns:a="http://schemas.openxmlformats.org/drawingml/2006/main">
            <a:off x="838200" y="4667250"/>
            <a:ext cx="76200" cy="647700"/>
          </a:xfrm>
          <a:prstGeom xmlns:a="http://schemas.openxmlformats.org/drawingml/2006/main" prst="rect">
            <a:avLst/>
          </a:prstGeom>
          <a:solidFill xmlns:a="http://schemas.openxmlformats.org/drawingml/2006/main">
            <a:srgbClr val="C9A227"/>
          </a:solidFill>
          <a:ln xmlns:a="http://schemas.openxmlformats.org/drawingml/2006/main" w="0">
            <a:solidFill>
              <a:srgbClr val="C9A227"/>
            </a:solidFill>
            <a:prstDash val="solid"/>
          </a:ln>
        </p:spPr>
      </p:sp>
      <p:sp>
        <p:nvSpPr>
          <p:cNvPr id="20" name="">
            <a:extLst xmlns:a="http://schemas.openxmlformats.org/drawingml/2006/main">
              <a:ext uri="{FF2B5EF4-FFF2-40B4-BE49-F238E27FC236}">
                <a16:creationId xmlns:a16="http://schemas.microsoft.com/office/drawing/2014/main" id="{2E5715CD-C428-4C16-BCE3-EC0EB8F99184}"/>
              </a:ext>
            </a:extLst>
          </p:cNvPr>
          <p:cNvSpPr>
            <a:spLocks xmlns:a="http://schemas.openxmlformats.org/drawingml/2006/main" noGrp="1"/>
          </p:cNvSpPr>
          <p:nvPr/>
        </p:nvSpPr>
        <p:spPr>
          <a:xfrm xmlns:a="http://schemas.openxmlformats.org/drawingml/2006/main">
            <a:off x="1104900" y="466725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142F4C"/>
                </a:solidFill>
              </a:defRPr>
            </a:pPr>
            <a:r>
              <a:rPr sz="1350" b="1">
                <a:solidFill>
                  <a:srgbClr val="142F4C"/>
                </a:solidFill>
              </a:rPr>
              <a:t>Fraud Detection Capability: The organisation monitors transactions or operational activity for unusual patterns, anomalies or red flags.</a:t>
            </a:r>
          </a:p>
        </p:txBody>
      </p:sp>
      <p:sp>
        <p:nvSpPr>
          <p:cNvPr id="21" name="">
            <a:extLst xmlns:a="http://schemas.openxmlformats.org/drawingml/2006/main">
              <a:ext uri="{FF2B5EF4-FFF2-40B4-BE49-F238E27FC236}">
                <a16:creationId xmlns:a16="http://schemas.microsoft.com/office/drawing/2014/main" id="{E656196C-905B-4F4B-A8A7-C95C86D0BBF9}"/>
              </a:ext>
            </a:extLst>
          </p:cNvPr>
          <p:cNvSpPr>
            <a:spLocks xmlns:a="http://schemas.openxmlformats.org/drawingml/2006/main" noGrp="1"/>
          </p:cNvSpPr>
          <p:nvPr/>
        </p:nvSpPr>
        <p:spPr>
          <a:xfrm xmlns:a="http://schemas.openxmlformats.org/drawingml/2006/main">
            <a:off x="4476750" y="46672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5A6B7C"/>
                </a:solidFill>
              </a:defRPr>
            </a:pPr>
            <a:r>
              <a:rPr sz="1200">
                <a:solidFill>
                  <a:srgbClr val="5A6B7C"/>
                </a:solidFill>
              </a:rPr>
              <a:t>Recorded: Self-reported position: Partially designed — Some elements exist, but implementation is incomplete, inconsistent or not evidenced.</a:t>
            </a:r>
          </a:p>
        </p:txBody>
      </p:sp>
      <p:sp>
        <p:nvSpPr>
          <p:cNvPr id="22" name="">
            <a:extLst xmlns:a="http://schemas.openxmlformats.org/drawingml/2006/main">
              <a:ext uri="{FF2B5EF4-FFF2-40B4-BE49-F238E27FC236}">
                <a16:creationId xmlns:a16="http://schemas.microsoft.com/office/drawing/2014/main" id="{4FE61DAD-16A2-46EE-86C4-D386D91CD2C1}"/>
              </a:ext>
            </a:extLst>
          </p:cNvPr>
          <p:cNvSpPr>
            <a:spLocks xmlns:a="http://schemas.openxmlformats.org/drawingml/2006/main" noGrp="1"/>
          </p:cNvSpPr>
          <p:nvPr/>
        </p:nvSpPr>
        <p:spPr>
          <a:xfrm xmlns:a="http://schemas.openxmlformats.org/drawingml/2006/main">
            <a:off x="7620000" y="4667250"/>
            <a:ext cx="2571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1A2634"/>
                </a:solidFill>
              </a:defRPr>
            </a:pPr>
            <a:r>
              <a:rPr sz="1125">
                <a:solidFill>
                  <a:srgbClr val="1A2634"/>
                </a:solidFill>
              </a:rPr>
              <a:t>Review note: The supplied information does not establish an unqualified conclusion for the recorded scope.</a:t>
            </a:r>
          </a:p>
        </p:txBody>
      </p:sp>
    </p:spTree>
    <p:extLst>
      <p:ext uri="{BB962C8B-B14F-4D97-AF65-F5344CB8AC3E}">
        <p14:creationId xmlns:p14="http://schemas.microsoft.com/office/powerpoint/2010/main" val="445794860"/>
      </p:ext>
    </p:extLst>
  </p:cSld>
</p:sld>
</file>

<file path=ppt/slides/slide5.xml><?xml version="1.0" encoding="utf-8"?>
<p:sld xmlns:p="http://schemas.openxmlformats.org/presentationml/2006/main">
  <p:cSld>
    <p:bg>
      <p:bgPr>
        <a:solidFill xmlns:a="http://schemas.openxmlformats.org/drawingml/2006/main">
          <a:srgbClr val="FBF9F5"/>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8E25FE16-8A15-410E-9BE0-143AFB22F473}"/>
              </a:ext>
            </a:extLst>
          </p:cNvPr>
          <p:cNvSpPr>
            <a:spLocks xmlns:a="http://schemas.openxmlformats.org/drawingml/2006/main" noGrp="1"/>
          </p:cNvSpPr>
          <p:nvPr/>
        </p:nvSpPr>
        <p:spPr>
          <a:xfrm xmlns:a="http://schemas.openxmlformats.org/drawingml/2006/main">
            <a:off x="685800" y="4000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C9A227"/>
                </a:solidFill>
              </a:defRPr>
            </a:pPr>
            <a:r>
              <a:rPr sz="1050" b="1">
                <a:solidFill>
                  <a:srgbClr val="C9A227"/>
                </a:solidFill>
              </a:rPr>
              <a:t>COMPREHENSIVE REVIEW · 05</a:t>
            </a:r>
          </a:p>
        </p:txBody>
      </p:sp>
      <p:sp>
        <p:nvSpPr>
          <p:cNvPr id="2" name="">
            <a:extLst xmlns:a="http://schemas.openxmlformats.org/drawingml/2006/main">
              <a:ext uri="{FF2B5EF4-FFF2-40B4-BE49-F238E27FC236}">
                <a16:creationId xmlns:a16="http://schemas.microsoft.com/office/drawing/2014/main" id="{9A2B0077-C379-4C83-AC18-CB196310ED0C}"/>
              </a:ext>
            </a:extLst>
          </p:cNvPr>
          <p:cNvSpPr>
            <a:spLocks xmlns:a="http://schemas.openxmlformats.org/drawingml/2006/main" noGrp="1"/>
          </p:cNvSpPr>
          <p:nvPr/>
        </p:nvSpPr>
        <p:spPr>
          <a:xfrm xmlns:a="http://schemas.openxmlformats.org/drawingml/2006/main">
            <a:off x="685800" y="723900"/>
            <a:ext cx="1028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925" b="1">
                <a:solidFill>
                  <a:srgbClr val="142F4C"/>
                </a:solidFill>
              </a:defRPr>
            </a:pPr>
            <a:r>
              <a:rPr sz="2925" b="1">
                <a:solidFill>
                  <a:srgbClr val="142F4C"/>
                </a:solidFill>
              </a:rPr>
              <a:t>Risk concentrates where ownership, detection and response do not yet connect.</a:t>
            </a:r>
          </a:p>
        </p:txBody>
      </p:sp>
      <p:sp>
        <p:nvSpPr>
          <p:cNvPr id="3" name="">
            <a:extLst xmlns:a="http://schemas.openxmlformats.org/drawingml/2006/main">
              <a:ext uri="{FF2B5EF4-FFF2-40B4-BE49-F238E27FC236}">
                <a16:creationId xmlns:a16="http://schemas.microsoft.com/office/drawing/2014/main" id="{DB7628B8-05AA-4C28-8B07-08DFA437AA9B}"/>
              </a:ext>
            </a:extLst>
          </p:cNvPr>
          <p:cNvSpPr>
            <a:spLocks xmlns:a="http://schemas.openxmlformats.org/drawingml/2006/main" noGrp="1"/>
          </p:cNvSpPr>
          <p:nvPr/>
        </p:nvSpPr>
        <p:spPr>
          <a:xfrm xmlns:a="http://schemas.openxmlformats.org/drawingml/2006/main">
            <a:off x="685800" y="1562100"/>
            <a:ext cx="1000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5A6B7C"/>
                </a:solidFill>
              </a:defRPr>
            </a:pPr>
            <a:r>
              <a:rPr sz="1350">
                <a:solidFill>
                  <a:srgbClr val="5A6B7C"/>
                </a:solidFill>
              </a:rPr>
              <a:t>Top risk pathways are shown as operating exposure, not as allegations.</a:t>
            </a:r>
          </a:p>
        </p:txBody>
      </p:sp>
      <p:sp>
        <p:nvSpPr>
          <p:cNvPr id="4" name="">
            <a:extLst xmlns:a="http://schemas.openxmlformats.org/drawingml/2006/main">
              <a:ext uri="{FF2B5EF4-FFF2-40B4-BE49-F238E27FC236}">
                <a16:creationId xmlns:a16="http://schemas.microsoft.com/office/drawing/2014/main" id="{11BCBA76-E98E-403E-AB9B-7ABAB3B07D51}"/>
              </a:ext>
            </a:extLst>
          </p:cNvPr>
          <p:cNvSpPr>
            <a:spLocks xmlns:a="http://schemas.openxmlformats.org/drawingml/2006/main" noGrp="1"/>
          </p:cNvSpPr>
          <p:nvPr/>
        </p:nvSpPr>
        <p:spPr>
          <a:xfrm xmlns:a="http://schemas.openxmlformats.org/drawingml/2006/main">
            <a:off x="685800" y="6324600"/>
            <a:ext cx="10820400" cy="0"/>
          </a:xfrm>
          <a:prstGeom xmlns:a="http://schemas.openxmlformats.org/drawingml/2006/main" prst="line">
            <a:avLst/>
          </a:prstGeom>
          <a:noFill xmlns:a="http://schemas.openxmlformats.org/drawingml/2006/main"/>
          <a:ln xmlns:a="http://schemas.openxmlformats.org/drawingml/2006/main" w="9525">
            <a:solidFill>
              <a:srgbClr val="D9E1E7"/>
            </a:solidFill>
            <a:prstDash val="solid"/>
          </a:ln>
        </p:spPr>
      </p:sp>
      <p:sp>
        <p:nvSpPr>
          <p:cNvPr id="5" name="">
            <a:extLst xmlns:a="http://schemas.openxmlformats.org/drawingml/2006/main">
              <a:ext uri="{FF2B5EF4-FFF2-40B4-BE49-F238E27FC236}">
                <a16:creationId xmlns:a16="http://schemas.microsoft.com/office/drawing/2014/main" id="{2472AF65-0B12-4A4A-A0FC-B01C06C2D468}"/>
              </a:ext>
            </a:extLst>
          </p:cNvPr>
          <p:cNvSpPr>
            <a:spLocks xmlns:a="http://schemas.openxmlformats.org/drawingml/2006/main" noGrp="1"/>
          </p:cNvSpPr>
          <p:nvPr/>
        </p:nvSpPr>
        <p:spPr>
          <a:xfrm xmlns:a="http://schemas.openxmlformats.org/drawingml/2006/main">
            <a:off x="685800" y="64389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5A6B7C"/>
                </a:solidFill>
              </a:defRPr>
            </a:pPr>
            <a:r>
              <a:rPr sz="975">
                <a:solidFill>
                  <a:srgbClr val="5A6B7C"/>
                </a:solidFill>
              </a:rPr>
              <a:t>MK Fraud Readiness · Comprehensive</a:t>
            </a:r>
          </a:p>
        </p:txBody>
      </p:sp>
      <p:sp>
        <p:nvSpPr>
          <p:cNvPr id="6" name="">
            <a:extLst xmlns:a="http://schemas.openxmlformats.org/drawingml/2006/main">
              <a:ext uri="{FF2B5EF4-FFF2-40B4-BE49-F238E27FC236}">
                <a16:creationId xmlns:a16="http://schemas.microsoft.com/office/drawing/2014/main" id="{4F7725BC-47B9-42EF-88D5-D7406A6DB844}"/>
              </a:ext>
            </a:extLst>
          </p:cNvPr>
          <p:cNvSpPr>
            <a:spLocks xmlns:a="http://schemas.openxmlformats.org/drawingml/2006/main" noGrp="1"/>
          </p:cNvSpPr>
          <p:nvPr/>
        </p:nvSpPr>
        <p:spPr>
          <a:xfrm xmlns:a="http://schemas.openxmlformats.org/drawingml/2006/main">
            <a:off x="10810875" y="643890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a:solidFill>
                  <a:srgbClr val="5A6B7C"/>
                </a:solidFill>
              </a:defRPr>
            </a:pPr>
            <a:r>
              <a:rPr sz="975">
                <a:solidFill>
                  <a:srgbClr val="5A6B7C"/>
                </a:solidFill>
              </a:rPr>
              <a:t>05 / 10</a:t>
            </a:r>
          </a:p>
        </p:txBody>
      </p:sp>
      <p:sp>
        <p:nvSpPr>
          <p:cNvPr id="7" name="">
            <a:extLst xmlns:a="http://schemas.openxmlformats.org/drawingml/2006/main">
              <a:ext uri="{FF2B5EF4-FFF2-40B4-BE49-F238E27FC236}">
                <a16:creationId xmlns:a16="http://schemas.microsoft.com/office/drawing/2014/main" id="{5D758043-37CB-45C5-89DB-B91E4AD14F4B}"/>
              </a:ext>
            </a:extLst>
          </p:cNvPr>
          <p:cNvSpPr>
            <a:spLocks xmlns:a="http://schemas.openxmlformats.org/drawingml/2006/main" noGrp="1"/>
          </p:cNvSpPr>
          <p:nvPr/>
        </p:nvSpPr>
        <p:spPr>
          <a:xfrm xmlns:a="http://schemas.openxmlformats.org/drawingml/2006/main">
            <a:off x="838200" y="1981200"/>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42F4C"/>
                </a:solidFill>
              </a:defRPr>
            </a:pPr>
            <a:r>
              <a:rPr sz="1275" b="1">
                <a:solidFill>
                  <a:srgbClr val="142F4C"/>
                </a:solidFill>
              </a:rPr>
              <a:t>Unauthorised system access enables transaction or record manipulation</a:t>
            </a:r>
          </a:p>
        </p:txBody>
      </p:sp>
      <p:sp>
        <p:nvSpPr>
          <p:cNvPr id="8" name="">
            <a:extLst xmlns:a="http://schemas.openxmlformats.org/drawingml/2006/main">
              <a:ext uri="{FF2B5EF4-FFF2-40B4-BE49-F238E27FC236}">
                <a16:creationId xmlns:a16="http://schemas.microsoft.com/office/drawing/2014/main" id="{52589CE1-BEEB-4973-9C26-229D31A0A8E7}"/>
              </a:ext>
            </a:extLst>
          </p:cNvPr>
          <p:cNvSpPr>
            <a:spLocks xmlns:a="http://schemas.openxmlformats.org/drawingml/2006/main" noGrp="1"/>
          </p:cNvSpPr>
          <p:nvPr/>
        </p:nvSpPr>
        <p:spPr>
          <a:xfrm xmlns:a="http://schemas.openxmlformats.org/drawingml/2006/main">
            <a:off x="4810125" y="2057400"/>
            <a:ext cx="3429000" cy="190500"/>
          </a:xfrm>
          <a:prstGeom xmlns:a="http://schemas.openxmlformats.org/drawingml/2006/main" prst="rect">
            <a:avLst/>
          </a:prstGeom>
          <a:solidFill xmlns:a="http://schemas.openxmlformats.org/drawingml/2006/main">
            <a:srgbClr val="D9E1E7"/>
          </a:solidFill>
          <a:ln xmlns:a="http://schemas.openxmlformats.org/drawingml/2006/main" w="0">
            <a:solidFill>
              <a:srgbClr val="D9E1E7"/>
            </a:solidFill>
            <a:prstDash val="solid"/>
          </a:ln>
        </p:spPr>
      </p:sp>
      <p:sp>
        <p:nvSpPr>
          <p:cNvPr id="9" name="">
            <a:extLst xmlns:a="http://schemas.openxmlformats.org/drawingml/2006/main">
              <a:ext uri="{FF2B5EF4-FFF2-40B4-BE49-F238E27FC236}">
                <a16:creationId xmlns:a16="http://schemas.microsoft.com/office/drawing/2014/main" id="{2E906821-18AA-4888-BCD8-C75C20CFAE4A}"/>
              </a:ext>
            </a:extLst>
          </p:cNvPr>
          <p:cNvSpPr>
            <a:spLocks xmlns:a="http://schemas.openxmlformats.org/drawingml/2006/main" noGrp="1"/>
          </p:cNvSpPr>
          <p:nvPr/>
        </p:nvSpPr>
        <p:spPr>
          <a:xfrm xmlns:a="http://schemas.openxmlformats.org/drawingml/2006/main">
            <a:off x="4810125" y="2057400"/>
            <a:ext cx="3429000" cy="190500"/>
          </a:xfrm>
          <a:prstGeom xmlns:a="http://schemas.openxmlformats.org/drawingml/2006/main" prst="rect">
            <a:avLst/>
          </a:prstGeom>
          <a:solidFill xmlns:a="http://schemas.openxmlformats.org/drawingml/2006/main">
            <a:srgbClr val="A32020"/>
          </a:solidFill>
          <a:ln xmlns:a="http://schemas.openxmlformats.org/drawingml/2006/main" w="0">
            <a:solidFill>
              <a:srgbClr val="A32020"/>
            </a:solidFill>
            <a:prstDash val="solid"/>
          </a:ln>
        </p:spPr>
      </p:sp>
      <p:sp>
        <p:nvSpPr>
          <p:cNvPr id="10" name="">
            <a:extLst xmlns:a="http://schemas.openxmlformats.org/drawingml/2006/main">
              <a:ext uri="{FF2B5EF4-FFF2-40B4-BE49-F238E27FC236}">
                <a16:creationId xmlns:a16="http://schemas.microsoft.com/office/drawing/2014/main" id="{5E953E44-C413-4CD0-9862-7DC505F52B98}"/>
              </a:ext>
            </a:extLst>
          </p:cNvPr>
          <p:cNvSpPr>
            <a:spLocks xmlns:a="http://schemas.openxmlformats.org/drawingml/2006/main" noGrp="1"/>
          </p:cNvSpPr>
          <p:nvPr/>
        </p:nvSpPr>
        <p:spPr>
          <a:xfrm xmlns:a="http://schemas.openxmlformats.org/drawingml/2006/main">
            <a:off x="8496300" y="200025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A32020"/>
                </a:solidFill>
              </a:defRPr>
            </a:pPr>
            <a:r>
              <a:rPr sz="1200" b="1">
                <a:solidFill>
                  <a:srgbClr val="A32020"/>
                </a:solidFill>
              </a:rPr>
              <a:t>Critical</a:t>
            </a:r>
          </a:p>
        </p:txBody>
      </p:sp>
      <p:sp>
        <p:nvSpPr>
          <p:cNvPr id="11" name="">
            <a:extLst xmlns:a="http://schemas.openxmlformats.org/drawingml/2006/main">
              <a:ext uri="{FF2B5EF4-FFF2-40B4-BE49-F238E27FC236}">
                <a16:creationId xmlns:a16="http://schemas.microsoft.com/office/drawing/2014/main" id="{63462F32-647B-424A-9DB9-167C268560E5}"/>
              </a:ext>
            </a:extLst>
          </p:cNvPr>
          <p:cNvSpPr>
            <a:spLocks xmlns:a="http://schemas.openxmlformats.org/drawingml/2006/main" noGrp="1"/>
          </p:cNvSpPr>
          <p:nvPr/>
        </p:nvSpPr>
        <p:spPr>
          <a:xfrm xmlns:a="http://schemas.openxmlformats.org/drawingml/2006/main">
            <a:off x="9620250" y="1981200"/>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5A6B7C"/>
                </a:solidFill>
              </a:defRPr>
            </a:pPr>
            <a:r>
              <a:rPr sz="975">
                <a:solidFill>
                  <a:srgbClr val="5A6B7C"/>
                </a:solidFill>
              </a:rPr>
              <a:t>Unauthorised system access enables transaction or record manipulation. IT…</a:t>
            </a:r>
          </a:p>
        </p:txBody>
      </p:sp>
      <p:sp>
        <p:nvSpPr>
          <p:cNvPr id="12" name="">
            <a:extLst xmlns:a="http://schemas.openxmlformats.org/drawingml/2006/main">
              <a:ext uri="{FF2B5EF4-FFF2-40B4-BE49-F238E27FC236}">
                <a16:creationId xmlns:a16="http://schemas.microsoft.com/office/drawing/2014/main" id="{B686102E-4F64-4E75-87B4-E81C5785DA41}"/>
              </a:ext>
            </a:extLst>
          </p:cNvPr>
          <p:cNvSpPr>
            <a:spLocks xmlns:a="http://schemas.openxmlformats.org/drawingml/2006/main" noGrp="1"/>
          </p:cNvSpPr>
          <p:nvPr/>
        </p:nvSpPr>
        <p:spPr>
          <a:xfrm xmlns:a="http://schemas.openxmlformats.org/drawingml/2006/main">
            <a:off x="838200" y="2647950"/>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42F4C"/>
                </a:solidFill>
              </a:defRPr>
            </a:pPr>
            <a:r>
              <a:rPr sz="1275" b="1">
                <a:solidFill>
                  <a:srgbClr val="142F4C"/>
                </a:solidFill>
              </a:rPr>
              <a:t>Fraud Detection Capability control effectiveness risk</a:t>
            </a:r>
          </a:p>
        </p:txBody>
      </p:sp>
      <p:sp>
        <p:nvSpPr>
          <p:cNvPr id="13" name="">
            <a:extLst xmlns:a="http://schemas.openxmlformats.org/drawingml/2006/main">
              <a:ext uri="{FF2B5EF4-FFF2-40B4-BE49-F238E27FC236}">
                <a16:creationId xmlns:a16="http://schemas.microsoft.com/office/drawing/2014/main" id="{6CC319DD-DC1E-4028-9526-C003FC76C2F6}"/>
              </a:ext>
            </a:extLst>
          </p:cNvPr>
          <p:cNvSpPr>
            <a:spLocks xmlns:a="http://schemas.openxmlformats.org/drawingml/2006/main" noGrp="1"/>
          </p:cNvSpPr>
          <p:nvPr/>
        </p:nvSpPr>
        <p:spPr>
          <a:xfrm xmlns:a="http://schemas.openxmlformats.org/drawingml/2006/main">
            <a:off x="4810125" y="2724150"/>
            <a:ext cx="3429000" cy="190500"/>
          </a:xfrm>
          <a:prstGeom xmlns:a="http://schemas.openxmlformats.org/drawingml/2006/main" prst="rect">
            <a:avLst/>
          </a:prstGeom>
          <a:solidFill xmlns:a="http://schemas.openxmlformats.org/drawingml/2006/main">
            <a:srgbClr val="D9E1E7"/>
          </a:solidFill>
          <a:ln xmlns:a="http://schemas.openxmlformats.org/drawingml/2006/main" w="0">
            <a:solidFill>
              <a:srgbClr val="D9E1E7"/>
            </a:solidFill>
            <a:prstDash val="solid"/>
          </a:ln>
        </p:spPr>
      </p:sp>
      <p:sp>
        <p:nvSpPr>
          <p:cNvPr id="14" name="">
            <a:extLst xmlns:a="http://schemas.openxmlformats.org/drawingml/2006/main">
              <a:ext uri="{FF2B5EF4-FFF2-40B4-BE49-F238E27FC236}">
                <a16:creationId xmlns:a16="http://schemas.microsoft.com/office/drawing/2014/main" id="{ED3AF546-6F2C-452C-BF7D-228B272BB3D8}"/>
              </a:ext>
            </a:extLst>
          </p:cNvPr>
          <p:cNvSpPr>
            <a:spLocks xmlns:a="http://schemas.openxmlformats.org/drawingml/2006/main" noGrp="1"/>
          </p:cNvSpPr>
          <p:nvPr/>
        </p:nvSpPr>
        <p:spPr>
          <a:xfrm xmlns:a="http://schemas.openxmlformats.org/drawingml/2006/main">
            <a:off x="4810125" y="2724150"/>
            <a:ext cx="3429000" cy="190500"/>
          </a:xfrm>
          <a:prstGeom xmlns:a="http://schemas.openxmlformats.org/drawingml/2006/main" prst="rect">
            <a:avLst/>
          </a:prstGeom>
          <a:solidFill xmlns:a="http://schemas.openxmlformats.org/drawingml/2006/main">
            <a:srgbClr val="A32020"/>
          </a:solidFill>
          <a:ln xmlns:a="http://schemas.openxmlformats.org/drawingml/2006/main" w="0">
            <a:solidFill>
              <a:srgbClr val="A32020"/>
            </a:solidFill>
            <a:prstDash val="solid"/>
          </a:ln>
        </p:spPr>
      </p:sp>
      <p:sp>
        <p:nvSpPr>
          <p:cNvPr id="15" name="">
            <a:extLst xmlns:a="http://schemas.openxmlformats.org/drawingml/2006/main">
              <a:ext uri="{FF2B5EF4-FFF2-40B4-BE49-F238E27FC236}">
                <a16:creationId xmlns:a16="http://schemas.microsoft.com/office/drawing/2014/main" id="{7FF18383-8B70-4127-8EAE-96EE572C53E7}"/>
              </a:ext>
            </a:extLst>
          </p:cNvPr>
          <p:cNvSpPr>
            <a:spLocks xmlns:a="http://schemas.openxmlformats.org/drawingml/2006/main" noGrp="1"/>
          </p:cNvSpPr>
          <p:nvPr/>
        </p:nvSpPr>
        <p:spPr>
          <a:xfrm xmlns:a="http://schemas.openxmlformats.org/drawingml/2006/main">
            <a:off x="8496300" y="266700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A32020"/>
                </a:solidFill>
              </a:defRPr>
            </a:pPr>
            <a:r>
              <a:rPr sz="1200" b="1">
                <a:solidFill>
                  <a:srgbClr val="A32020"/>
                </a:solidFill>
              </a:rPr>
              <a:t>Critical</a:t>
            </a:r>
          </a:p>
        </p:txBody>
      </p:sp>
      <p:sp>
        <p:nvSpPr>
          <p:cNvPr id="16" name="">
            <a:extLst xmlns:a="http://schemas.openxmlformats.org/drawingml/2006/main">
              <a:ext uri="{FF2B5EF4-FFF2-40B4-BE49-F238E27FC236}">
                <a16:creationId xmlns:a16="http://schemas.microsoft.com/office/drawing/2014/main" id="{41C64CA4-7F68-4D10-8B79-F58984A67280}"/>
              </a:ext>
            </a:extLst>
          </p:cNvPr>
          <p:cNvSpPr>
            <a:spLocks xmlns:a="http://schemas.openxmlformats.org/drawingml/2006/main" noGrp="1"/>
          </p:cNvSpPr>
          <p:nvPr/>
        </p:nvSpPr>
        <p:spPr>
          <a:xfrm xmlns:a="http://schemas.openxmlformats.org/drawingml/2006/main">
            <a:off x="9620250" y="2647950"/>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5A6B7C"/>
                </a:solidFill>
              </a:defRPr>
            </a:pPr>
            <a:r>
              <a:rPr sz="975">
                <a:solidFill>
                  <a:srgbClr val="5A6B7C"/>
                </a:solidFill>
              </a:rPr>
              <a:t>Fraud Detection Capability control effectiveness risk. The monitoring owner…</a:t>
            </a:r>
          </a:p>
        </p:txBody>
      </p:sp>
      <p:sp>
        <p:nvSpPr>
          <p:cNvPr id="17" name="">
            <a:extLst xmlns:a="http://schemas.openxmlformats.org/drawingml/2006/main">
              <a:ext uri="{FF2B5EF4-FFF2-40B4-BE49-F238E27FC236}">
                <a16:creationId xmlns:a16="http://schemas.microsoft.com/office/drawing/2014/main" id="{3DE95C71-143E-45C0-9E47-4A6298D88CAA}"/>
              </a:ext>
            </a:extLst>
          </p:cNvPr>
          <p:cNvSpPr>
            <a:spLocks xmlns:a="http://schemas.openxmlformats.org/drawingml/2006/main" noGrp="1"/>
          </p:cNvSpPr>
          <p:nvPr/>
        </p:nvSpPr>
        <p:spPr>
          <a:xfrm xmlns:a="http://schemas.openxmlformats.org/drawingml/2006/main">
            <a:off x="838200" y="3314700"/>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42F4C"/>
                </a:solidFill>
              </a:defRPr>
            </a:pPr>
            <a:r>
              <a:rPr sz="1275" b="1">
                <a:solidFill>
                  <a:srgbClr val="142F4C"/>
                </a:solidFill>
              </a:rPr>
              <a:t>Continuous Improvement and Fraud Risk Monitoring control effectiveness risk</a:t>
            </a:r>
          </a:p>
        </p:txBody>
      </p:sp>
      <p:sp>
        <p:nvSpPr>
          <p:cNvPr id="18" name="">
            <a:extLst xmlns:a="http://schemas.openxmlformats.org/drawingml/2006/main">
              <a:ext uri="{FF2B5EF4-FFF2-40B4-BE49-F238E27FC236}">
                <a16:creationId xmlns:a16="http://schemas.microsoft.com/office/drawing/2014/main" id="{38B708C0-B21C-460D-9BE5-9D8A8A4BCCA3}"/>
              </a:ext>
            </a:extLst>
          </p:cNvPr>
          <p:cNvSpPr>
            <a:spLocks xmlns:a="http://schemas.openxmlformats.org/drawingml/2006/main" noGrp="1"/>
          </p:cNvSpPr>
          <p:nvPr/>
        </p:nvSpPr>
        <p:spPr>
          <a:xfrm xmlns:a="http://schemas.openxmlformats.org/drawingml/2006/main">
            <a:off x="4810125" y="3390900"/>
            <a:ext cx="3429000" cy="190500"/>
          </a:xfrm>
          <a:prstGeom xmlns:a="http://schemas.openxmlformats.org/drawingml/2006/main" prst="rect">
            <a:avLst/>
          </a:prstGeom>
          <a:solidFill xmlns:a="http://schemas.openxmlformats.org/drawingml/2006/main">
            <a:srgbClr val="D9E1E7"/>
          </a:solidFill>
          <a:ln xmlns:a="http://schemas.openxmlformats.org/drawingml/2006/main" w="0">
            <a:solidFill>
              <a:srgbClr val="D9E1E7"/>
            </a:solidFill>
            <a:prstDash val="solid"/>
          </a:ln>
        </p:spPr>
      </p:sp>
      <p:sp>
        <p:nvSpPr>
          <p:cNvPr id="19" name="">
            <a:extLst xmlns:a="http://schemas.openxmlformats.org/drawingml/2006/main">
              <a:ext uri="{FF2B5EF4-FFF2-40B4-BE49-F238E27FC236}">
                <a16:creationId xmlns:a16="http://schemas.microsoft.com/office/drawing/2014/main" id="{919E2D93-BC66-4235-843F-CBE0F6A6C4A5}"/>
              </a:ext>
            </a:extLst>
          </p:cNvPr>
          <p:cNvSpPr>
            <a:spLocks xmlns:a="http://schemas.openxmlformats.org/drawingml/2006/main" noGrp="1"/>
          </p:cNvSpPr>
          <p:nvPr/>
        </p:nvSpPr>
        <p:spPr>
          <a:xfrm xmlns:a="http://schemas.openxmlformats.org/drawingml/2006/main">
            <a:off x="4810125" y="3390900"/>
            <a:ext cx="3429000" cy="190500"/>
          </a:xfrm>
          <a:prstGeom xmlns:a="http://schemas.openxmlformats.org/drawingml/2006/main" prst="rect">
            <a:avLst/>
          </a:prstGeom>
          <a:solidFill xmlns:a="http://schemas.openxmlformats.org/drawingml/2006/main">
            <a:srgbClr val="A32020"/>
          </a:solidFill>
          <a:ln xmlns:a="http://schemas.openxmlformats.org/drawingml/2006/main" w="0">
            <a:solidFill>
              <a:srgbClr val="A32020"/>
            </a:solidFill>
            <a:prstDash val="solid"/>
          </a:ln>
        </p:spPr>
      </p:sp>
      <p:sp>
        <p:nvSpPr>
          <p:cNvPr id="20" name="">
            <a:extLst xmlns:a="http://schemas.openxmlformats.org/drawingml/2006/main">
              <a:ext uri="{FF2B5EF4-FFF2-40B4-BE49-F238E27FC236}">
                <a16:creationId xmlns:a16="http://schemas.microsoft.com/office/drawing/2014/main" id="{8B8D04AD-6148-4562-8D8A-429CF37CF2E2}"/>
              </a:ext>
            </a:extLst>
          </p:cNvPr>
          <p:cNvSpPr>
            <a:spLocks xmlns:a="http://schemas.openxmlformats.org/drawingml/2006/main" noGrp="1"/>
          </p:cNvSpPr>
          <p:nvPr/>
        </p:nvSpPr>
        <p:spPr>
          <a:xfrm xmlns:a="http://schemas.openxmlformats.org/drawingml/2006/main">
            <a:off x="8496300" y="333375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A32020"/>
                </a:solidFill>
              </a:defRPr>
            </a:pPr>
            <a:r>
              <a:rPr sz="1200" b="1">
                <a:solidFill>
                  <a:srgbClr val="A32020"/>
                </a:solidFill>
              </a:rPr>
              <a:t>Critical</a:t>
            </a:r>
          </a:p>
        </p:txBody>
      </p:sp>
      <p:sp>
        <p:nvSpPr>
          <p:cNvPr id="21" name="">
            <a:extLst xmlns:a="http://schemas.openxmlformats.org/drawingml/2006/main">
              <a:ext uri="{FF2B5EF4-FFF2-40B4-BE49-F238E27FC236}">
                <a16:creationId xmlns:a16="http://schemas.microsoft.com/office/drawing/2014/main" id="{8FDABE29-A5CD-40B7-AC81-F3B3D44B80A0}"/>
              </a:ext>
            </a:extLst>
          </p:cNvPr>
          <p:cNvSpPr>
            <a:spLocks xmlns:a="http://schemas.openxmlformats.org/drawingml/2006/main" noGrp="1"/>
          </p:cNvSpPr>
          <p:nvPr/>
        </p:nvSpPr>
        <p:spPr>
          <a:xfrm xmlns:a="http://schemas.openxmlformats.org/drawingml/2006/main">
            <a:off x="9620250" y="3314700"/>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5A6B7C"/>
                </a:solidFill>
              </a:defRPr>
            </a:pPr>
            <a:r>
              <a:rPr sz="975">
                <a:solidFill>
                  <a:srgbClr val="5A6B7C"/>
                </a:solidFill>
              </a:rPr>
              <a:t>Continuous Improvement and Fraud Risk Monitoring control effectiveness risk.…</a:t>
            </a:r>
          </a:p>
        </p:txBody>
      </p:sp>
      <p:sp>
        <p:nvSpPr>
          <p:cNvPr id="22" name="">
            <a:extLst xmlns:a="http://schemas.openxmlformats.org/drawingml/2006/main">
              <a:ext uri="{FF2B5EF4-FFF2-40B4-BE49-F238E27FC236}">
                <a16:creationId xmlns:a16="http://schemas.microsoft.com/office/drawing/2014/main" id="{AD377CF0-F9E6-4BC1-BA2C-2BBFFEDD0CBA}"/>
              </a:ext>
            </a:extLst>
          </p:cNvPr>
          <p:cNvSpPr>
            <a:spLocks xmlns:a="http://schemas.openxmlformats.org/drawingml/2006/main" noGrp="1"/>
          </p:cNvSpPr>
          <p:nvPr/>
        </p:nvSpPr>
        <p:spPr>
          <a:xfrm xmlns:a="http://schemas.openxmlformats.org/drawingml/2006/main">
            <a:off x="838200" y="3981450"/>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42F4C"/>
                </a:solidFill>
              </a:defRPr>
            </a:pPr>
            <a:r>
              <a:rPr sz="1275" b="1">
                <a:solidFill>
                  <a:srgbClr val="142F4C"/>
                </a:solidFill>
              </a:rPr>
              <a:t>Fraud Risk Identification control effectiveness risk</a:t>
            </a:r>
          </a:p>
        </p:txBody>
      </p:sp>
      <p:sp>
        <p:nvSpPr>
          <p:cNvPr id="23" name="">
            <a:extLst xmlns:a="http://schemas.openxmlformats.org/drawingml/2006/main">
              <a:ext uri="{FF2B5EF4-FFF2-40B4-BE49-F238E27FC236}">
                <a16:creationId xmlns:a16="http://schemas.microsoft.com/office/drawing/2014/main" id="{1997D485-B9B0-4F77-B00C-BD2B2E5E87EA}"/>
              </a:ext>
            </a:extLst>
          </p:cNvPr>
          <p:cNvSpPr>
            <a:spLocks xmlns:a="http://schemas.openxmlformats.org/drawingml/2006/main" noGrp="1"/>
          </p:cNvSpPr>
          <p:nvPr/>
        </p:nvSpPr>
        <p:spPr>
          <a:xfrm xmlns:a="http://schemas.openxmlformats.org/drawingml/2006/main">
            <a:off x="4810125" y="4057650"/>
            <a:ext cx="3429000" cy="190500"/>
          </a:xfrm>
          <a:prstGeom xmlns:a="http://schemas.openxmlformats.org/drawingml/2006/main" prst="rect">
            <a:avLst/>
          </a:prstGeom>
          <a:solidFill xmlns:a="http://schemas.openxmlformats.org/drawingml/2006/main">
            <a:srgbClr val="D9E1E7"/>
          </a:solidFill>
          <a:ln xmlns:a="http://schemas.openxmlformats.org/drawingml/2006/main" w="0">
            <a:solidFill>
              <a:srgbClr val="D9E1E7"/>
            </a:solidFill>
            <a:prstDash val="solid"/>
          </a:ln>
        </p:spPr>
      </p:sp>
      <p:sp>
        <p:nvSpPr>
          <p:cNvPr id="24" name="">
            <a:extLst xmlns:a="http://schemas.openxmlformats.org/drawingml/2006/main">
              <a:ext uri="{FF2B5EF4-FFF2-40B4-BE49-F238E27FC236}">
                <a16:creationId xmlns:a16="http://schemas.microsoft.com/office/drawing/2014/main" id="{EEEFD3A3-1731-43AB-A9D9-54BAA521A2A8}"/>
              </a:ext>
            </a:extLst>
          </p:cNvPr>
          <p:cNvSpPr>
            <a:spLocks xmlns:a="http://schemas.openxmlformats.org/drawingml/2006/main" noGrp="1"/>
          </p:cNvSpPr>
          <p:nvPr/>
        </p:nvSpPr>
        <p:spPr>
          <a:xfrm xmlns:a="http://schemas.openxmlformats.org/drawingml/2006/main">
            <a:off x="4810125" y="4057650"/>
            <a:ext cx="3429000" cy="190500"/>
          </a:xfrm>
          <a:prstGeom xmlns:a="http://schemas.openxmlformats.org/drawingml/2006/main" prst="rect">
            <a:avLst/>
          </a:prstGeom>
          <a:solidFill xmlns:a="http://schemas.openxmlformats.org/drawingml/2006/main">
            <a:srgbClr val="A32020"/>
          </a:solidFill>
          <a:ln xmlns:a="http://schemas.openxmlformats.org/drawingml/2006/main" w="0">
            <a:solidFill>
              <a:srgbClr val="A32020"/>
            </a:solidFill>
            <a:prstDash val="solid"/>
          </a:ln>
        </p:spPr>
      </p:sp>
      <p:sp>
        <p:nvSpPr>
          <p:cNvPr id="25" name="">
            <a:extLst xmlns:a="http://schemas.openxmlformats.org/drawingml/2006/main">
              <a:ext uri="{FF2B5EF4-FFF2-40B4-BE49-F238E27FC236}">
                <a16:creationId xmlns:a16="http://schemas.microsoft.com/office/drawing/2014/main" id="{175F83A5-A3B0-477F-9F98-1DFDFDB98D97}"/>
              </a:ext>
            </a:extLst>
          </p:cNvPr>
          <p:cNvSpPr>
            <a:spLocks xmlns:a="http://schemas.openxmlformats.org/drawingml/2006/main" noGrp="1"/>
          </p:cNvSpPr>
          <p:nvPr/>
        </p:nvSpPr>
        <p:spPr>
          <a:xfrm xmlns:a="http://schemas.openxmlformats.org/drawingml/2006/main">
            <a:off x="8496300" y="400050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A32020"/>
                </a:solidFill>
              </a:defRPr>
            </a:pPr>
            <a:r>
              <a:rPr sz="1200" b="1">
                <a:solidFill>
                  <a:srgbClr val="A32020"/>
                </a:solidFill>
              </a:rPr>
              <a:t>Critical</a:t>
            </a:r>
          </a:p>
        </p:txBody>
      </p:sp>
      <p:sp>
        <p:nvSpPr>
          <p:cNvPr id="26" name="">
            <a:extLst xmlns:a="http://schemas.openxmlformats.org/drawingml/2006/main">
              <a:ext uri="{FF2B5EF4-FFF2-40B4-BE49-F238E27FC236}">
                <a16:creationId xmlns:a16="http://schemas.microsoft.com/office/drawing/2014/main" id="{ABB519FE-2F2C-4A05-813C-E843453AE72E}"/>
              </a:ext>
            </a:extLst>
          </p:cNvPr>
          <p:cNvSpPr>
            <a:spLocks xmlns:a="http://schemas.openxmlformats.org/drawingml/2006/main" noGrp="1"/>
          </p:cNvSpPr>
          <p:nvPr/>
        </p:nvSpPr>
        <p:spPr>
          <a:xfrm xmlns:a="http://schemas.openxmlformats.org/drawingml/2006/main">
            <a:off x="9620250" y="3981450"/>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5A6B7C"/>
                </a:solidFill>
              </a:defRPr>
            </a:pPr>
            <a:r>
              <a:rPr sz="975">
                <a:solidFill>
                  <a:srgbClr val="5A6B7C"/>
                </a:solidFill>
              </a:rPr>
              <a:t>Fraud Risk Identification control effectiveness risk. The Head of…</a:t>
            </a:r>
          </a:p>
        </p:txBody>
      </p:sp>
      <p:sp>
        <p:nvSpPr>
          <p:cNvPr id="27" name="">
            <a:extLst xmlns:a="http://schemas.openxmlformats.org/drawingml/2006/main">
              <a:ext uri="{FF2B5EF4-FFF2-40B4-BE49-F238E27FC236}">
                <a16:creationId xmlns:a16="http://schemas.microsoft.com/office/drawing/2014/main" id="{CEA62278-32A1-4036-AB76-CD63A839A9B7}"/>
              </a:ext>
            </a:extLst>
          </p:cNvPr>
          <p:cNvSpPr>
            <a:spLocks xmlns:a="http://schemas.openxmlformats.org/drawingml/2006/main" noGrp="1"/>
          </p:cNvSpPr>
          <p:nvPr/>
        </p:nvSpPr>
        <p:spPr>
          <a:xfrm xmlns:a="http://schemas.openxmlformats.org/drawingml/2006/main">
            <a:off x="838200" y="4648200"/>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42F4C"/>
                </a:solidFill>
              </a:defRPr>
            </a:pPr>
            <a:r>
              <a:rPr sz="1275" b="1">
                <a:solidFill>
                  <a:srgbClr val="142F4C"/>
                </a:solidFill>
              </a:rPr>
              <a:t>Digital and Identity Fraud Risk control effectiveness risk</a:t>
            </a:r>
          </a:p>
        </p:txBody>
      </p:sp>
      <p:sp>
        <p:nvSpPr>
          <p:cNvPr id="28" name="">
            <a:extLst xmlns:a="http://schemas.openxmlformats.org/drawingml/2006/main">
              <a:ext uri="{FF2B5EF4-FFF2-40B4-BE49-F238E27FC236}">
                <a16:creationId xmlns:a16="http://schemas.microsoft.com/office/drawing/2014/main" id="{2F39BFA4-4335-4234-A485-1E27C8B88310}"/>
              </a:ext>
            </a:extLst>
          </p:cNvPr>
          <p:cNvSpPr>
            <a:spLocks xmlns:a="http://schemas.openxmlformats.org/drawingml/2006/main" noGrp="1"/>
          </p:cNvSpPr>
          <p:nvPr/>
        </p:nvSpPr>
        <p:spPr>
          <a:xfrm xmlns:a="http://schemas.openxmlformats.org/drawingml/2006/main">
            <a:off x="4810125" y="4724400"/>
            <a:ext cx="3429000" cy="190500"/>
          </a:xfrm>
          <a:prstGeom xmlns:a="http://schemas.openxmlformats.org/drawingml/2006/main" prst="rect">
            <a:avLst/>
          </a:prstGeom>
          <a:solidFill xmlns:a="http://schemas.openxmlformats.org/drawingml/2006/main">
            <a:srgbClr val="D9E1E7"/>
          </a:solidFill>
          <a:ln xmlns:a="http://schemas.openxmlformats.org/drawingml/2006/main" w="0">
            <a:solidFill>
              <a:srgbClr val="D9E1E7"/>
            </a:solidFill>
            <a:prstDash val="solid"/>
          </a:ln>
        </p:spPr>
      </p:sp>
      <p:sp>
        <p:nvSpPr>
          <p:cNvPr id="29" name="">
            <a:extLst xmlns:a="http://schemas.openxmlformats.org/drawingml/2006/main">
              <a:ext uri="{FF2B5EF4-FFF2-40B4-BE49-F238E27FC236}">
                <a16:creationId xmlns:a16="http://schemas.microsoft.com/office/drawing/2014/main" id="{EF4DBE9C-C26E-4892-9AC3-F186420FD376}"/>
              </a:ext>
            </a:extLst>
          </p:cNvPr>
          <p:cNvSpPr>
            <a:spLocks xmlns:a="http://schemas.openxmlformats.org/drawingml/2006/main" noGrp="1"/>
          </p:cNvSpPr>
          <p:nvPr/>
        </p:nvSpPr>
        <p:spPr>
          <a:xfrm xmlns:a="http://schemas.openxmlformats.org/drawingml/2006/main">
            <a:off x="4810125" y="4724400"/>
            <a:ext cx="3429000" cy="190500"/>
          </a:xfrm>
          <a:prstGeom xmlns:a="http://schemas.openxmlformats.org/drawingml/2006/main" prst="rect">
            <a:avLst/>
          </a:prstGeom>
          <a:solidFill xmlns:a="http://schemas.openxmlformats.org/drawingml/2006/main">
            <a:srgbClr val="A32020"/>
          </a:solidFill>
          <a:ln xmlns:a="http://schemas.openxmlformats.org/drawingml/2006/main" w="0">
            <a:solidFill>
              <a:srgbClr val="A32020"/>
            </a:solidFill>
            <a:prstDash val="solid"/>
          </a:ln>
        </p:spPr>
      </p:sp>
      <p:sp>
        <p:nvSpPr>
          <p:cNvPr id="30" name="">
            <a:extLst xmlns:a="http://schemas.openxmlformats.org/drawingml/2006/main">
              <a:ext uri="{FF2B5EF4-FFF2-40B4-BE49-F238E27FC236}">
                <a16:creationId xmlns:a16="http://schemas.microsoft.com/office/drawing/2014/main" id="{562A53E1-8AFD-408A-B61B-793CAD07636E}"/>
              </a:ext>
            </a:extLst>
          </p:cNvPr>
          <p:cNvSpPr>
            <a:spLocks xmlns:a="http://schemas.openxmlformats.org/drawingml/2006/main" noGrp="1"/>
          </p:cNvSpPr>
          <p:nvPr/>
        </p:nvSpPr>
        <p:spPr>
          <a:xfrm xmlns:a="http://schemas.openxmlformats.org/drawingml/2006/main">
            <a:off x="8496300" y="466725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A32020"/>
                </a:solidFill>
              </a:defRPr>
            </a:pPr>
            <a:r>
              <a:rPr sz="1200" b="1">
                <a:solidFill>
                  <a:srgbClr val="A32020"/>
                </a:solidFill>
              </a:rPr>
              <a:t>Critical</a:t>
            </a:r>
          </a:p>
        </p:txBody>
      </p:sp>
      <p:sp>
        <p:nvSpPr>
          <p:cNvPr id="31" name="">
            <a:extLst xmlns:a="http://schemas.openxmlformats.org/drawingml/2006/main">
              <a:ext uri="{FF2B5EF4-FFF2-40B4-BE49-F238E27FC236}">
                <a16:creationId xmlns:a16="http://schemas.microsoft.com/office/drawing/2014/main" id="{718F40CA-71DB-427C-9E9A-F000113BC260}"/>
              </a:ext>
            </a:extLst>
          </p:cNvPr>
          <p:cNvSpPr>
            <a:spLocks xmlns:a="http://schemas.openxmlformats.org/drawingml/2006/main" noGrp="1"/>
          </p:cNvSpPr>
          <p:nvPr/>
        </p:nvSpPr>
        <p:spPr>
          <a:xfrm xmlns:a="http://schemas.openxmlformats.org/drawingml/2006/main">
            <a:off x="9620250" y="4648200"/>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5A6B7C"/>
                </a:solidFill>
              </a:defRPr>
            </a:pPr>
            <a:r>
              <a:rPr sz="975">
                <a:solidFill>
                  <a:srgbClr val="5A6B7C"/>
                </a:solidFill>
              </a:rPr>
              <a:t>Digital and Identity Fraud Risk control effectiveness risk. The…</a:t>
            </a:r>
          </a:p>
        </p:txBody>
      </p:sp>
    </p:spTree>
    <p:extLst>
      <p:ext uri="{BB962C8B-B14F-4D97-AF65-F5344CB8AC3E}">
        <p14:creationId xmlns:p14="http://schemas.microsoft.com/office/powerpoint/2010/main" val="41349895"/>
      </p:ext>
    </p:extLst>
  </p:cSld>
</p:sld>
</file>

<file path=ppt/slides/slide6.xml><?xml version="1.0" encoding="utf-8"?>
<p:sld xmlns:p="http://schemas.openxmlformats.org/presentationml/2006/main">
  <p:cSld>
    <p:bg>
      <p:bgPr>
        <a:solidFill xmlns:a="http://schemas.openxmlformats.org/drawingml/2006/main">
          <a:srgbClr val="FBF9F5"/>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134EFD82-C3EC-4632-823C-729955326ACD}"/>
              </a:ext>
            </a:extLst>
          </p:cNvPr>
          <p:cNvSpPr>
            <a:spLocks xmlns:a="http://schemas.openxmlformats.org/drawingml/2006/main" noGrp="1"/>
          </p:cNvSpPr>
          <p:nvPr/>
        </p:nvSpPr>
        <p:spPr>
          <a:xfrm xmlns:a="http://schemas.openxmlformats.org/drawingml/2006/main">
            <a:off x="685800" y="4000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C9A227"/>
                </a:solidFill>
              </a:defRPr>
            </a:pPr>
            <a:r>
              <a:rPr sz="1050" b="1">
                <a:solidFill>
                  <a:srgbClr val="C9A227"/>
                </a:solidFill>
              </a:rPr>
              <a:t>COMPREHENSIVE REVIEW · 06</a:t>
            </a:r>
          </a:p>
        </p:txBody>
      </p:sp>
      <p:sp>
        <p:nvSpPr>
          <p:cNvPr id="2" name="">
            <a:extLst xmlns:a="http://schemas.openxmlformats.org/drawingml/2006/main">
              <a:ext uri="{FF2B5EF4-FFF2-40B4-BE49-F238E27FC236}">
                <a16:creationId xmlns:a16="http://schemas.microsoft.com/office/drawing/2014/main" id="{83C6CFC2-119D-4BC0-BCA4-FD28063C78B3}"/>
              </a:ext>
            </a:extLst>
          </p:cNvPr>
          <p:cNvSpPr>
            <a:spLocks xmlns:a="http://schemas.openxmlformats.org/drawingml/2006/main" noGrp="1"/>
          </p:cNvSpPr>
          <p:nvPr/>
        </p:nvSpPr>
        <p:spPr>
          <a:xfrm xmlns:a="http://schemas.openxmlformats.org/drawingml/2006/main">
            <a:off x="685800" y="723900"/>
            <a:ext cx="1028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925" b="1">
                <a:solidFill>
                  <a:srgbClr val="142F4C"/>
                </a:solidFill>
              </a:defRPr>
            </a:pPr>
            <a:r>
              <a:rPr sz="2925" b="1">
                <a:solidFill>
                  <a:srgbClr val="142F4C"/>
                </a:solidFill>
              </a:rPr>
              <a:t>Three plausible pathways show how control gaps can compound.</a:t>
            </a:r>
          </a:p>
        </p:txBody>
      </p:sp>
      <p:sp>
        <p:nvSpPr>
          <p:cNvPr id="3" name="">
            <a:extLst xmlns:a="http://schemas.openxmlformats.org/drawingml/2006/main">
              <a:ext uri="{FF2B5EF4-FFF2-40B4-BE49-F238E27FC236}">
                <a16:creationId xmlns:a16="http://schemas.microsoft.com/office/drawing/2014/main" id="{ED47D162-ABC5-4A93-B1D1-6E57CEB1F7E0}"/>
              </a:ext>
            </a:extLst>
          </p:cNvPr>
          <p:cNvSpPr>
            <a:spLocks xmlns:a="http://schemas.openxmlformats.org/drawingml/2006/main" noGrp="1"/>
          </p:cNvSpPr>
          <p:nvPr/>
        </p:nvSpPr>
        <p:spPr>
          <a:xfrm xmlns:a="http://schemas.openxmlformats.org/drawingml/2006/main">
            <a:off x="685800" y="1562100"/>
            <a:ext cx="1000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5A6B7C"/>
                </a:solidFill>
              </a:defRPr>
            </a:pPr>
            <a:r>
              <a:rPr sz="1350">
                <a:solidFill>
                  <a:srgbClr val="5A6B7C"/>
                </a:solidFill>
              </a:rPr>
              <a:t>Scenario logic helps management test prevention, detection and containment together.</a:t>
            </a:r>
          </a:p>
        </p:txBody>
      </p:sp>
      <p:sp>
        <p:nvSpPr>
          <p:cNvPr id="4" name="">
            <a:extLst xmlns:a="http://schemas.openxmlformats.org/drawingml/2006/main">
              <a:ext uri="{FF2B5EF4-FFF2-40B4-BE49-F238E27FC236}">
                <a16:creationId xmlns:a16="http://schemas.microsoft.com/office/drawing/2014/main" id="{D3486118-E6D0-402B-AE51-3C8817EBEDB3}"/>
              </a:ext>
            </a:extLst>
          </p:cNvPr>
          <p:cNvSpPr>
            <a:spLocks xmlns:a="http://schemas.openxmlformats.org/drawingml/2006/main" noGrp="1"/>
          </p:cNvSpPr>
          <p:nvPr/>
        </p:nvSpPr>
        <p:spPr>
          <a:xfrm xmlns:a="http://schemas.openxmlformats.org/drawingml/2006/main">
            <a:off x="685800" y="6324600"/>
            <a:ext cx="10820400" cy="0"/>
          </a:xfrm>
          <a:prstGeom xmlns:a="http://schemas.openxmlformats.org/drawingml/2006/main" prst="line">
            <a:avLst/>
          </a:prstGeom>
          <a:noFill xmlns:a="http://schemas.openxmlformats.org/drawingml/2006/main"/>
          <a:ln xmlns:a="http://schemas.openxmlformats.org/drawingml/2006/main" w="9525">
            <a:solidFill>
              <a:srgbClr val="D9E1E7"/>
            </a:solidFill>
            <a:prstDash val="solid"/>
          </a:ln>
        </p:spPr>
      </p:sp>
      <p:sp>
        <p:nvSpPr>
          <p:cNvPr id="5" name="">
            <a:extLst xmlns:a="http://schemas.openxmlformats.org/drawingml/2006/main">
              <a:ext uri="{FF2B5EF4-FFF2-40B4-BE49-F238E27FC236}">
                <a16:creationId xmlns:a16="http://schemas.microsoft.com/office/drawing/2014/main" id="{46B43ADE-4BB6-42FF-8608-0D7A34803FCF}"/>
              </a:ext>
            </a:extLst>
          </p:cNvPr>
          <p:cNvSpPr>
            <a:spLocks xmlns:a="http://schemas.openxmlformats.org/drawingml/2006/main" noGrp="1"/>
          </p:cNvSpPr>
          <p:nvPr/>
        </p:nvSpPr>
        <p:spPr>
          <a:xfrm xmlns:a="http://schemas.openxmlformats.org/drawingml/2006/main">
            <a:off x="685800" y="64389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5A6B7C"/>
                </a:solidFill>
              </a:defRPr>
            </a:pPr>
            <a:r>
              <a:rPr sz="975">
                <a:solidFill>
                  <a:srgbClr val="5A6B7C"/>
                </a:solidFill>
              </a:rPr>
              <a:t>MK Fraud Readiness · Comprehensive</a:t>
            </a:r>
          </a:p>
        </p:txBody>
      </p:sp>
      <p:sp>
        <p:nvSpPr>
          <p:cNvPr id="6" name="">
            <a:extLst xmlns:a="http://schemas.openxmlformats.org/drawingml/2006/main">
              <a:ext uri="{FF2B5EF4-FFF2-40B4-BE49-F238E27FC236}">
                <a16:creationId xmlns:a16="http://schemas.microsoft.com/office/drawing/2014/main" id="{81126BB7-7F89-494D-9731-D590AAF97E1A}"/>
              </a:ext>
            </a:extLst>
          </p:cNvPr>
          <p:cNvSpPr>
            <a:spLocks xmlns:a="http://schemas.openxmlformats.org/drawingml/2006/main" noGrp="1"/>
          </p:cNvSpPr>
          <p:nvPr/>
        </p:nvSpPr>
        <p:spPr>
          <a:xfrm xmlns:a="http://schemas.openxmlformats.org/drawingml/2006/main">
            <a:off x="10810875" y="643890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a:solidFill>
                  <a:srgbClr val="5A6B7C"/>
                </a:solidFill>
              </a:defRPr>
            </a:pPr>
            <a:r>
              <a:rPr sz="975">
                <a:solidFill>
                  <a:srgbClr val="5A6B7C"/>
                </a:solidFill>
              </a:rPr>
              <a:t>06 / 10</a:t>
            </a:r>
          </a:p>
        </p:txBody>
      </p:sp>
      <p:sp>
        <p:nvSpPr>
          <p:cNvPr id="7" name="">
            <a:extLst xmlns:a="http://schemas.openxmlformats.org/drawingml/2006/main">
              <a:ext uri="{FF2B5EF4-FFF2-40B4-BE49-F238E27FC236}">
                <a16:creationId xmlns:a16="http://schemas.microsoft.com/office/drawing/2014/main" id="{1DB5347D-F849-425A-A1F6-7DD7BDC203B8}"/>
              </a:ext>
            </a:extLst>
          </p:cNvPr>
          <p:cNvSpPr>
            <a:spLocks xmlns:a="http://schemas.openxmlformats.org/drawingml/2006/main" noGrp="1"/>
          </p:cNvSpPr>
          <p:nvPr/>
        </p:nvSpPr>
        <p:spPr>
          <a:xfrm xmlns:a="http://schemas.openxmlformats.org/drawingml/2006/main">
            <a:off x="762000" y="2095500"/>
            <a:ext cx="3143250" cy="2857500"/>
          </a:xfrm>
          <a:prstGeom xmlns:a="http://schemas.openxmlformats.org/drawingml/2006/main" prst="roundRect">
            <a:avLst>
              <a:gd name="adj" fmla="val 4000"/>
            </a:avLst>
          </a:prstGeom>
          <a:solidFill xmlns:a="http://schemas.openxmlformats.org/drawingml/2006/main">
            <a:srgbClr val="FBF9F5"/>
          </a:solidFill>
          <a:ln xmlns:a="http://schemas.openxmlformats.org/drawingml/2006/main" w="9525">
            <a:solidFill>
              <a:srgbClr val="D9E1E7"/>
            </a:solidFill>
            <a:prstDash val="solid"/>
          </a:ln>
        </p:spPr>
      </p:sp>
      <p:sp>
        <p:nvSpPr>
          <p:cNvPr id="8" name="">
            <a:extLst xmlns:a="http://schemas.openxmlformats.org/drawingml/2006/main">
              <a:ext uri="{FF2B5EF4-FFF2-40B4-BE49-F238E27FC236}">
                <a16:creationId xmlns:a16="http://schemas.microsoft.com/office/drawing/2014/main" id="{AFE3C1AF-12B0-47BF-B7D0-F0FF9F1D7B73}"/>
              </a:ext>
            </a:extLst>
          </p:cNvPr>
          <p:cNvSpPr>
            <a:spLocks xmlns:a="http://schemas.openxmlformats.org/drawingml/2006/main" noGrp="1"/>
          </p:cNvSpPr>
          <p:nvPr/>
        </p:nvSpPr>
        <p:spPr>
          <a:xfrm xmlns:a="http://schemas.openxmlformats.org/drawingml/2006/main">
            <a:off x="971550" y="2286000"/>
            <a:ext cx="685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a:solidFill>
                  <a:srgbClr val="C9A227"/>
                </a:solidFill>
              </a:defRPr>
            </a:pPr>
            <a:r>
              <a:rPr sz="1950" b="1">
                <a:solidFill>
                  <a:srgbClr val="C9A227"/>
                </a:solidFill>
              </a:rPr>
              <a:t>01</a:t>
            </a:r>
          </a:p>
        </p:txBody>
      </p:sp>
      <p:sp>
        <p:nvSpPr>
          <p:cNvPr id="9" name="">
            <a:extLst xmlns:a="http://schemas.openxmlformats.org/drawingml/2006/main">
              <a:ext uri="{FF2B5EF4-FFF2-40B4-BE49-F238E27FC236}">
                <a16:creationId xmlns:a16="http://schemas.microsoft.com/office/drawing/2014/main" id="{59D50987-6954-47DC-A257-6F0582395F2C}"/>
              </a:ext>
            </a:extLst>
          </p:cNvPr>
          <p:cNvSpPr>
            <a:spLocks xmlns:a="http://schemas.openxmlformats.org/drawingml/2006/main" noGrp="1"/>
          </p:cNvSpPr>
          <p:nvPr/>
        </p:nvSpPr>
        <p:spPr>
          <a:xfrm xmlns:a="http://schemas.openxmlformats.org/drawingml/2006/main">
            <a:off x="971550" y="2781300"/>
            <a:ext cx="266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142F4C"/>
                </a:solidFill>
              </a:defRPr>
            </a:pPr>
            <a:r>
              <a:rPr sz="1500" b="1">
                <a:solidFill>
                  <a:srgbClr val="142F4C"/>
                </a:solidFill>
              </a:rPr>
              <a:t>Without deliberate monitoring, fraud is found only by accident, complaint or external notification, typically long after the loss has compounded</a:t>
            </a:r>
          </a:p>
        </p:txBody>
      </p:sp>
      <p:sp>
        <p:nvSpPr>
          <p:cNvPr id="10" name="">
            <a:extLst xmlns:a="http://schemas.openxmlformats.org/drawingml/2006/main">
              <a:ext uri="{FF2B5EF4-FFF2-40B4-BE49-F238E27FC236}">
                <a16:creationId xmlns:a16="http://schemas.microsoft.com/office/drawing/2014/main" id="{F8CF9201-40FB-49A0-8442-EC7CB039CC78}"/>
              </a:ext>
            </a:extLst>
          </p:cNvPr>
          <p:cNvSpPr>
            <a:spLocks xmlns:a="http://schemas.openxmlformats.org/drawingml/2006/main" noGrp="1"/>
          </p:cNvSpPr>
          <p:nvPr/>
        </p:nvSpPr>
        <p:spPr>
          <a:xfrm xmlns:a="http://schemas.openxmlformats.org/drawingml/2006/main">
            <a:off x="971550" y="3600450"/>
            <a:ext cx="266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5A6B7C"/>
                </a:solidFill>
              </a:defRPr>
            </a:pPr>
            <a:r>
              <a:rPr sz="1200">
                <a:solidFill>
                  <a:srgbClr val="5A6B7C"/>
                </a:solidFill>
              </a:rPr>
              <a:t>The recorded control condition is engaged through Fraud Detection Capability: The organisation monitors transactions or operational activity for unusual patterns, anomalies or red flags.</a:t>
            </a:r>
          </a:p>
        </p:txBody>
      </p:sp>
      <p:sp>
        <p:nvSpPr>
          <p:cNvPr id="11" name="">
            <a:extLst xmlns:a="http://schemas.openxmlformats.org/drawingml/2006/main">
              <a:ext uri="{FF2B5EF4-FFF2-40B4-BE49-F238E27FC236}">
                <a16:creationId xmlns:a16="http://schemas.microsoft.com/office/drawing/2014/main" id="{684BE82E-37E3-4BE9-8421-124838908D03}"/>
              </a:ext>
            </a:extLst>
          </p:cNvPr>
          <p:cNvSpPr>
            <a:spLocks xmlns:a="http://schemas.openxmlformats.org/drawingml/2006/main" noGrp="1"/>
          </p:cNvSpPr>
          <p:nvPr/>
        </p:nvSpPr>
        <p:spPr>
          <a:xfrm xmlns:a="http://schemas.openxmlformats.org/drawingml/2006/main">
            <a:off x="971550" y="4038600"/>
            <a:ext cx="266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1A2634"/>
                </a:solidFill>
              </a:defRPr>
            </a:pPr>
            <a:r>
              <a:rPr sz="1200">
                <a:solidFill>
                  <a:srgbClr val="1A2634"/>
                </a:solidFill>
              </a:rPr>
              <a:t>Misuse can occur when an actor exploits the recorded control condition and without deliberate monitoring, fraud is found only by accident, complaint or external notification, typically long after the loss has compounded.</a:t>
            </a:r>
          </a:p>
        </p:txBody>
      </p:sp>
      <p:sp>
        <p:nvSpPr>
          <p:cNvPr id="12" name="">
            <a:extLst xmlns:a="http://schemas.openxmlformats.org/drawingml/2006/main">
              <a:ext uri="{FF2B5EF4-FFF2-40B4-BE49-F238E27FC236}">
                <a16:creationId xmlns:a16="http://schemas.microsoft.com/office/drawing/2014/main" id="{825DF27B-27F6-40CA-93DB-1B79EAF4654A}"/>
              </a:ext>
            </a:extLst>
          </p:cNvPr>
          <p:cNvSpPr>
            <a:spLocks xmlns:a="http://schemas.openxmlformats.org/drawingml/2006/main" noGrp="1"/>
          </p:cNvSpPr>
          <p:nvPr/>
        </p:nvSpPr>
        <p:spPr>
          <a:xfrm xmlns:a="http://schemas.openxmlformats.org/drawingml/2006/main">
            <a:off x="4286250" y="2095500"/>
            <a:ext cx="3143250" cy="2857500"/>
          </a:xfrm>
          <a:prstGeom xmlns:a="http://schemas.openxmlformats.org/drawingml/2006/main" prst="roundRect">
            <a:avLst>
              <a:gd name="adj" fmla="val 4000"/>
            </a:avLst>
          </a:prstGeom>
          <a:solidFill xmlns:a="http://schemas.openxmlformats.org/drawingml/2006/main">
            <a:srgbClr val="FDF4E7"/>
          </a:solidFill>
          <a:ln xmlns:a="http://schemas.openxmlformats.org/drawingml/2006/main" w="9525">
            <a:solidFill>
              <a:srgbClr val="D9E1E7"/>
            </a:solidFill>
            <a:prstDash val="solid"/>
          </a:ln>
        </p:spPr>
      </p:sp>
      <p:sp>
        <p:nvSpPr>
          <p:cNvPr id="13" name="">
            <a:extLst xmlns:a="http://schemas.openxmlformats.org/drawingml/2006/main">
              <a:ext uri="{FF2B5EF4-FFF2-40B4-BE49-F238E27FC236}">
                <a16:creationId xmlns:a16="http://schemas.microsoft.com/office/drawing/2014/main" id="{694D5EC1-8293-427B-8B64-2A06AC2A79F0}"/>
              </a:ext>
            </a:extLst>
          </p:cNvPr>
          <p:cNvSpPr>
            <a:spLocks xmlns:a="http://schemas.openxmlformats.org/drawingml/2006/main" noGrp="1"/>
          </p:cNvSpPr>
          <p:nvPr/>
        </p:nvSpPr>
        <p:spPr>
          <a:xfrm xmlns:a="http://schemas.openxmlformats.org/drawingml/2006/main">
            <a:off x="4495800" y="2286000"/>
            <a:ext cx="685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a:solidFill>
                  <a:srgbClr val="C9A227"/>
                </a:solidFill>
              </a:defRPr>
            </a:pPr>
            <a:r>
              <a:rPr sz="1950" b="1">
                <a:solidFill>
                  <a:srgbClr val="C9A227"/>
                </a:solidFill>
              </a:rPr>
              <a:t>02</a:t>
            </a:r>
          </a:p>
        </p:txBody>
      </p:sp>
      <p:sp>
        <p:nvSpPr>
          <p:cNvPr id="14" name="">
            <a:extLst xmlns:a="http://schemas.openxmlformats.org/drawingml/2006/main">
              <a:ext uri="{FF2B5EF4-FFF2-40B4-BE49-F238E27FC236}">
                <a16:creationId xmlns:a16="http://schemas.microsoft.com/office/drawing/2014/main" id="{01F24B10-644B-477E-ADF4-93CE3B7CBF43}"/>
              </a:ext>
            </a:extLst>
          </p:cNvPr>
          <p:cNvSpPr>
            <a:spLocks xmlns:a="http://schemas.openxmlformats.org/drawingml/2006/main" noGrp="1"/>
          </p:cNvSpPr>
          <p:nvPr/>
        </p:nvSpPr>
        <p:spPr>
          <a:xfrm xmlns:a="http://schemas.openxmlformats.org/drawingml/2006/main">
            <a:off x="4495800" y="2781300"/>
            <a:ext cx="266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142F4C"/>
                </a:solidFill>
              </a:defRPr>
            </a:pPr>
            <a:r>
              <a:rPr sz="1500" b="1">
                <a:solidFill>
                  <a:srgbClr val="142F4C"/>
                </a:solidFill>
              </a:rPr>
              <a:t>Controls decay quietly through staff turnover, system change and workload pressure, so a control believed to be operating may have lapsed months earlier</a:t>
            </a:r>
          </a:p>
        </p:txBody>
      </p:sp>
      <p:sp>
        <p:nvSpPr>
          <p:cNvPr id="15" name="">
            <a:extLst xmlns:a="http://schemas.openxmlformats.org/drawingml/2006/main">
              <a:ext uri="{FF2B5EF4-FFF2-40B4-BE49-F238E27FC236}">
                <a16:creationId xmlns:a16="http://schemas.microsoft.com/office/drawing/2014/main" id="{522B5DA1-E14F-47E5-9801-6737AA55C27C}"/>
              </a:ext>
            </a:extLst>
          </p:cNvPr>
          <p:cNvSpPr>
            <a:spLocks xmlns:a="http://schemas.openxmlformats.org/drawingml/2006/main" noGrp="1"/>
          </p:cNvSpPr>
          <p:nvPr/>
        </p:nvSpPr>
        <p:spPr>
          <a:xfrm xmlns:a="http://schemas.openxmlformats.org/drawingml/2006/main">
            <a:off x="4495800" y="3600450"/>
            <a:ext cx="266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5A6B7C"/>
                </a:solidFill>
              </a:defRPr>
            </a:pPr>
            <a:r>
              <a:rPr sz="1200">
                <a:solidFill>
                  <a:srgbClr val="5A6B7C"/>
                </a:solidFill>
              </a:rPr>
              <a:t>The recorded control condition is engaged through Continuous Improvement and Fraud Risk Monitoring: The organisation periodically reviews its fraud risks and control environment.</a:t>
            </a:r>
          </a:p>
        </p:txBody>
      </p:sp>
      <p:sp>
        <p:nvSpPr>
          <p:cNvPr id="16" name="">
            <a:extLst xmlns:a="http://schemas.openxmlformats.org/drawingml/2006/main">
              <a:ext uri="{FF2B5EF4-FFF2-40B4-BE49-F238E27FC236}">
                <a16:creationId xmlns:a16="http://schemas.microsoft.com/office/drawing/2014/main" id="{9D0FC37D-8F52-4A08-BD8B-CC06531DA19A}"/>
              </a:ext>
            </a:extLst>
          </p:cNvPr>
          <p:cNvSpPr>
            <a:spLocks xmlns:a="http://schemas.openxmlformats.org/drawingml/2006/main" noGrp="1"/>
          </p:cNvSpPr>
          <p:nvPr/>
        </p:nvSpPr>
        <p:spPr>
          <a:xfrm xmlns:a="http://schemas.openxmlformats.org/drawingml/2006/main">
            <a:off x="4495800" y="4038600"/>
            <a:ext cx="266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1A2634"/>
                </a:solidFill>
              </a:defRPr>
            </a:pPr>
            <a:r>
              <a:rPr sz="1200">
                <a:solidFill>
                  <a:srgbClr val="1A2634"/>
                </a:solidFill>
              </a:rPr>
              <a:t>Misuse can occur when an actor exploits the recorded control condition and controls decay quietly through staff turnover, system change and workload pressure, so a control believed to be operating may have lapsed months earlier.</a:t>
            </a:r>
          </a:p>
        </p:txBody>
      </p:sp>
      <p:sp>
        <p:nvSpPr>
          <p:cNvPr id="17" name="">
            <a:extLst xmlns:a="http://schemas.openxmlformats.org/drawingml/2006/main">
              <a:ext uri="{FF2B5EF4-FFF2-40B4-BE49-F238E27FC236}">
                <a16:creationId xmlns:a16="http://schemas.microsoft.com/office/drawing/2014/main" id="{01102B22-AC50-441B-AD66-65B4A9018CBD}"/>
              </a:ext>
            </a:extLst>
          </p:cNvPr>
          <p:cNvSpPr>
            <a:spLocks xmlns:a="http://schemas.openxmlformats.org/drawingml/2006/main" noGrp="1"/>
          </p:cNvSpPr>
          <p:nvPr/>
        </p:nvSpPr>
        <p:spPr>
          <a:xfrm xmlns:a="http://schemas.openxmlformats.org/drawingml/2006/main">
            <a:off x="7810500" y="2095500"/>
            <a:ext cx="3143250" cy="2857500"/>
          </a:xfrm>
          <a:prstGeom xmlns:a="http://schemas.openxmlformats.org/drawingml/2006/main" prst="roundRect">
            <a:avLst>
              <a:gd name="adj" fmla="val 4000"/>
            </a:avLst>
          </a:prstGeom>
          <a:solidFill xmlns:a="http://schemas.openxmlformats.org/drawingml/2006/main">
            <a:srgbClr val="FBEDED"/>
          </a:solidFill>
          <a:ln xmlns:a="http://schemas.openxmlformats.org/drawingml/2006/main" w="9525">
            <a:solidFill>
              <a:srgbClr val="D9E1E7"/>
            </a:solidFill>
            <a:prstDash val="solid"/>
          </a:ln>
        </p:spPr>
      </p:sp>
      <p:sp>
        <p:nvSpPr>
          <p:cNvPr id="18" name="">
            <a:extLst xmlns:a="http://schemas.openxmlformats.org/drawingml/2006/main">
              <a:ext uri="{FF2B5EF4-FFF2-40B4-BE49-F238E27FC236}">
                <a16:creationId xmlns:a16="http://schemas.microsoft.com/office/drawing/2014/main" id="{AD3DA666-F6F3-40EF-80BE-1BE95EE00D21}"/>
              </a:ext>
            </a:extLst>
          </p:cNvPr>
          <p:cNvSpPr>
            <a:spLocks xmlns:a="http://schemas.openxmlformats.org/drawingml/2006/main" noGrp="1"/>
          </p:cNvSpPr>
          <p:nvPr/>
        </p:nvSpPr>
        <p:spPr>
          <a:xfrm xmlns:a="http://schemas.openxmlformats.org/drawingml/2006/main">
            <a:off x="8020050" y="2286000"/>
            <a:ext cx="685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a:solidFill>
                  <a:srgbClr val="A32020"/>
                </a:solidFill>
              </a:defRPr>
            </a:pPr>
            <a:r>
              <a:rPr sz="1950" b="1">
                <a:solidFill>
                  <a:srgbClr val="A32020"/>
                </a:solidFill>
              </a:rPr>
              <a:t>03</a:t>
            </a:r>
          </a:p>
        </p:txBody>
      </p:sp>
      <p:sp>
        <p:nvSpPr>
          <p:cNvPr id="19" name="">
            <a:extLst xmlns:a="http://schemas.openxmlformats.org/drawingml/2006/main">
              <a:ext uri="{FF2B5EF4-FFF2-40B4-BE49-F238E27FC236}">
                <a16:creationId xmlns:a16="http://schemas.microsoft.com/office/drawing/2014/main" id="{8ACAFB3B-91E7-4E3A-A5B2-CBA7A3571470}"/>
              </a:ext>
            </a:extLst>
          </p:cNvPr>
          <p:cNvSpPr>
            <a:spLocks xmlns:a="http://schemas.openxmlformats.org/drawingml/2006/main" noGrp="1"/>
          </p:cNvSpPr>
          <p:nvPr/>
        </p:nvSpPr>
        <p:spPr>
          <a:xfrm xmlns:a="http://schemas.openxmlformats.org/drawingml/2006/main">
            <a:off x="8020050" y="2781300"/>
            <a:ext cx="266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142F4C"/>
                </a:solidFill>
              </a:defRPr>
            </a:pPr>
            <a:r>
              <a:rPr sz="1500" b="1">
                <a:solidFill>
                  <a:srgbClr val="142F4C"/>
                </a:solidFill>
              </a:rPr>
              <a:t>Without a current structured assessment, control investment follows intuition and recent events, leaving whole exposure areas unexamined and unfunded</a:t>
            </a:r>
          </a:p>
        </p:txBody>
      </p:sp>
      <p:sp>
        <p:nvSpPr>
          <p:cNvPr id="20" name="">
            <a:extLst xmlns:a="http://schemas.openxmlformats.org/drawingml/2006/main">
              <a:ext uri="{FF2B5EF4-FFF2-40B4-BE49-F238E27FC236}">
                <a16:creationId xmlns:a16="http://schemas.microsoft.com/office/drawing/2014/main" id="{AC269FBF-E41D-4275-886B-EE0485562194}"/>
              </a:ext>
            </a:extLst>
          </p:cNvPr>
          <p:cNvSpPr>
            <a:spLocks xmlns:a="http://schemas.openxmlformats.org/drawingml/2006/main" noGrp="1"/>
          </p:cNvSpPr>
          <p:nvPr/>
        </p:nvSpPr>
        <p:spPr>
          <a:xfrm xmlns:a="http://schemas.openxmlformats.org/drawingml/2006/main">
            <a:off x="8020050" y="3600450"/>
            <a:ext cx="266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5A6B7C"/>
                </a:solidFill>
              </a:defRPr>
            </a:pPr>
            <a:r>
              <a:rPr sz="1200">
                <a:solidFill>
                  <a:srgbClr val="5A6B7C"/>
                </a:solidFill>
              </a:rPr>
              <a:t>The recorded control condition is engaged through Fraud Risk Identification: The organisation has completed a structured fraud risk assessment within the past two years.</a:t>
            </a:r>
          </a:p>
        </p:txBody>
      </p:sp>
      <p:sp>
        <p:nvSpPr>
          <p:cNvPr id="21" name="">
            <a:extLst xmlns:a="http://schemas.openxmlformats.org/drawingml/2006/main">
              <a:ext uri="{FF2B5EF4-FFF2-40B4-BE49-F238E27FC236}">
                <a16:creationId xmlns:a16="http://schemas.microsoft.com/office/drawing/2014/main" id="{7E28C1FE-BC9E-4227-8B00-065B6D2662B0}"/>
              </a:ext>
            </a:extLst>
          </p:cNvPr>
          <p:cNvSpPr>
            <a:spLocks xmlns:a="http://schemas.openxmlformats.org/drawingml/2006/main" noGrp="1"/>
          </p:cNvSpPr>
          <p:nvPr/>
        </p:nvSpPr>
        <p:spPr>
          <a:xfrm xmlns:a="http://schemas.openxmlformats.org/drawingml/2006/main">
            <a:off x="8020050" y="4038600"/>
            <a:ext cx="266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1A2634"/>
                </a:solidFill>
              </a:defRPr>
            </a:pPr>
            <a:r>
              <a:rPr sz="1200">
                <a:solidFill>
                  <a:srgbClr val="1A2634"/>
                </a:solidFill>
              </a:rPr>
              <a:t>Misuse can occur when an actor exploits the recorded control condition and without a current structured assessment, control investment follows intuition and recent events, leaving whole exposure areas unexamined and unfunded.</a:t>
            </a:r>
          </a:p>
        </p:txBody>
      </p:sp>
    </p:spTree>
    <p:extLst>
      <p:ext uri="{BB962C8B-B14F-4D97-AF65-F5344CB8AC3E}">
        <p14:creationId xmlns:p14="http://schemas.microsoft.com/office/powerpoint/2010/main" val="502274825"/>
      </p:ext>
    </p:extLst>
  </p:cSld>
</p:sld>
</file>

<file path=ppt/slides/slide7.xml><?xml version="1.0" encoding="utf-8"?>
<p:sld xmlns:p="http://schemas.openxmlformats.org/presentationml/2006/main">
  <p:cSld>
    <p:bg>
      <p:bgPr>
        <a:solidFill xmlns:a="http://schemas.openxmlformats.org/drawingml/2006/main">
          <a:srgbClr val="FBF9F5"/>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091D8200-EF46-403D-AE01-0D540014BC19}"/>
              </a:ext>
            </a:extLst>
          </p:cNvPr>
          <p:cNvSpPr>
            <a:spLocks xmlns:a="http://schemas.openxmlformats.org/drawingml/2006/main" noGrp="1"/>
          </p:cNvSpPr>
          <p:nvPr/>
        </p:nvSpPr>
        <p:spPr>
          <a:xfrm xmlns:a="http://schemas.openxmlformats.org/drawingml/2006/main">
            <a:off x="685800" y="4000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C9A227"/>
                </a:solidFill>
              </a:defRPr>
            </a:pPr>
            <a:r>
              <a:rPr sz="1050" b="1">
                <a:solidFill>
                  <a:srgbClr val="C9A227"/>
                </a:solidFill>
              </a:rPr>
              <a:t>COMPREHENSIVE REVIEW · 07</a:t>
            </a:r>
          </a:p>
        </p:txBody>
      </p:sp>
      <p:sp>
        <p:nvSpPr>
          <p:cNvPr id="2" name="">
            <a:extLst xmlns:a="http://schemas.openxmlformats.org/drawingml/2006/main">
              <a:ext uri="{FF2B5EF4-FFF2-40B4-BE49-F238E27FC236}">
                <a16:creationId xmlns:a16="http://schemas.microsoft.com/office/drawing/2014/main" id="{BD57159E-4A9D-42E9-9AA2-0F3775C54A2C}"/>
              </a:ext>
            </a:extLst>
          </p:cNvPr>
          <p:cNvSpPr>
            <a:spLocks xmlns:a="http://schemas.openxmlformats.org/drawingml/2006/main" noGrp="1"/>
          </p:cNvSpPr>
          <p:nvPr/>
        </p:nvSpPr>
        <p:spPr>
          <a:xfrm xmlns:a="http://schemas.openxmlformats.org/drawingml/2006/main">
            <a:off x="685800" y="723900"/>
            <a:ext cx="1028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925" b="1">
                <a:solidFill>
                  <a:srgbClr val="142F4C"/>
                </a:solidFill>
              </a:defRPr>
            </a:pPr>
            <a:r>
              <a:rPr sz="2925" b="1">
                <a:solidFill>
                  <a:srgbClr val="142F4C"/>
                </a:solidFill>
              </a:rPr>
              <a:t>Management must choose how to close the access-review gap.</a:t>
            </a:r>
          </a:p>
        </p:txBody>
      </p:sp>
      <p:sp>
        <p:nvSpPr>
          <p:cNvPr id="3" name="">
            <a:extLst xmlns:a="http://schemas.openxmlformats.org/drawingml/2006/main">
              <a:ext uri="{FF2B5EF4-FFF2-40B4-BE49-F238E27FC236}">
                <a16:creationId xmlns:a16="http://schemas.microsoft.com/office/drawing/2014/main" id="{45AF0946-02D9-4051-8B50-45EB036081EA}"/>
              </a:ext>
            </a:extLst>
          </p:cNvPr>
          <p:cNvSpPr>
            <a:spLocks xmlns:a="http://schemas.openxmlformats.org/drawingml/2006/main" noGrp="1"/>
          </p:cNvSpPr>
          <p:nvPr/>
        </p:nvSpPr>
        <p:spPr>
          <a:xfrm xmlns:a="http://schemas.openxmlformats.org/drawingml/2006/main">
            <a:off x="685800" y="1562100"/>
            <a:ext cx="1000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5A6B7C"/>
                </a:solidFill>
              </a:defRPr>
            </a:pPr>
            <a:r>
              <a:rPr sz="1350">
                <a:solidFill>
                  <a:srgbClr val="5A6B7C"/>
                </a:solidFill>
              </a:rPr>
              <a:t>Options and trade-offs make the decision explicit before the action plan is agreed.</a:t>
            </a:r>
          </a:p>
        </p:txBody>
      </p:sp>
      <p:sp>
        <p:nvSpPr>
          <p:cNvPr id="4" name="">
            <a:extLst xmlns:a="http://schemas.openxmlformats.org/drawingml/2006/main">
              <a:ext uri="{FF2B5EF4-FFF2-40B4-BE49-F238E27FC236}">
                <a16:creationId xmlns:a16="http://schemas.microsoft.com/office/drawing/2014/main" id="{B22150E0-EB03-4B41-8DA9-F84AFE596822}"/>
              </a:ext>
            </a:extLst>
          </p:cNvPr>
          <p:cNvSpPr>
            <a:spLocks xmlns:a="http://schemas.openxmlformats.org/drawingml/2006/main" noGrp="1"/>
          </p:cNvSpPr>
          <p:nvPr/>
        </p:nvSpPr>
        <p:spPr>
          <a:xfrm xmlns:a="http://schemas.openxmlformats.org/drawingml/2006/main">
            <a:off x="685800" y="6324600"/>
            <a:ext cx="10820400" cy="0"/>
          </a:xfrm>
          <a:prstGeom xmlns:a="http://schemas.openxmlformats.org/drawingml/2006/main" prst="line">
            <a:avLst/>
          </a:prstGeom>
          <a:noFill xmlns:a="http://schemas.openxmlformats.org/drawingml/2006/main"/>
          <a:ln xmlns:a="http://schemas.openxmlformats.org/drawingml/2006/main" w="9525">
            <a:solidFill>
              <a:srgbClr val="D9E1E7"/>
            </a:solidFill>
            <a:prstDash val="solid"/>
          </a:ln>
        </p:spPr>
      </p:sp>
      <p:sp>
        <p:nvSpPr>
          <p:cNvPr id="5" name="">
            <a:extLst xmlns:a="http://schemas.openxmlformats.org/drawingml/2006/main">
              <a:ext uri="{FF2B5EF4-FFF2-40B4-BE49-F238E27FC236}">
                <a16:creationId xmlns:a16="http://schemas.microsoft.com/office/drawing/2014/main" id="{9F7DE107-66EE-40D9-8D48-1B5915ED7D55}"/>
              </a:ext>
            </a:extLst>
          </p:cNvPr>
          <p:cNvSpPr>
            <a:spLocks xmlns:a="http://schemas.openxmlformats.org/drawingml/2006/main" noGrp="1"/>
          </p:cNvSpPr>
          <p:nvPr/>
        </p:nvSpPr>
        <p:spPr>
          <a:xfrm xmlns:a="http://schemas.openxmlformats.org/drawingml/2006/main">
            <a:off x="685800" y="64389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5A6B7C"/>
                </a:solidFill>
              </a:defRPr>
            </a:pPr>
            <a:r>
              <a:rPr sz="975">
                <a:solidFill>
                  <a:srgbClr val="5A6B7C"/>
                </a:solidFill>
              </a:rPr>
              <a:t>MK Fraud Readiness · Comprehensive</a:t>
            </a:r>
          </a:p>
        </p:txBody>
      </p:sp>
      <p:sp>
        <p:nvSpPr>
          <p:cNvPr id="6" name="">
            <a:extLst xmlns:a="http://schemas.openxmlformats.org/drawingml/2006/main">
              <a:ext uri="{FF2B5EF4-FFF2-40B4-BE49-F238E27FC236}">
                <a16:creationId xmlns:a16="http://schemas.microsoft.com/office/drawing/2014/main" id="{7CACC288-9936-494C-9CC5-C98137D89DB6}"/>
              </a:ext>
            </a:extLst>
          </p:cNvPr>
          <p:cNvSpPr>
            <a:spLocks xmlns:a="http://schemas.openxmlformats.org/drawingml/2006/main" noGrp="1"/>
          </p:cNvSpPr>
          <p:nvPr/>
        </p:nvSpPr>
        <p:spPr>
          <a:xfrm xmlns:a="http://schemas.openxmlformats.org/drawingml/2006/main">
            <a:off x="10810875" y="643890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a:solidFill>
                  <a:srgbClr val="5A6B7C"/>
                </a:solidFill>
              </a:defRPr>
            </a:pPr>
            <a:r>
              <a:rPr sz="975">
                <a:solidFill>
                  <a:srgbClr val="5A6B7C"/>
                </a:solidFill>
              </a:rPr>
              <a:t>07 / 10</a:t>
            </a:r>
          </a:p>
        </p:txBody>
      </p:sp>
      <p:sp>
        <p:nvSpPr>
          <p:cNvPr id="7" name="">
            <a:extLst xmlns:a="http://schemas.openxmlformats.org/drawingml/2006/main">
              <a:ext uri="{FF2B5EF4-FFF2-40B4-BE49-F238E27FC236}">
                <a16:creationId xmlns:a16="http://schemas.microsoft.com/office/drawing/2014/main" id="{39911EF7-EC02-40A2-B84D-DD51307943CE}"/>
              </a:ext>
            </a:extLst>
          </p:cNvPr>
          <p:cNvSpPr>
            <a:spLocks xmlns:a="http://schemas.openxmlformats.org/drawingml/2006/main" noGrp="1"/>
          </p:cNvSpPr>
          <p:nvPr/>
        </p:nvSpPr>
        <p:spPr>
          <a:xfrm xmlns:a="http://schemas.openxmlformats.org/drawingml/2006/main">
            <a:off x="838200" y="2019300"/>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42F4C"/>
                </a:solidFill>
              </a:defRPr>
            </a:pPr>
            <a:r>
              <a:rPr sz="1800" b="1">
                <a:solidFill>
                  <a:srgbClr val="142F4C"/>
                </a:solidFill>
              </a:rPr>
              <a:t>Approve accountable executive mandates and escalation authority for priority remediation.</a:t>
            </a:r>
          </a:p>
        </p:txBody>
      </p:sp>
      <p:sp>
        <p:nvSpPr>
          <p:cNvPr id="8" name="">
            <a:extLst xmlns:a="http://schemas.openxmlformats.org/drawingml/2006/main">
              <a:ext uri="{FF2B5EF4-FFF2-40B4-BE49-F238E27FC236}">
                <a16:creationId xmlns:a16="http://schemas.microsoft.com/office/drawing/2014/main" id="{48843D9C-E25C-4797-AAE2-5BC3F9E184EF}"/>
              </a:ext>
            </a:extLst>
          </p:cNvPr>
          <p:cNvSpPr>
            <a:spLocks xmlns:a="http://schemas.openxmlformats.org/drawingml/2006/main" noGrp="1"/>
          </p:cNvSpPr>
          <p:nvPr/>
        </p:nvSpPr>
        <p:spPr>
          <a:xfrm xmlns:a="http://schemas.openxmlformats.org/drawingml/2006/main">
            <a:off x="838200" y="2971800"/>
            <a:ext cx="2809875" cy="1524000"/>
          </a:xfrm>
          <a:prstGeom xmlns:a="http://schemas.openxmlformats.org/drawingml/2006/main" prst="roundRect">
            <a:avLst>
              <a:gd name="adj" fmla="val 7500"/>
            </a:avLst>
          </a:prstGeom>
          <a:solidFill xmlns:a="http://schemas.openxmlformats.org/drawingml/2006/main">
            <a:srgbClr val="FFFFFF"/>
          </a:solidFill>
          <a:ln xmlns:a="http://schemas.openxmlformats.org/drawingml/2006/main" w="9525">
            <a:solidFill>
              <a:srgbClr val="D9E1E7"/>
            </a:solidFill>
            <a:prstDash val="solid"/>
          </a:ln>
        </p:spPr>
      </p:sp>
      <p:sp>
        <p:nvSpPr>
          <p:cNvPr id="9" name="">
            <a:extLst xmlns:a="http://schemas.openxmlformats.org/drawingml/2006/main">
              <a:ext uri="{FF2B5EF4-FFF2-40B4-BE49-F238E27FC236}">
                <a16:creationId xmlns:a16="http://schemas.microsoft.com/office/drawing/2014/main" id="{AFB45680-D46D-414F-B0E8-5023B8B9EB90}"/>
              </a:ext>
            </a:extLst>
          </p:cNvPr>
          <p:cNvSpPr>
            <a:spLocks xmlns:a="http://schemas.openxmlformats.org/drawingml/2006/main" noGrp="1"/>
          </p:cNvSpPr>
          <p:nvPr/>
        </p:nvSpPr>
        <p:spPr>
          <a:xfrm xmlns:a="http://schemas.openxmlformats.org/drawingml/2006/main">
            <a:off x="1028700" y="31623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C9A227"/>
                </a:solidFill>
              </a:defRPr>
            </a:pPr>
            <a:r>
              <a:rPr sz="1050" b="1">
                <a:solidFill>
                  <a:srgbClr val="C9A227"/>
                </a:solidFill>
              </a:rPr>
              <a:t>OPTION A</a:t>
            </a:r>
          </a:p>
        </p:txBody>
      </p:sp>
      <p:sp>
        <p:nvSpPr>
          <p:cNvPr id="10" name="">
            <a:extLst xmlns:a="http://schemas.openxmlformats.org/drawingml/2006/main">
              <a:ext uri="{FF2B5EF4-FFF2-40B4-BE49-F238E27FC236}">
                <a16:creationId xmlns:a16="http://schemas.microsoft.com/office/drawing/2014/main" id="{CE616CF6-FD07-487C-BDE5-5D227FF151BA}"/>
              </a:ext>
            </a:extLst>
          </p:cNvPr>
          <p:cNvSpPr>
            <a:spLocks xmlns:a="http://schemas.openxmlformats.org/drawingml/2006/main" noGrp="1"/>
          </p:cNvSpPr>
          <p:nvPr/>
        </p:nvSpPr>
        <p:spPr>
          <a:xfrm xmlns:a="http://schemas.openxmlformats.org/drawingml/2006/main">
            <a:off x="1028700" y="3543300"/>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42F4C"/>
                </a:solidFill>
              </a:defRPr>
            </a:pPr>
            <a:r>
              <a:rPr sz="1275" b="1">
                <a:solidFill>
                  <a:srgbClr val="142F4C"/>
                </a:solidFill>
              </a:rPr>
              <a:t>Option A - retain accountability with the Finance Director (rejected: design and adjudication would sit with one executive)</a:t>
            </a:r>
          </a:p>
        </p:txBody>
      </p:sp>
      <p:sp>
        <p:nvSpPr>
          <p:cNvPr id="11" name="">
            <a:extLst xmlns:a="http://schemas.openxmlformats.org/drawingml/2006/main">
              <a:ext uri="{FF2B5EF4-FFF2-40B4-BE49-F238E27FC236}">
                <a16:creationId xmlns:a16="http://schemas.microsoft.com/office/drawing/2014/main" id="{C106A9CA-DBBD-46A2-B8FF-E2D432E94587}"/>
              </a:ext>
            </a:extLst>
          </p:cNvPr>
          <p:cNvSpPr>
            <a:spLocks xmlns:a="http://schemas.openxmlformats.org/drawingml/2006/main" noGrp="1"/>
          </p:cNvSpPr>
          <p:nvPr/>
        </p:nvSpPr>
        <p:spPr>
          <a:xfrm xmlns:a="http://schemas.openxmlformats.org/drawingml/2006/main">
            <a:off x="1028700" y="4019550"/>
            <a:ext cx="2381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a:solidFill>
                  <a:srgbClr val="5A6B7C"/>
                </a:solidFill>
              </a:defRPr>
            </a:pPr>
            <a:r>
              <a:rPr sz="900">
                <a:solidFill>
                  <a:srgbClr val="5A6B7C"/>
                </a:solidFill>
              </a:rPr>
              <a:t>Cost: Cost and effort require management confirmation before approval.</a:t>
            </a:r>
          </a:p>
          <a:p xmlns:a="http://schemas.openxmlformats.org/drawingml/2006/main">
            <a:pPr>
              <a:defRPr sz="900">
                <a:solidFill>
                  <a:srgbClr val="5A6B7C"/>
                </a:solidFill>
              </a:defRPr>
            </a:pPr>
            <a:r>
              <a:rPr sz="900">
                <a:solidFill>
                  <a:srgbClr val="5A6B7C"/>
                </a:solidFill>
              </a:rPr>
              <a:t>Benefit: Builds durable ownership inside the organisation.</a:t>
            </a:r>
          </a:p>
          <a:p xmlns:a="http://schemas.openxmlformats.org/drawingml/2006/main">
            <a:pPr>
              <a:defRPr sz="900">
                <a:solidFill>
                  <a:srgbClr val="5A6B7C"/>
                </a:solidFill>
              </a:defRPr>
            </a:pPr>
            <a:r>
              <a:rPr sz="900">
                <a:solidFill>
                  <a:srgbClr val="5A6B7C"/>
                </a:solidFill>
              </a:rPr>
              <a:t>Trade-off: Uses internal capacity and may move more slowly where capability is immature.</a:t>
            </a:r>
          </a:p>
          <a:p xmlns:a="http://schemas.openxmlformats.org/drawingml/2006/main">
            <a:pPr>
              <a:defRPr sz="900">
                <a:solidFill>
                  <a:srgbClr val="5A6B7C"/>
                </a:solidFill>
              </a:defRPr>
            </a:pPr>
            <a:r>
              <a:rPr sz="900">
                <a:solidFill>
                  <a:srgbClr val="5A6B7C"/>
                </a:solidFill>
              </a:rPr>
              <a:t>Rejection reason: rejected: design and adjudication would sit with one executive</a:t>
            </a:r>
          </a:p>
        </p:txBody>
      </p:sp>
      <p:sp>
        <p:nvSpPr>
          <p:cNvPr id="12" name="">
            <a:extLst xmlns:a="http://schemas.openxmlformats.org/drawingml/2006/main">
              <a:ext uri="{FF2B5EF4-FFF2-40B4-BE49-F238E27FC236}">
                <a16:creationId xmlns:a16="http://schemas.microsoft.com/office/drawing/2014/main" id="{DADE4D0A-4CDB-469D-B19D-107E87EF9191}"/>
              </a:ext>
            </a:extLst>
          </p:cNvPr>
          <p:cNvSpPr>
            <a:spLocks xmlns:a="http://schemas.openxmlformats.org/drawingml/2006/main" noGrp="1"/>
          </p:cNvSpPr>
          <p:nvPr/>
        </p:nvSpPr>
        <p:spPr>
          <a:xfrm xmlns:a="http://schemas.openxmlformats.org/drawingml/2006/main">
            <a:off x="4029075" y="2971800"/>
            <a:ext cx="2809875" cy="1524000"/>
          </a:xfrm>
          <a:prstGeom xmlns:a="http://schemas.openxmlformats.org/drawingml/2006/main" prst="roundRect">
            <a:avLst>
              <a:gd name="adj" fmla="val 7500"/>
            </a:avLst>
          </a:prstGeom>
          <a:solidFill xmlns:a="http://schemas.openxmlformats.org/drawingml/2006/main">
            <a:srgbClr val="FFFFFF"/>
          </a:solidFill>
          <a:ln xmlns:a="http://schemas.openxmlformats.org/drawingml/2006/main" w="9525">
            <a:solidFill>
              <a:srgbClr val="D9E1E7"/>
            </a:solidFill>
            <a:prstDash val="solid"/>
          </a:ln>
        </p:spPr>
      </p:sp>
      <p:sp>
        <p:nvSpPr>
          <p:cNvPr id="13" name="">
            <a:extLst xmlns:a="http://schemas.openxmlformats.org/drawingml/2006/main">
              <a:ext uri="{FF2B5EF4-FFF2-40B4-BE49-F238E27FC236}">
                <a16:creationId xmlns:a16="http://schemas.microsoft.com/office/drawing/2014/main" id="{925B99AC-2162-44C1-A736-CD1029EBF6A2}"/>
              </a:ext>
            </a:extLst>
          </p:cNvPr>
          <p:cNvSpPr>
            <a:spLocks xmlns:a="http://schemas.openxmlformats.org/drawingml/2006/main" noGrp="1"/>
          </p:cNvSpPr>
          <p:nvPr/>
        </p:nvSpPr>
        <p:spPr>
          <a:xfrm xmlns:a="http://schemas.openxmlformats.org/drawingml/2006/main">
            <a:off x="4219575" y="31623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C9A227"/>
                </a:solidFill>
              </a:defRPr>
            </a:pPr>
            <a:r>
              <a:rPr sz="1050" b="1">
                <a:solidFill>
                  <a:srgbClr val="C9A227"/>
                </a:solidFill>
              </a:rPr>
              <a:t>OPTION B</a:t>
            </a:r>
          </a:p>
        </p:txBody>
      </p:sp>
      <p:sp>
        <p:nvSpPr>
          <p:cNvPr id="14" name="">
            <a:extLst xmlns:a="http://schemas.openxmlformats.org/drawingml/2006/main">
              <a:ext uri="{FF2B5EF4-FFF2-40B4-BE49-F238E27FC236}">
                <a16:creationId xmlns:a16="http://schemas.microsoft.com/office/drawing/2014/main" id="{28403F59-AD88-4520-A005-30342A27EC97}"/>
              </a:ext>
            </a:extLst>
          </p:cNvPr>
          <p:cNvSpPr>
            <a:spLocks xmlns:a="http://schemas.openxmlformats.org/drawingml/2006/main" noGrp="1"/>
          </p:cNvSpPr>
          <p:nvPr/>
        </p:nvSpPr>
        <p:spPr>
          <a:xfrm xmlns:a="http://schemas.openxmlformats.org/drawingml/2006/main">
            <a:off x="4219575" y="3543300"/>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42F4C"/>
                </a:solidFill>
              </a:defRPr>
            </a:pPr>
            <a:r>
              <a:rPr sz="1275" b="1">
                <a:solidFill>
                  <a:srgbClr val="142F4C"/>
                </a:solidFill>
              </a:rPr>
              <a:t>Option B - delegate detection design to the Financial Controller with quarterly Audit and Risk Committee reporting (recommended and accepted)</a:t>
            </a:r>
          </a:p>
        </p:txBody>
      </p:sp>
      <p:sp>
        <p:nvSpPr>
          <p:cNvPr id="15" name="">
            <a:extLst xmlns:a="http://schemas.openxmlformats.org/drawingml/2006/main">
              <a:ext uri="{FF2B5EF4-FFF2-40B4-BE49-F238E27FC236}">
                <a16:creationId xmlns:a16="http://schemas.microsoft.com/office/drawing/2014/main" id="{74FD47CF-59F5-4E50-9249-487E91924478}"/>
              </a:ext>
            </a:extLst>
          </p:cNvPr>
          <p:cNvSpPr>
            <a:spLocks xmlns:a="http://schemas.openxmlformats.org/drawingml/2006/main" noGrp="1"/>
          </p:cNvSpPr>
          <p:nvPr/>
        </p:nvSpPr>
        <p:spPr>
          <a:xfrm xmlns:a="http://schemas.openxmlformats.org/drawingml/2006/main">
            <a:off x="4219575" y="4019550"/>
            <a:ext cx="2381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a:solidFill>
                  <a:srgbClr val="5A6B7C"/>
                </a:solidFill>
              </a:defRPr>
            </a:pPr>
            <a:r>
              <a:rPr sz="900">
                <a:solidFill>
                  <a:srgbClr val="5A6B7C"/>
                </a:solidFill>
              </a:rPr>
              <a:t>Cost: Cost and effort require management confirmation before approval.</a:t>
            </a:r>
          </a:p>
          <a:p xmlns:a="http://schemas.openxmlformats.org/drawingml/2006/main">
            <a:pPr>
              <a:defRPr sz="900">
                <a:solidFill>
                  <a:srgbClr val="5A6B7C"/>
                </a:solidFill>
              </a:defRPr>
            </a:pPr>
            <a:r>
              <a:rPr sz="900">
                <a:solidFill>
                  <a:srgbClr val="5A6B7C"/>
                </a:solidFill>
              </a:rPr>
              <a:t>Benefit: Adds focused specialist capacity against the named priority.</a:t>
            </a:r>
          </a:p>
          <a:p xmlns:a="http://schemas.openxmlformats.org/drawingml/2006/main">
            <a:pPr>
              <a:defRPr sz="900">
                <a:solidFill>
                  <a:srgbClr val="5A6B7C"/>
                </a:solidFill>
              </a:defRPr>
            </a:pPr>
            <a:r>
              <a:rPr sz="900">
                <a:solidFill>
                  <a:srgbClr val="5A6B7C"/>
                </a:solidFill>
              </a:rPr>
              <a:t>Trade-off: Introduces external cost, handover effort and a dependency on clear scope.</a:t>
            </a:r>
          </a:p>
          <a:p xmlns:a="http://schemas.openxmlformats.org/drawingml/2006/main">
            <a:pPr>
              <a:defRPr sz="900">
                <a:solidFill>
                  <a:srgbClr val="5A6B7C"/>
                </a:solidFill>
              </a:defRPr>
            </a:pPr>
            <a:r>
              <a:rPr sz="900">
                <a:solidFill>
                  <a:srgbClr val="5A6B7C"/>
                </a:solidFill>
              </a:rPr>
              <a:t>Recommended option</a:t>
            </a:r>
          </a:p>
        </p:txBody>
      </p:sp>
      <p:sp>
        <p:nvSpPr>
          <p:cNvPr id="16" name="">
            <a:extLst xmlns:a="http://schemas.openxmlformats.org/drawingml/2006/main">
              <a:ext uri="{FF2B5EF4-FFF2-40B4-BE49-F238E27FC236}">
                <a16:creationId xmlns:a16="http://schemas.microsoft.com/office/drawing/2014/main" id="{25A17970-F6A0-45DA-8937-4CE5CA028C63}"/>
              </a:ext>
            </a:extLst>
          </p:cNvPr>
          <p:cNvSpPr>
            <a:spLocks xmlns:a="http://schemas.openxmlformats.org/drawingml/2006/main" noGrp="1"/>
          </p:cNvSpPr>
          <p:nvPr/>
        </p:nvSpPr>
        <p:spPr>
          <a:xfrm xmlns:a="http://schemas.openxmlformats.org/drawingml/2006/main">
            <a:off x="7219950" y="2971800"/>
            <a:ext cx="2809875" cy="1524000"/>
          </a:xfrm>
          <a:prstGeom xmlns:a="http://schemas.openxmlformats.org/drawingml/2006/main" prst="roundRect">
            <a:avLst>
              <a:gd name="adj" fmla="val 7500"/>
            </a:avLst>
          </a:prstGeom>
          <a:solidFill xmlns:a="http://schemas.openxmlformats.org/drawingml/2006/main">
            <a:srgbClr val="FFFFFF"/>
          </a:solidFill>
          <a:ln xmlns:a="http://schemas.openxmlformats.org/drawingml/2006/main" w="9525">
            <a:solidFill>
              <a:srgbClr val="D9E1E7"/>
            </a:solidFill>
            <a:prstDash val="solid"/>
          </a:ln>
        </p:spPr>
      </p:sp>
      <p:sp>
        <p:nvSpPr>
          <p:cNvPr id="17" name="">
            <a:extLst xmlns:a="http://schemas.openxmlformats.org/drawingml/2006/main">
              <a:ext uri="{FF2B5EF4-FFF2-40B4-BE49-F238E27FC236}">
                <a16:creationId xmlns:a16="http://schemas.microsoft.com/office/drawing/2014/main" id="{3B53975F-C856-46CA-823E-BD42FDDBE47D}"/>
              </a:ext>
            </a:extLst>
          </p:cNvPr>
          <p:cNvSpPr>
            <a:spLocks xmlns:a="http://schemas.openxmlformats.org/drawingml/2006/main" noGrp="1"/>
          </p:cNvSpPr>
          <p:nvPr/>
        </p:nvSpPr>
        <p:spPr>
          <a:xfrm xmlns:a="http://schemas.openxmlformats.org/drawingml/2006/main">
            <a:off x="7410450" y="31623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C9A227"/>
                </a:solidFill>
              </a:defRPr>
            </a:pPr>
            <a:r>
              <a:rPr sz="1050" b="1">
                <a:solidFill>
                  <a:srgbClr val="C9A227"/>
                </a:solidFill>
              </a:rPr>
              <a:t>OPTION C</a:t>
            </a:r>
          </a:p>
        </p:txBody>
      </p:sp>
      <p:sp>
        <p:nvSpPr>
          <p:cNvPr id="18" name="">
            <a:extLst xmlns:a="http://schemas.openxmlformats.org/drawingml/2006/main">
              <a:ext uri="{FF2B5EF4-FFF2-40B4-BE49-F238E27FC236}">
                <a16:creationId xmlns:a16="http://schemas.microsoft.com/office/drawing/2014/main" id="{3E9995D6-DA30-440E-A87F-40361B391C6A}"/>
              </a:ext>
            </a:extLst>
          </p:cNvPr>
          <p:cNvSpPr>
            <a:spLocks xmlns:a="http://schemas.openxmlformats.org/drawingml/2006/main" noGrp="1"/>
          </p:cNvSpPr>
          <p:nvPr/>
        </p:nvSpPr>
        <p:spPr>
          <a:xfrm xmlns:a="http://schemas.openxmlformats.org/drawingml/2006/main">
            <a:off x="7410450" y="3543300"/>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42F4C"/>
                </a:solidFill>
              </a:defRPr>
            </a:pPr>
            <a:r>
              <a:rPr sz="1275" b="1">
                <a:solidFill>
                  <a:srgbClr val="142F4C"/>
                </a:solidFill>
              </a:rPr>
              <a:t>Option C - outsource monitoring to an external provider (rejected at current maturity: Kestrel cannot yet specify the indicator set it needs)</a:t>
            </a:r>
          </a:p>
        </p:txBody>
      </p:sp>
      <p:sp>
        <p:nvSpPr>
          <p:cNvPr id="19" name="">
            <a:extLst xmlns:a="http://schemas.openxmlformats.org/drawingml/2006/main">
              <a:ext uri="{FF2B5EF4-FFF2-40B4-BE49-F238E27FC236}">
                <a16:creationId xmlns:a16="http://schemas.microsoft.com/office/drawing/2014/main" id="{F8DEEC7D-8758-4F68-8F14-C32B880BD1F2}"/>
              </a:ext>
            </a:extLst>
          </p:cNvPr>
          <p:cNvSpPr>
            <a:spLocks xmlns:a="http://schemas.openxmlformats.org/drawingml/2006/main" noGrp="1"/>
          </p:cNvSpPr>
          <p:nvPr/>
        </p:nvSpPr>
        <p:spPr>
          <a:xfrm xmlns:a="http://schemas.openxmlformats.org/drawingml/2006/main">
            <a:off x="7410450" y="4019550"/>
            <a:ext cx="2381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a:solidFill>
                  <a:srgbClr val="5A6B7C"/>
                </a:solidFill>
              </a:defRPr>
            </a:pPr>
            <a:r>
              <a:rPr sz="900">
                <a:solidFill>
                  <a:srgbClr val="5A6B7C"/>
                </a:solidFill>
              </a:rPr>
              <a:t>Cost: Cost and effort require management confirmation before approval.</a:t>
            </a:r>
          </a:p>
          <a:p xmlns:a="http://schemas.openxmlformats.org/drawingml/2006/main">
            <a:pPr>
              <a:defRPr sz="900">
                <a:solidFill>
                  <a:srgbClr val="5A6B7C"/>
                </a:solidFill>
              </a:defRPr>
            </a:pPr>
            <a:r>
              <a:rPr sz="900">
                <a:solidFill>
                  <a:srgbClr val="5A6B7C"/>
                </a:solidFill>
              </a:rPr>
              <a:t>Benefit: Combines internal accountability with targeted specialist support.</a:t>
            </a:r>
          </a:p>
          <a:p xmlns:a="http://schemas.openxmlformats.org/drawingml/2006/main">
            <a:pPr>
              <a:defRPr sz="900">
                <a:solidFill>
                  <a:srgbClr val="5A6B7C"/>
                </a:solidFill>
              </a:defRPr>
            </a:pPr>
            <a:r>
              <a:rPr sz="900">
                <a:solidFill>
                  <a:srgbClr val="5A6B7C"/>
                </a:solidFill>
              </a:rPr>
              <a:t>Trade-off: Needs explicit boundaries so ownership and escalation are not diluted.</a:t>
            </a:r>
          </a:p>
          <a:p xmlns:a="http://schemas.openxmlformats.org/drawingml/2006/main">
            <a:pPr>
              <a:defRPr sz="900">
                <a:solidFill>
                  <a:srgbClr val="5A6B7C"/>
                </a:solidFill>
              </a:defRPr>
            </a:pPr>
            <a:r>
              <a:rPr sz="900">
                <a:solidFill>
                  <a:srgbClr val="5A6B7C"/>
                </a:solidFill>
              </a:rPr>
              <a:t>Rejection reason: rejected at current maturity: Kestrel cannot yet specify the indicator set it needs</a:t>
            </a:r>
          </a:p>
        </p:txBody>
      </p:sp>
      <p:sp>
        <p:nvSpPr>
          <p:cNvPr id="20" name="">
            <a:extLst xmlns:a="http://schemas.openxmlformats.org/drawingml/2006/main">
              <a:ext uri="{FF2B5EF4-FFF2-40B4-BE49-F238E27FC236}">
                <a16:creationId xmlns:a16="http://schemas.microsoft.com/office/drawing/2014/main" id="{27F175AC-FCDA-4F86-9E10-F4D4A568315E}"/>
              </a:ext>
            </a:extLst>
          </p:cNvPr>
          <p:cNvSpPr>
            <a:spLocks xmlns:a="http://schemas.openxmlformats.org/drawingml/2006/main" noGrp="1"/>
          </p:cNvSpPr>
          <p:nvPr/>
        </p:nvSpPr>
        <p:spPr>
          <a:xfrm xmlns:a="http://schemas.openxmlformats.org/drawingml/2006/main">
            <a:off x="838200" y="4972050"/>
            <a:ext cx="9191625" cy="704850"/>
          </a:xfrm>
          <a:prstGeom xmlns:a="http://schemas.openxmlformats.org/drawingml/2006/main" prst="roundRect">
            <a:avLst>
              <a:gd name="adj" fmla="val 16216"/>
            </a:avLst>
          </a:prstGeom>
          <a:solidFill xmlns:a="http://schemas.openxmlformats.org/drawingml/2006/main">
            <a:srgbClr val="FDF4E7"/>
          </a:solidFill>
          <a:ln xmlns:a="http://schemas.openxmlformats.org/drawingml/2006/main" w="9525">
            <a:solidFill>
              <a:srgbClr val="F0E6C8"/>
            </a:solidFill>
            <a:prstDash val="solid"/>
          </a:ln>
        </p:spPr>
      </p:sp>
      <p:sp>
        <p:nvSpPr>
          <p:cNvPr id="21" name="">
            <a:extLst xmlns:a="http://schemas.openxmlformats.org/drawingml/2006/main">
              <a:ext uri="{FF2B5EF4-FFF2-40B4-BE49-F238E27FC236}">
                <a16:creationId xmlns:a16="http://schemas.microsoft.com/office/drawing/2014/main" id="{1CA1A955-4BDD-4D12-A70E-7AF2409EC467}"/>
              </a:ext>
            </a:extLst>
          </p:cNvPr>
          <p:cNvSpPr>
            <a:spLocks xmlns:a="http://schemas.openxmlformats.org/drawingml/2006/main" noGrp="1"/>
          </p:cNvSpPr>
          <p:nvPr/>
        </p:nvSpPr>
        <p:spPr>
          <a:xfrm xmlns:a="http://schemas.openxmlformats.org/drawingml/2006/main">
            <a:off x="1066800" y="5067300"/>
            <a:ext cx="866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142F4C"/>
                </a:solidFill>
              </a:defRPr>
            </a:pPr>
            <a:r>
              <a:rPr sz="975">
                <a:solidFill>
                  <a:srgbClr val="142F4C"/>
                </a:solidFill>
              </a:rPr>
              <a:t>MK recommendation: Viable options considered. Option A - leave accountability with the Finance Director as the policy currently states. Trade-off:…</a:t>
            </a:r>
          </a:p>
        </p:txBody>
      </p:sp>
      <p:sp>
        <p:nvSpPr>
          <p:cNvPr id="22" name="">
            <a:extLst xmlns:a="http://schemas.openxmlformats.org/drawingml/2006/main">
              <a:ext uri="{FF2B5EF4-FFF2-40B4-BE49-F238E27FC236}">
                <a16:creationId xmlns:a16="http://schemas.microsoft.com/office/drawing/2014/main" id="{AC9C194D-71A1-44E4-B2B0-98399AB9E023}"/>
              </a:ext>
            </a:extLst>
          </p:cNvPr>
          <p:cNvSpPr>
            <a:spLocks xmlns:a="http://schemas.openxmlformats.org/drawingml/2006/main" noGrp="1"/>
          </p:cNvSpPr>
          <p:nvPr/>
        </p:nvSpPr>
        <p:spPr>
          <a:xfrm xmlns:a="http://schemas.openxmlformats.org/drawingml/2006/main">
            <a:off x="1066800" y="5257800"/>
            <a:ext cx="866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142F4C"/>
                </a:solidFill>
              </a:defRPr>
            </a:pPr>
            <a:r>
              <a:rPr sz="975">
                <a:solidFill>
                  <a:srgbClr val="142F4C"/>
                </a:solidFill>
              </a:rPr>
              <a:t>Recommendation rationale: The recommendation follows the linked deterministic finding and risk priorities; management must confirm the final route, cost and…</a:t>
            </a:r>
          </a:p>
        </p:txBody>
      </p:sp>
      <p:sp>
        <p:nvSpPr>
          <p:cNvPr id="23" name="">
            <a:extLst xmlns:a="http://schemas.openxmlformats.org/drawingml/2006/main">
              <a:ext uri="{FF2B5EF4-FFF2-40B4-BE49-F238E27FC236}">
                <a16:creationId xmlns:a16="http://schemas.microsoft.com/office/drawing/2014/main" id="{1243896E-2CA4-430D-8DC2-F76FD6ED0228}"/>
              </a:ext>
            </a:extLst>
          </p:cNvPr>
          <p:cNvSpPr>
            <a:spLocks xmlns:a="http://schemas.openxmlformats.org/drawingml/2006/main" noGrp="1"/>
          </p:cNvSpPr>
          <p:nvPr/>
        </p:nvSpPr>
        <p:spPr>
          <a:xfrm xmlns:a="http://schemas.openxmlformats.org/drawingml/2006/main">
            <a:off x="1066800" y="5448300"/>
            <a:ext cx="866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142F4C"/>
                </a:solidFill>
              </a:defRPr>
            </a:pPr>
            <a:r>
              <a:rPr sz="975">
                <a:solidFill>
                  <a:srgbClr val="142F4C"/>
                </a:solidFill>
              </a:rPr>
              <a:t>Owner: CEO / Managing Director · Deadline: 30 days</a:t>
            </a:r>
          </a:p>
        </p:txBody>
      </p:sp>
    </p:spTree>
    <p:extLst>
      <p:ext uri="{BB962C8B-B14F-4D97-AF65-F5344CB8AC3E}">
        <p14:creationId xmlns:p14="http://schemas.microsoft.com/office/powerpoint/2010/main" val="1676871416"/>
      </p:ext>
    </p:extLst>
  </p:cSld>
</p:sld>
</file>

<file path=ppt/slides/slide8.xml><?xml version="1.0" encoding="utf-8"?>
<p:sld xmlns:p="http://schemas.openxmlformats.org/presentationml/2006/main">
  <p:cSld>
    <p:bg>
      <p:bgPr>
        <a:solidFill xmlns:a="http://schemas.openxmlformats.org/drawingml/2006/main">
          <a:srgbClr val="FBF9F5"/>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C53CDAB7-45B1-4570-A241-9514A25548AA}"/>
              </a:ext>
            </a:extLst>
          </p:cNvPr>
          <p:cNvSpPr>
            <a:spLocks xmlns:a="http://schemas.openxmlformats.org/drawingml/2006/main" noGrp="1"/>
          </p:cNvSpPr>
          <p:nvPr/>
        </p:nvSpPr>
        <p:spPr>
          <a:xfrm xmlns:a="http://schemas.openxmlformats.org/drawingml/2006/main">
            <a:off x="685800" y="4000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C9A227"/>
                </a:solidFill>
              </a:defRPr>
            </a:pPr>
            <a:r>
              <a:rPr sz="1050" b="1">
                <a:solidFill>
                  <a:srgbClr val="C9A227"/>
                </a:solidFill>
              </a:rPr>
              <a:t>COMPREHENSIVE REVIEW · 08</a:t>
            </a:r>
          </a:p>
        </p:txBody>
      </p:sp>
      <p:sp>
        <p:nvSpPr>
          <p:cNvPr id="2" name="">
            <a:extLst xmlns:a="http://schemas.openxmlformats.org/drawingml/2006/main">
              <a:ext uri="{FF2B5EF4-FFF2-40B4-BE49-F238E27FC236}">
                <a16:creationId xmlns:a16="http://schemas.microsoft.com/office/drawing/2014/main" id="{7F46292A-5BE8-4CAA-9158-E4B16A258B3A}"/>
              </a:ext>
            </a:extLst>
          </p:cNvPr>
          <p:cNvSpPr>
            <a:spLocks xmlns:a="http://schemas.openxmlformats.org/drawingml/2006/main" noGrp="1"/>
          </p:cNvSpPr>
          <p:nvPr/>
        </p:nvSpPr>
        <p:spPr>
          <a:xfrm xmlns:a="http://schemas.openxmlformats.org/drawingml/2006/main">
            <a:off x="685800" y="723900"/>
            <a:ext cx="1028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925" b="1">
                <a:solidFill>
                  <a:srgbClr val="142F4C"/>
                </a:solidFill>
              </a:defRPr>
            </a:pPr>
            <a:r>
              <a:rPr sz="2925" b="1">
                <a:solidFill>
                  <a:srgbClr val="142F4C"/>
                </a:solidFill>
              </a:rPr>
              <a:t>The first 90 days should establish population, ownership and proof.</a:t>
            </a:r>
          </a:p>
        </p:txBody>
      </p:sp>
      <p:sp>
        <p:nvSpPr>
          <p:cNvPr id="3" name="">
            <a:extLst xmlns:a="http://schemas.openxmlformats.org/drawingml/2006/main">
              <a:ext uri="{FF2B5EF4-FFF2-40B4-BE49-F238E27FC236}">
                <a16:creationId xmlns:a16="http://schemas.microsoft.com/office/drawing/2014/main" id="{42D80E31-B409-43E9-B2DE-B7C50E930D06}"/>
              </a:ext>
            </a:extLst>
          </p:cNvPr>
          <p:cNvSpPr>
            <a:spLocks xmlns:a="http://schemas.openxmlformats.org/drawingml/2006/main" noGrp="1"/>
          </p:cNvSpPr>
          <p:nvPr/>
        </p:nvSpPr>
        <p:spPr>
          <a:xfrm xmlns:a="http://schemas.openxmlformats.org/drawingml/2006/main">
            <a:off x="685800" y="1562100"/>
            <a:ext cx="1000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5A6B7C"/>
                </a:solidFill>
              </a:defRPr>
            </a:pPr>
            <a:r>
              <a:rPr sz="1350">
                <a:solidFill>
                  <a:srgbClr val="5A6B7C"/>
                </a:solidFill>
              </a:rPr>
              <a:t>Sequence the work so early progress creates a reliable control baseline.</a:t>
            </a:r>
          </a:p>
        </p:txBody>
      </p:sp>
      <p:sp>
        <p:nvSpPr>
          <p:cNvPr id="4" name="">
            <a:extLst xmlns:a="http://schemas.openxmlformats.org/drawingml/2006/main">
              <a:ext uri="{FF2B5EF4-FFF2-40B4-BE49-F238E27FC236}">
                <a16:creationId xmlns:a16="http://schemas.microsoft.com/office/drawing/2014/main" id="{FB38F29A-8AA8-4BD5-9F9D-928CD2F601A2}"/>
              </a:ext>
            </a:extLst>
          </p:cNvPr>
          <p:cNvSpPr>
            <a:spLocks xmlns:a="http://schemas.openxmlformats.org/drawingml/2006/main" noGrp="1"/>
          </p:cNvSpPr>
          <p:nvPr/>
        </p:nvSpPr>
        <p:spPr>
          <a:xfrm xmlns:a="http://schemas.openxmlformats.org/drawingml/2006/main">
            <a:off x="685800" y="6324600"/>
            <a:ext cx="10820400" cy="0"/>
          </a:xfrm>
          <a:prstGeom xmlns:a="http://schemas.openxmlformats.org/drawingml/2006/main" prst="line">
            <a:avLst/>
          </a:prstGeom>
          <a:noFill xmlns:a="http://schemas.openxmlformats.org/drawingml/2006/main"/>
          <a:ln xmlns:a="http://schemas.openxmlformats.org/drawingml/2006/main" w="9525">
            <a:solidFill>
              <a:srgbClr val="D9E1E7"/>
            </a:solidFill>
            <a:prstDash val="solid"/>
          </a:ln>
        </p:spPr>
      </p:sp>
      <p:sp>
        <p:nvSpPr>
          <p:cNvPr id="5" name="">
            <a:extLst xmlns:a="http://schemas.openxmlformats.org/drawingml/2006/main">
              <a:ext uri="{FF2B5EF4-FFF2-40B4-BE49-F238E27FC236}">
                <a16:creationId xmlns:a16="http://schemas.microsoft.com/office/drawing/2014/main" id="{03DA3849-EFA1-4B32-B9DA-D94CF090530E}"/>
              </a:ext>
            </a:extLst>
          </p:cNvPr>
          <p:cNvSpPr>
            <a:spLocks xmlns:a="http://schemas.openxmlformats.org/drawingml/2006/main" noGrp="1"/>
          </p:cNvSpPr>
          <p:nvPr/>
        </p:nvSpPr>
        <p:spPr>
          <a:xfrm xmlns:a="http://schemas.openxmlformats.org/drawingml/2006/main">
            <a:off x="685800" y="64389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5A6B7C"/>
                </a:solidFill>
              </a:defRPr>
            </a:pPr>
            <a:r>
              <a:rPr sz="975">
                <a:solidFill>
                  <a:srgbClr val="5A6B7C"/>
                </a:solidFill>
              </a:rPr>
              <a:t>MK Fraud Readiness · Comprehensive</a:t>
            </a:r>
          </a:p>
        </p:txBody>
      </p:sp>
      <p:sp>
        <p:nvSpPr>
          <p:cNvPr id="6" name="">
            <a:extLst xmlns:a="http://schemas.openxmlformats.org/drawingml/2006/main">
              <a:ext uri="{FF2B5EF4-FFF2-40B4-BE49-F238E27FC236}">
                <a16:creationId xmlns:a16="http://schemas.microsoft.com/office/drawing/2014/main" id="{9BC56F33-4BD0-4A0B-8AB5-63EDA7ADA74A}"/>
              </a:ext>
            </a:extLst>
          </p:cNvPr>
          <p:cNvSpPr>
            <a:spLocks xmlns:a="http://schemas.openxmlformats.org/drawingml/2006/main" noGrp="1"/>
          </p:cNvSpPr>
          <p:nvPr/>
        </p:nvSpPr>
        <p:spPr>
          <a:xfrm xmlns:a="http://schemas.openxmlformats.org/drawingml/2006/main">
            <a:off x="10810875" y="643890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a:solidFill>
                  <a:srgbClr val="5A6B7C"/>
                </a:solidFill>
              </a:defRPr>
            </a:pPr>
            <a:r>
              <a:rPr sz="975">
                <a:solidFill>
                  <a:srgbClr val="5A6B7C"/>
                </a:solidFill>
              </a:rPr>
              <a:t>08 / 10</a:t>
            </a:r>
          </a:p>
        </p:txBody>
      </p:sp>
      <p:sp>
        <p:nvSpPr>
          <p:cNvPr id="7" name="">
            <a:extLst xmlns:a="http://schemas.openxmlformats.org/drawingml/2006/main">
              <a:ext uri="{FF2B5EF4-FFF2-40B4-BE49-F238E27FC236}">
                <a16:creationId xmlns:a16="http://schemas.microsoft.com/office/drawing/2014/main" id="{65108431-5230-409E-9D86-482D39CF82DB}"/>
              </a:ext>
            </a:extLst>
          </p:cNvPr>
          <p:cNvSpPr>
            <a:spLocks xmlns:a="http://schemas.openxmlformats.org/drawingml/2006/main" noGrp="1"/>
          </p:cNvSpPr>
          <p:nvPr/>
        </p:nvSpPr>
        <p:spPr>
          <a:xfrm xmlns:a="http://schemas.openxmlformats.org/drawingml/2006/main">
            <a:off x="838200" y="2095500"/>
            <a:ext cx="2857500" cy="314325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D9E1E7"/>
            </a:solidFill>
            <a:prstDash val="solid"/>
          </a:ln>
        </p:spPr>
      </p:sp>
      <p:sp>
        <p:nvSpPr>
          <p:cNvPr id="8" name="">
            <a:extLst xmlns:a="http://schemas.openxmlformats.org/drawingml/2006/main">
              <a:ext uri="{FF2B5EF4-FFF2-40B4-BE49-F238E27FC236}">
                <a16:creationId xmlns:a16="http://schemas.microsoft.com/office/drawing/2014/main" id="{61CB5E99-D0DE-4AF4-BFBB-6C9D653E35CD}"/>
              </a:ext>
            </a:extLst>
          </p:cNvPr>
          <p:cNvSpPr>
            <a:spLocks xmlns:a="http://schemas.openxmlformats.org/drawingml/2006/main" noGrp="1"/>
          </p:cNvSpPr>
          <p:nvPr/>
        </p:nvSpPr>
        <p:spPr>
          <a:xfrm xmlns:a="http://schemas.openxmlformats.org/drawingml/2006/main">
            <a:off x="838200" y="2095500"/>
            <a:ext cx="2857500" cy="76200"/>
          </a:xfrm>
          <a:prstGeom xmlns:a="http://schemas.openxmlformats.org/drawingml/2006/main" prst="rect">
            <a:avLst/>
          </a:prstGeom>
          <a:solidFill xmlns:a="http://schemas.openxmlformats.org/drawingml/2006/main">
            <a:srgbClr val="C9A227"/>
          </a:solidFill>
          <a:ln xmlns:a="http://schemas.openxmlformats.org/drawingml/2006/main" w="0">
            <a:solidFill>
              <a:srgbClr val="142F4C"/>
            </a:solidFill>
            <a:prstDash val="solid"/>
          </a:ln>
        </p:spPr>
      </p:sp>
      <p:sp>
        <p:nvSpPr>
          <p:cNvPr id="9" name="">
            <a:extLst xmlns:a="http://schemas.openxmlformats.org/drawingml/2006/main">
              <a:ext uri="{FF2B5EF4-FFF2-40B4-BE49-F238E27FC236}">
                <a16:creationId xmlns:a16="http://schemas.microsoft.com/office/drawing/2014/main" id="{011286B1-C06B-4135-A0D8-42539FB6FD80}"/>
              </a:ext>
            </a:extLst>
          </p:cNvPr>
          <p:cNvSpPr>
            <a:spLocks xmlns:a="http://schemas.openxmlformats.org/drawingml/2006/main" noGrp="1"/>
          </p:cNvSpPr>
          <p:nvPr/>
        </p:nvSpPr>
        <p:spPr>
          <a:xfrm xmlns:a="http://schemas.openxmlformats.org/drawingml/2006/main">
            <a:off x="1047750" y="23622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42F4C"/>
                </a:solidFill>
              </a:defRPr>
            </a:pPr>
            <a:r>
              <a:rPr sz="1800" b="1">
                <a:solidFill>
                  <a:srgbClr val="142F4C"/>
                </a:solidFill>
              </a:rPr>
              <a:t>30 days</a:t>
            </a:r>
          </a:p>
        </p:txBody>
      </p:sp>
      <p:sp>
        <p:nvSpPr>
          <p:cNvPr id="10" name="">
            <a:extLst xmlns:a="http://schemas.openxmlformats.org/drawingml/2006/main">
              <a:ext uri="{FF2B5EF4-FFF2-40B4-BE49-F238E27FC236}">
                <a16:creationId xmlns:a16="http://schemas.microsoft.com/office/drawing/2014/main" id="{361745C8-6408-4AD0-A85C-9E307830781B}"/>
              </a:ext>
            </a:extLst>
          </p:cNvPr>
          <p:cNvSpPr>
            <a:spLocks xmlns:a="http://schemas.openxmlformats.org/drawingml/2006/main" noGrp="1"/>
          </p:cNvSpPr>
          <p:nvPr/>
        </p:nvSpPr>
        <p:spPr>
          <a:xfrm xmlns:a="http://schemas.openxmlformats.org/drawingml/2006/main">
            <a:off x="1047750" y="2933700"/>
            <a:ext cx="95250" cy="95250"/>
          </a:xfrm>
          <a:prstGeom xmlns:a="http://schemas.openxmlformats.org/drawingml/2006/main" prst="ellipse">
            <a:avLst/>
          </a:prstGeom>
          <a:solidFill xmlns:a="http://schemas.openxmlformats.org/drawingml/2006/main">
            <a:srgbClr val="C9A227"/>
          </a:solidFill>
          <a:ln xmlns:a="http://schemas.openxmlformats.org/drawingml/2006/main" w="0">
            <a:solidFill>
              <a:srgbClr val="C9A227"/>
            </a:solidFill>
            <a:prstDash val="solid"/>
          </a:ln>
        </p:spPr>
      </p:sp>
      <p:sp>
        <p:nvSpPr>
          <p:cNvPr id="11" name="">
            <a:extLst xmlns:a="http://schemas.openxmlformats.org/drawingml/2006/main">
              <a:ext uri="{FF2B5EF4-FFF2-40B4-BE49-F238E27FC236}">
                <a16:creationId xmlns:a16="http://schemas.microsoft.com/office/drawing/2014/main" id="{FE831D9C-FD7B-4087-A321-A777BFF73422}"/>
              </a:ext>
            </a:extLst>
          </p:cNvPr>
          <p:cNvSpPr>
            <a:spLocks xmlns:a="http://schemas.openxmlformats.org/drawingml/2006/main" noGrp="1"/>
          </p:cNvSpPr>
          <p:nvPr/>
        </p:nvSpPr>
        <p:spPr>
          <a:xfrm xmlns:a="http://schemas.openxmlformats.org/drawingml/2006/main">
            <a:off x="1276350" y="2857500"/>
            <a:ext cx="2381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1A2634"/>
                </a:solidFill>
              </a:defRPr>
            </a:pPr>
            <a:r>
              <a:rPr sz="1125">
                <a:solidFill>
                  <a:srgbClr val="1A2634"/>
                </a:solidFill>
              </a:rPr>
              <a:t>The CEO and audit-committee chair must approve a RACI that assigns control operation to management and risk owners,…</a:t>
            </a:r>
          </a:p>
        </p:txBody>
      </p:sp>
      <p:sp>
        <p:nvSpPr>
          <p:cNvPr id="12" name="">
            <a:extLst xmlns:a="http://schemas.openxmlformats.org/drawingml/2006/main">
              <a:ext uri="{FF2B5EF4-FFF2-40B4-BE49-F238E27FC236}">
                <a16:creationId xmlns:a16="http://schemas.microsoft.com/office/drawing/2014/main" id="{901654F2-D941-4B96-85D6-D2F446957657}"/>
              </a:ext>
            </a:extLst>
          </p:cNvPr>
          <p:cNvSpPr>
            <a:spLocks xmlns:a="http://schemas.openxmlformats.org/drawingml/2006/main" noGrp="1"/>
          </p:cNvSpPr>
          <p:nvPr/>
        </p:nvSpPr>
        <p:spPr>
          <a:xfrm xmlns:a="http://schemas.openxmlformats.org/drawingml/2006/main">
            <a:off x="1047750" y="3581400"/>
            <a:ext cx="95250" cy="95250"/>
          </a:xfrm>
          <a:prstGeom xmlns:a="http://schemas.openxmlformats.org/drawingml/2006/main" prst="ellipse">
            <a:avLst/>
          </a:prstGeom>
          <a:solidFill xmlns:a="http://schemas.openxmlformats.org/drawingml/2006/main">
            <a:srgbClr val="C9A227"/>
          </a:solidFill>
          <a:ln xmlns:a="http://schemas.openxmlformats.org/drawingml/2006/main" w="0">
            <a:solidFill>
              <a:srgbClr val="C9A227"/>
            </a:solidFill>
            <a:prstDash val="solid"/>
          </a:ln>
        </p:spPr>
      </p:sp>
      <p:sp>
        <p:nvSpPr>
          <p:cNvPr id="13" name="">
            <a:extLst xmlns:a="http://schemas.openxmlformats.org/drawingml/2006/main">
              <a:ext uri="{FF2B5EF4-FFF2-40B4-BE49-F238E27FC236}">
                <a16:creationId xmlns:a16="http://schemas.microsoft.com/office/drawing/2014/main" id="{6840C705-D5E5-4605-B70D-3C05328BC39F}"/>
              </a:ext>
            </a:extLst>
          </p:cNvPr>
          <p:cNvSpPr>
            <a:spLocks xmlns:a="http://schemas.openxmlformats.org/drawingml/2006/main" noGrp="1"/>
          </p:cNvSpPr>
          <p:nvPr/>
        </p:nvSpPr>
        <p:spPr>
          <a:xfrm xmlns:a="http://schemas.openxmlformats.org/drawingml/2006/main">
            <a:off x="1276350" y="3505200"/>
            <a:ext cx="2381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1A2634"/>
                </a:solidFill>
              </a:defRPr>
            </a:pPr>
            <a:r>
              <a:rPr sz="1125">
                <a:solidFill>
                  <a:srgbClr val="1A2634"/>
                </a:solidFill>
              </a:rPr>
              <a:t>The Head of Risk must publish escalation criteria defining what must be escalated, to whom and within what…</a:t>
            </a:r>
          </a:p>
        </p:txBody>
      </p:sp>
      <p:sp>
        <p:nvSpPr>
          <p:cNvPr id="14" name="">
            <a:extLst xmlns:a="http://schemas.openxmlformats.org/drawingml/2006/main">
              <a:ext uri="{FF2B5EF4-FFF2-40B4-BE49-F238E27FC236}">
                <a16:creationId xmlns:a16="http://schemas.microsoft.com/office/drawing/2014/main" id="{4057BBE0-AA88-40D2-9643-C88B9BB7FC64}"/>
              </a:ext>
            </a:extLst>
          </p:cNvPr>
          <p:cNvSpPr>
            <a:spLocks xmlns:a="http://schemas.openxmlformats.org/drawingml/2006/main" noGrp="1"/>
          </p:cNvSpPr>
          <p:nvPr/>
        </p:nvSpPr>
        <p:spPr>
          <a:xfrm xmlns:a="http://schemas.openxmlformats.org/drawingml/2006/main">
            <a:off x="1047750" y="4229100"/>
            <a:ext cx="95250" cy="95250"/>
          </a:xfrm>
          <a:prstGeom xmlns:a="http://schemas.openxmlformats.org/drawingml/2006/main" prst="ellipse">
            <a:avLst/>
          </a:prstGeom>
          <a:solidFill xmlns:a="http://schemas.openxmlformats.org/drawingml/2006/main">
            <a:srgbClr val="C9A227"/>
          </a:solidFill>
          <a:ln xmlns:a="http://schemas.openxmlformats.org/drawingml/2006/main" w="0">
            <a:solidFill>
              <a:srgbClr val="C9A227"/>
            </a:solidFill>
            <a:prstDash val="solid"/>
          </a:ln>
        </p:spPr>
      </p:sp>
      <p:sp>
        <p:nvSpPr>
          <p:cNvPr id="15" name="">
            <a:extLst xmlns:a="http://schemas.openxmlformats.org/drawingml/2006/main">
              <a:ext uri="{FF2B5EF4-FFF2-40B4-BE49-F238E27FC236}">
                <a16:creationId xmlns:a16="http://schemas.microsoft.com/office/drawing/2014/main" id="{CB1871BF-B7EF-4B42-BC61-46B8C8687ECA}"/>
              </a:ext>
            </a:extLst>
          </p:cNvPr>
          <p:cNvSpPr>
            <a:spLocks xmlns:a="http://schemas.openxmlformats.org/drawingml/2006/main" noGrp="1"/>
          </p:cNvSpPr>
          <p:nvPr/>
        </p:nvSpPr>
        <p:spPr>
          <a:xfrm xmlns:a="http://schemas.openxmlformats.org/drawingml/2006/main">
            <a:off x="1276350" y="4152900"/>
            <a:ext cx="2381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1A2634"/>
                </a:solidFill>
              </a:defRPr>
            </a:pPr>
            <a:r>
              <a:rPr sz="1125">
                <a:solidFill>
                  <a:srgbClr val="1A2634"/>
                </a:solidFill>
              </a:rPr>
              <a:t>The ethics owner must publish reporting routes in plain language across the channels the workforce actually uses —…</a:t>
            </a:r>
          </a:p>
        </p:txBody>
      </p:sp>
      <p:sp>
        <p:nvSpPr>
          <p:cNvPr id="16" name="">
            <a:extLst xmlns:a="http://schemas.openxmlformats.org/drawingml/2006/main">
              <a:ext uri="{FF2B5EF4-FFF2-40B4-BE49-F238E27FC236}">
                <a16:creationId xmlns:a16="http://schemas.microsoft.com/office/drawing/2014/main" id="{D2EB16F4-4974-415B-BACC-CC1658020D5C}"/>
              </a:ext>
            </a:extLst>
          </p:cNvPr>
          <p:cNvSpPr>
            <a:spLocks xmlns:a="http://schemas.openxmlformats.org/drawingml/2006/main" noGrp="1"/>
          </p:cNvSpPr>
          <p:nvPr/>
        </p:nvSpPr>
        <p:spPr>
          <a:xfrm xmlns:a="http://schemas.openxmlformats.org/drawingml/2006/main">
            <a:off x="4076700" y="2095500"/>
            <a:ext cx="2857500" cy="314325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D9E1E7"/>
            </a:solidFill>
            <a:prstDash val="solid"/>
          </a:ln>
        </p:spPr>
      </p:sp>
      <p:sp>
        <p:nvSpPr>
          <p:cNvPr id="17" name="">
            <a:extLst xmlns:a="http://schemas.openxmlformats.org/drawingml/2006/main">
              <a:ext uri="{FF2B5EF4-FFF2-40B4-BE49-F238E27FC236}">
                <a16:creationId xmlns:a16="http://schemas.microsoft.com/office/drawing/2014/main" id="{CCDD7697-8007-4C5B-98A5-B113C134187F}"/>
              </a:ext>
            </a:extLst>
          </p:cNvPr>
          <p:cNvSpPr>
            <a:spLocks xmlns:a="http://schemas.openxmlformats.org/drawingml/2006/main" noGrp="1"/>
          </p:cNvSpPr>
          <p:nvPr/>
        </p:nvSpPr>
        <p:spPr>
          <a:xfrm xmlns:a="http://schemas.openxmlformats.org/drawingml/2006/main">
            <a:off x="4076700" y="2095500"/>
            <a:ext cx="2857500" cy="76200"/>
          </a:xfrm>
          <a:prstGeom xmlns:a="http://schemas.openxmlformats.org/drawingml/2006/main" prst="rect">
            <a:avLst/>
          </a:prstGeom>
          <a:solidFill xmlns:a="http://schemas.openxmlformats.org/drawingml/2006/main">
            <a:srgbClr val="142F4C"/>
          </a:solidFill>
          <a:ln xmlns:a="http://schemas.openxmlformats.org/drawingml/2006/main" w="0">
            <a:solidFill>
              <a:srgbClr val="142F4C"/>
            </a:solidFill>
            <a:prstDash val="solid"/>
          </a:ln>
        </p:spPr>
      </p:sp>
      <p:sp>
        <p:nvSpPr>
          <p:cNvPr id="18" name="">
            <a:extLst xmlns:a="http://schemas.openxmlformats.org/drawingml/2006/main">
              <a:ext uri="{FF2B5EF4-FFF2-40B4-BE49-F238E27FC236}">
                <a16:creationId xmlns:a16="http://schemas.microsoft.com/office/drawing/2014/main" id="{6901DE07-0645-4216-B106-47112329145E}"/>
              </a:ext>
            </a:extLst>
          </p:cNvPr>
          <p:cNvSpPr>
            <a:spLocks xmlns:a="http://schemas.openxmlformats.org/drawingml/2006/main" noGrp="1"/>
          </p:cNvSpPr>
          <p:nvPr/>
        </p:nvSpPr>
        <p:spPr>
          <a:xfrm xmlns:a="http://schemas.openxmlformats.org/drawingml/2006/main">
            <a:off x="4286250" y="23622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42F4C"/>
                </a:solidFill>
              </a:defRPr>
            </a:pPr>
            <a:r>
              <a:rPr sz="1800" b="1">
                <a:solidFill>
                  <a:srgbClr val="142F4C"/>
                </a:solidFill>
              </a:rPr>
              <a:t>60 days</a:t>
            </a:r>
          </a:p>
        </p:txBody>
      </p:sp>
      <p:sp>
        <p:nvSpPr>
          <p:cNvPr id="19" name="">
            <a:extLst xmlns:a="http://schemas.openxmlformats.org/drawingml/2006/main">
              <a:ext uri="{FF2B5EF4-FFF2-40B4-BE49-F238E27FC236}">
                <a16:creationId xmlns:a16="http://schemas.microsoft.com/office/drawing/2014/main" id="{755E0D4B-81E8-4953-BF9D-16A1F7FFF6DD}"/>
              </a:ext>
            </a:extLst>
          </p:cNvPr>
          <p:cNvSpPr>
            <a:spLocks xmlns:a="http://schemas.openxmlformats.org/drawingml/2006/main" noGrp="1"/>
          </p:cNvSpPr>
          <p:nvPr/>
        </p:nvSpPr>
        <p:spPr>
          <a:xfrm xmlns:a="http://schemas.openxmlformats.org/drawingml/2006/main">
            <a:off x="4286250" y="2933700"/>
            <a:ext cx="95250" cy="95250"/>
          </a:xfrm>
          <a:prstGeom xmlns:a="http://schemas.openxmlformats.org/drawingml/2006/main" prst="ellipse">
            <a:avLst/>
          </a:prstGeom>
          <a:solidFill xmlns:a="http://schemas.openxmlformats.org/drawingml/2006/main">
            <a:srgbClr val="C9A227"/>
          </a:solidFill>
          <a:ln xmlns:a="http://schemas.openxmlformats.org/drawingml/2006/main" w="0">
            <a:solidFill>
              <a:srgbClr val="C9A227"/>
            </a:solidFill>
            <a:prstDash val="solid"/>
          </a:ln>
        </p:spPr>
      </p:sp>
      <p:sp>
        <p:nvSpPr>
          <p:cNvPr id="20" name="">
            <a:extLst xmlns:a="http://schemas.openxmlformats.org/drawingml/2006/main">
              <a:ext uri="{FF2B5EF4-FFF2-40B4-BE49-F238E27FC236}">
                <a16:creationId xmlns:a16="http://schemas.microsoft.com/office/drawing/2014/main" id="{26CC047A-FC00-467B-B5FF-0A9796319060}"/>
              </a:ext>
            </a:extLst>
          </p:cNvPr>
          <p:cNvSpPr>
            <a:spLocks xmlns:a="http://schemas.openxmlformats.org/drawingml/2006/main" noGrp="1"/>
          </p:cNvSpPr>
          <p:nvPr/>
        </p:nvSpPr>
        <p:spPr>
          <a:xfrm xmlns:a="http://schemas.openxmlformats.org/drawingml/2006/main">
            <a:off x="4514850" y="2857500"/>
            <a:ext cx="2381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1A2634"/>
                </a:solidFill>
              </a:defRPr>
            </a:pPr>
            <a:r>
              <a:rPr sz="1125">
                <a:solidFill>
                  <a:srgbClr val="1A2634"/>
                </a:solidFill>
              </a:rPr>
              <a:t>IT Security maintains a complete privileged-account register, links each human and service account to an owner and approved…</a:t>
            </a:r>
          </a:p>
        </p:txBody>
      </p:sp>
      <p:sp>
        <p:nvSpPr>
          <p:cNvPr id="21" name="">
            <a:extLst xmlns:a="http://schemas.openxmlformats.org/drawingml/2006/main">
              <a:ext uri="{FF2B5EF4-FFF2-40B4-BE49-F238E27FC236}">
                <a16:creationId xmlns:a16="http://schemas.microsoft.com/office/drawing/2014/main" id="{0F4F79AF-CEC6-4552-9424-6406EDCB4753}"/>
              </a:ext>
            </a:extLst>
          </p:cNvPr>
          <p:cNvSpPr>
            <a:spLocks xmlns:a="http://schemas.openxmlformats.org/drawingml/2006/main" noGrp="1"/>
          </p:cNvSpPr>
          <p:nvPr/>
        </p:nvSpPr>
        <p:spPr>
          <a:xfrm xmlns:a="http://schemas.openxmlformats.org/drawingml/2006/main">
            <a:off x="4286250" y="3581400"/>
            <a:ext cx="95250" cy="95250"/>
          </a:xfrm>
          <a:prstGeom xmlns:a="http://schemas.openxmlformats.org/drawingml/2006/main" prst="ellipse">
            <a:avLst/>
          </a:prstGeom>
          <a:solidFill xmlns:a="http://schemas.openxmlformats.org/drawingml/2006/main">
            <a:srgbClr val="C9A227"/>
          </a:solidFill>
          <a:ln xmlns:a="http://schemas.openxmlformats.org/drawingml/2006/main" w="0">
            <a:solidFill>
              <a:srgbClr val="C9A227"/>
            </a:solidFill>
            <a:prstDash val="solid"/>
          </a:ln>
        </p:spPr>
      </p:sp>
      <p:sp>
        <p:nvSpPr>
          <p:cNvPr id="22" name="">
            <a:extLst xmlns:a="http://schemas.openxmlformats.org/drawingml/2006/main">
              <a:ext uri="{FF2B5EF4-FFF2-40B4-BE49-F238E27FC236}">
                <a16:creationId xmlns:a16="http://schemas.microsoft.com/office/drawing/2014/main" id="{0FE756E5-708E-46A3-9649-680A6B0AF197}"/>
              </a:ext>
            </a:extLst>
          </p:cNvPr>
          <p:cNvSpPr>
            <a:spLocks xmlns:a="http://schemas.openxmlformats.org/drawingml/2006/main" noGrp="1"/>
          </p:cNvSpPr>
          <p:nvPr/>
        </p:nvSpPr>
        <p:spPr>
          <a:xfrm xmlns:a="http://schemas.openxmlformats.org/drawingml/2006/main">
            <a:off x="4514850" y="3505200"/>
            <a:ext cx="2381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1A2634"/>
                </a:solidFill>
              </a:defRPr>
            </a:pPr>
            <a:r>
              <a:rPr sz="1125">
                <a:solidFill>
                  <a:srgbClr val="1A2634"/>
                </a:solidFill>
              </a:rPr>
              <a:t>The process owner must define the risk points requiring verification — customer or beneficiary enrolment, employee onboarding, supplier…</a:t>
            </a:r>
          </a:p>
        </p:txBody>
      </p:sp>
      <p:sp>
        <p:nvSpPr>
          <p:cNvPr id="23" name="">
            <a:extLst xmlns:a="http://schemas.openxmlformats.org/drawingml/2006/main">
              <a:ext uri="{FF2B5EF4-FFF2-40B4-BE49-F238E27FC236}">
                <a16:creationId xmlns:a16="http://schemas.microsoft.com/office/drawing/2014/main" id="{E2C19006-D19A-4C6E-AD91-B5E97D856C05}"/>
              </a:ext>
            </a:extLst>
          </p:cNvPr>
          <p:cNvSpPr>
            <a:spLocks xmlns:a="http://schemas.openxmlformats.org/drawingml/2006/main" noGrp="1"/>
          </p:cNvSpPr>
          <p:nvPr/>
        </p:nvSpPr>
        <p:spPr>
          <a:xfrm xmlns:a="http://schemas.openxmlformats.org/drawingml/2006/main">
            <a:off x="4286250" y="4229100"/>
            <a:ext cx="95250" cy="95250"/>
          </a:xfrm>
          <a:prstGeom xmlns:a="http://schemas.openxmlformats.org/drawingml/2006/main" prst="ellipse">
            <a:avLst/>
          </a:prstGeom>
          <a:solidFill xmlns:a="http://schemas.openxmlformats.org/drawingml/2006/main">
            <a:srgbClr val="C9A227"/>
          </a:solidFill>
          <a:ln xmlns:a="http://schemas.openxmlformats.org/drawingml/2006/main" w="0">
            <a:solidFill>
              <a:srgbClr val="C9A227"/>
            </a:solidFill>
            <a:prstDash val="solid"/>
          </a:ln>
        </p:spPr>
      </p:sp>
      <p:sp>
        <p:nvSpPr>
          <p:cNvPr id="24" name="">
            <a:extLst xmlns:a="http://schemas.openxmlformats.org/drawingml/2006/main">
              <a:ext uri="{FF2B5EF4-FFF2-40B4-BE49-F238E27FC236}">
                <a16:creationId xmlns:a16="http://schemas.microsoft.com/office/drawing/2014/main" id="{AAB2FD2B-A2A8-4A18-9D82-13E8B3382621}"/>
              </a:ext>
            </a:extLst>
          </p:cNvPr>
          <p:cNvSpPr>
            <a:spLocks xmlns:a="http://schemas.openxmlformats.org/drawingml/2006/main" noGrp="1"/>
          </p:cNvSpPr>
          <p:nvPr/>
        </p:nvSpPr>
        <p:spPr>
          <a:xfrm xmlns:a="http://schemas.openxmlformats.org/drawingml/2006/main">
            <a:off x="4514850" y="4152900"/>
            <a:ext cx="2381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1A2634"/>
                </a:solidFill>
              </a:defRPr>
            </a:pPr>
            <a:r>
              <a:rPr sz="1125">
                <a:solidFill>
                  <a:srgbClr val="1A2634"/>
                </a:solidFill>
              </a:rPr>
              <a:t>The investigation lead opens an evidence register for every material case; trained custodians identify sources, create forensic copies…</a:t>
            </a:r>
          </a:p>
        </p:txBody>
      </p:sp>
      <p:sp>
        <p:nvSpPr>
          <p:cNvPr id="25" name="">
            <a:extLst xmlns:a="http://schemas.openxmlformats.org/drawingml/2006/main">
              <a:ext uri="{FF2B5EF4-FFF2-40B4-BE49-F238E27FC236}">
                <a16:creationId xmlns:a16="http://schemas.microsoft.com/office/drawing/2014/main" id="{2398FCD4-D692-41C2-8DF6-F62C90D9FA85}"/>
              </a:ext>
            </a:extLst>
          </p:cNvPr>
          <p:cNvSpPr>
            <a:spLocks xmlns:a="http://schemas.openxmlformats.org/drawingml/2006/main" noGrp="1"/>
          </p:cNvSpPr>
          <p:nvPr/>
        </p:nvSpPr>
        <p:spPr>
          <a:xfrm xmlns:a="http://schemas.openxmlformats.org/drawingml/2006/main">
            <a:off x="7315200" y="2095500"/>
            <a:ext cx="2857500" cy="314325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D9E1E7"/>
            </a:solidFill>
            <a:prstDash val="solid"/>
          </a:ln>
        </p:spPr>
      </p:sp>
      <p:sp>
        <p:nvSpPr>
          <p:cNvPr id="26" name="">
            <a:extLst xmlns:a="http://schemas.openxmlformats.org/drawingml/2006/main">
              <a:ext uri="{FF2B5EF4-FFF2-40B4-BE49-F238E27FC236}">
                <a16:creationId xmlns:a16="http://schemas.microsoft.com/office/drawing/2014/main" id="{CEFFF89B-AD13-4FCB-9A8C-47A3F2CE0EDE}"/>
              </a:ext>
            </a:extLst>
          </p:cNvPr>
          <p:cNvSpPr>
            <a:spLocks xmlns:a="http://schemas.openxmlformats.org/drawingml/2006/main" noGrp="1"/>
          </p:cNvSpPr>
          <p:nvPr/>
        </p:nvSpPr>
        <p:spPr>
          <a:xfrm xmlns:a="http://schemas.openxmlformats.org/drawingml/2006/main">
            <a:off x="7315200" y="2095500"/>
            <a:ext cx="2857500" cy="76200"/>
          </a:xfrm>
          <a:prstGeom xmlns:a="http://schemas.openxmlformats.org/drawingml/2006/main" prst="rect">
            <a:avLst/>
          </a:prstGeom>
          <a:solidFill xmlns:a="http://schemas.openxmlformats.org/drawingml/2006/main">
            <a:srgbClr val="1F6B4A"/>
          </a:solidFill>
          <a:ln xmlns:a="http://schemas.openxmlformats.org/drawingml/2006/main" w="0">
            <a:solidFill>
              <a:srgbClr val="142F4C"/>
            </a:solidFill>
            <a:prstDash val="solid"/>
          </a:ln>
        </p:spPr>
      </p:sp>
      <p:sp>
        <p:nvSpPr>
          <p:cNvPr id="27" name="">
            <a:extLst xmlns:a="http://schemas.openxmlformats.org/drawingml/2006/main">
              <a:ext uri="{FF2B5EF4-FFF2-40B4-BE49-F238E27FC236}">
                <a16:creationId xmlns:a16="http://schemas.microsoft.com/office/drawing/2014/main" id="{1F62F1EF-4084-40BD-B0A5-C76D15E1E66A}"/>
              </a:ext>
            </a:extLst>
          </p:cNvPr>
          <p:cNvSpPr>
            <a:spLocks xmlns:a="http://schemas.openxmlformats.org/drawingml/2006/main" noGrp="1"/>
          </p:cNvSpPr>
          <p:nvPr/>
        </p:nvSpPr>
        <p:spPr>
          <a:xfrm xmlns:a="http://schemas.openxmlformats.org/drawingml/2006/main">
            <a:off x="7524750" y="23622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42F4C"/>
                </a:solidFill>
              </a:defRPr>
            </a:pPr>
            <a:r>
              <a:rPr sz="1800" b="1">
                <a:solidFill>
                  <a:srgbClr val="142F4C"/>
                </a:solidFill>
              </a:rPr>
              <a:t>90 days</a:t>
            </a:r>
          </a:p>
        </p:txBody>
      </p:sp>
      <p:sp>
        <p:nvSpPr>
          <p:cNvPr id="28" name="">
            <a:extLst xmlns:a="http://schemas.openxmlformats.org/drawingml/2006/main">
              <a:ext uri="{FF2B5EF4-FFF2-40B4-BE49-F238E27FC236}">
                <a16:creationId xmlns:a16="http://schemas.microsoft.com/office/drawing/2014/main" id="{B089555E-41D6-4CD6-BCC9-8187EFA02101}"/>
              </a:ext>
            </a:extLst>
          </p:cNvPr>
          <p:cNvSpPr>
            <a:spLocks xmlns:a="http://schemas.openxmlformats.org/drawingml/2006/main" noGrp="1"/>
          </p:cNvSpPr>
          <p:nvPr/>
        </p:nvSpPr>
        <p:spPr>
          <a:xfrm xmlns:a="http://schemas.openxmlformats.org/drawingml/2006/main">
            <a:off x="7524750" y="2933700"/>
            <a:ext cx="95250" cy="95250"/>
          </a:xfrm>
          <a:prstGeom xmlns:a="http://schemas.openxmlformats.org/drawingml/2006/main" prst="ellipse">
            <a:avLst/>
          </a:prstGeom>
          <a:solidFill xmlns:a="http://schemas.openxmlformats.org/drawingml/2006/main">
            <a:srgbClr val="C9A227"/>
          </a:solidFill>
          <a:ln xmlns:a="http://schemas.openxmlformats.org/drawingml/2006/main" w="0">
            <a:solidFill>
              <a:srgbClr val="C9A227"/>
            </a:solidFill>
            <a:prstDash val="solid"/>
          </a:ln>
        </p:spPr>
      </p:sp>
      <p:sp>
        <p:nvSpPr>
          <p:cNvPr id="29" name="">
            <a:extLst xmlns:a="http://schemas.openxmlformats.org/drawingml/2006/main">
              <a:ext uri="{FF2B5EF4-FFF2-40B4-BE49-F238E27FC236}">
                <a16:creationId xmlns:a16="http://schemas.microsoft.com/office/drawing/2014/main" id="{0C728B78-1BA1-4586-A2AF-FBE270AFC1CD}"/>
              </a:ext>
            </a:extLst>
          </p:cNvPr>
          <p:cNvSpPr>
            <a:spLocks xmlns:a="http://schemas.openxmlformats.org/drawingml/2006/main" noGrp="1"/>
          </p:cNvSpPr>
          <p:nvPr/>
        </p:nvSpPr>
        <p:spPr>
          <a:xfrm xmlns:a="http://schemas.openxmlformats.org/drawingml/2006/main">
            <a:off x="7753350" y="2857500"/>
            <a:ext cx="2381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1A2634"/>
                </a:solidFill>
              </a:defRPr>
            </a:pPr>
            <a:r>
              <a:rPr sz="1125">
                <a:solidFill>
                  <a:srgbClr val="1A2634"/>
                </a:solidFill>
              </a:rPr>
              <a:t>No committed actions recorded for this period.</a:t>
            </a:r>
          </a:p>
        </p:txBody>
      </p:sp>
    </p:spTree>
    <p:extLst>
      <p:ext uri="{BB962C8B-B14F-4D97-AF65-F5344CB8AC3E}">
        <p14:creationId xmlns:p14="http://schemas.microsoft.com/office/powerpoint/2010/main" val="551909309"/>
      </p:ext>
    </p:extLst>
  </p:cSld>
</p:sld>
</file>

<file path=ppt/slides/slide9.xml><?xml version="1.0" encoding="utf-8"?>
<p:sld xmlns:p="http://schemas.openxmlformats.org/presentationml/2006/main">
  <p:cSld>
    <p:bg>
      <p:bgPr>
        <a:solidFill xmlns:a="http://schemas.openxmlformats.org/drawingml/2006/main">
          <a:srgbClr val="FBF9F5"/>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E62D8FDA-0B1A-4CE0-9869-27A046229F53}"/>
              </a:ext>
            </a:extLst>
          </p:cNvPr>
          <p:cNvSpPr>
            <a:spLocks xmlns:a="http://schemas.openxmlformats.org/drawingml/2006/main" noGrp="1"/>
          </p:cNvSpPr>
          <p:nvPr/>
        </p:nvSpPr>
        <p:spPr>
          <a:xfrm xmlns:a="http://schemas.openxmlformats.org/drawingml/2006/main">
            <a:off x="685800" y="4000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C9A227"/>
                </a:solidFill>
              </a:defRPr>
            </a:pPr>
            <a:r>
              <a:rPr sz="1050" b="1">
                <a:solidFill>
                  <a:srgbClr val="C9A227"/>
                </a:solidFill>
              </a:rPr>
              <a:t>COMPREHENSIVE REVIEW · 09</a:t>
            </a:r>
          </a:p>
        </p:txBody>
      </p:sp>
      <p:sp>
        <p:nvSpPr>
          <p:cNvPr id="2" name="">
            <a:extLst xmlns:a="http://schemas.openxmlformats.org/drawingml/2006/main">
              <a:ext uri="{FF2B5EF4-FFF2-40B4-BE49-F238E27FC236}">
                <a16:creationId xmlns:a16="http://schemas.microsoft.com/office/drawing/2014/main" id="{0BC1E598-0C61-4354-A9CA-8F74F66988B1}"/>
              </a:ext>
            </a:extLst>
          </p:cNvPr>
          <p:cNvSpPr>
            <a:spLocks xmlns:a="http://schemas.openxmlformats.org/drawingml/2006/main" noGrp="1"/>
          </p:cNvSpPr>
          <p:nvPr/>
        </p:nvSpPr>
        <p:spPr>
          <a:xfrm xmlns:a="http://schemas.openxmlformats.org/drawingml/2006/main">
            <a:off x="685800" y="723900"/>
            <a:ext cx="1028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925" b="1">
                <a:solidFill>
                  <a:srgbClr val="142F4C"/>
                </a:solidFill>
              </a:defRPr>
            </a:pPr>
            <a:r>
              <a:rPr sz="2925" b="1">
                <a:solidFill>
                  <a:srgbClr val="142F4C"/>
                </a:solidFill>
              </a:rPr>
              <a:t>Every action needs an owner, an effectiveness measure and a board checkpoint.</a:t>
            </a:r>
          </a:p>
        </p:txBody>
      </p:sp>
      <p:sp>
        <p:nvSpPr>
          <p:cNvPr id="3" name="">
            <a:extLst xmlns:a="http://schemas.openxmlformats.org/drawingml/2006/main">
              <a:ext uri="{FF2B5EF4-FFF2-40B4-BE49-F238E27FC236}">
                <a16:creationId xmlns:a16="http://schemas.microsoft.com/office/drawing/2014/main" id="{A55D80B6-885A-41C0-8322-D4B3EC870D5B}"/>
              </a:ext>
            </a:extLst>
          </p:cNvPr>
          <p:cNvSpPr>
            <a:spLocks xmlns:a="http://schemas.openxmlformats.org/drawingml/2006/main" noGrp="1"/>
          </p:cNvSpPr>
          <p:nvPr/>
        </p:nvSpPr>
        <p:spPr>
          <a:xfrm xmlns:a="http://schemas.openxmlformats.org/drawingml/2006/main">
            <a:off x="685800" y="1562100"/>
            <a:ext cx="1000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5A6B7C"/>
                </a:solidFill>
              </a:defRPr>
            </a:pPr>
            <a:r>
              <a:rPr sz="1350">
                <a:solidFill>
                  <a:srgbClr val="5A6B7C"/>
                </a:solidFill>
              </a:rPr>
              <a:t>Accountability is the mechanism that turns advisory judgement into operating change.</a:t>
            </a:r>
          </a:p>
        </p:txBody>
      </p:sp>
      <p:sp>
        <p:nvSpPr>
          <p:cNvPr id="4" name="">
            <a:extLst xmlns:a="http://schemas.openxmlformats.org/drawingml/2006/main">
              <a:ext uri="{FF2B5EF4-FFF2-40B4-BE49-F238E27FC236}">
                <a16:creationId xmlns:a16="http://schemas.microsoft.com/office/drawing/2014/main" id="{17904AEE-999C-48D0-BA20-66F4FA1A78E9}"/>
              </a:ext>
            </a:extLst>
          </p:cNvPr>
          <p:cNvSpPr>
            <a:spLocks xmlns:a="http://schemas.openxmlformats.org/drawingml/2006/main" noGrp="1"/>
          </p:cNvSpPr>
          <p:nvPr/>
        </p:nvSpPr>
        <p:spPr>
          <a:xfrm xmlns:a="http://schemas.openxmlformats.org/drawingml/2006/main">
            <a:off x="685800" y="6324600"/>
            <a:ext cx="10820400" cy="0"/>
          </a:xfrm>
          <a:prstGeom xmlns:a="http://schemas.openxmlformats.org/drawingml/2006/main" prst="line">
            <a:avLst/>
          </a:prstGeom>
          <a:noFill xmlns:a="http://schemas.openxmlformats.org/drawingml/2006/main"/>
          <a:ln xmlns:a="http://schemas.openxmlformats.org/drawingml/2006/main" w="9525">
            <a:solidFill>
              <a:srgbClr val="D9E1E7"/>
            </a:solidFill>
            <a:prstDash val="solid"/>
          </a:ln>
        </p:spPr>
      </p:sp>
      <p:sp>
        <p:nvSpPr>
          <p:cNvPr id="5" name="">
            <a:extLst xmlns:a="http://schemas.openxmlformats.org/drawingml/2006/main">
              <a:ext uri="{FF2B5EF4-FFF2-40B4-BE49-F238E27FC236}">
                <a16:creationId xmlns:a16="http://schemas.microsoft.com/office/drawing/2014/main" id="{81920C4C-413F-4666-83F5-EDEDADFCD44F}"/>
              </a:ext>
            </a:extLst>
          </p:cNvPr>
          <p:cNvSpPr>
            <a:spLocks xmlns:a="http://schemas.openxmlformats.org/drawingml/2006/main" noGrp="1"/>
          </p:cNvSpPr>
          <p:nvPr/>
        </p:nvSpPr>
        <p:spPr>
          <a:xfrm xmlns:a="http://schemas.openxmlformats.org/drawingml/2006/main">
            <a:off x="685800" y="64389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5A6B7C"/>
                </a:solidFill>
              </a:defRPr>
            </a:pPr>
            <a:r>
              <a:rPr sz="975">
                <a:solidFill>
                  <a:srgbClr val="5A6B7C"/>
                </a:solidFill>
              </a:rPr>
              <a:t>MK Fraud Readiness · Comprehensive</a:t>
            </a:r>
          </a:p>
        </p:txBody>
      </p:sp>
      <p:sp>
        <p:nvSpPr>
          <p:cNvPr id="6" name="">
            <a:extLst xmlns:a="http://schemas.openxmlformats.org/drawingml/2006/main">
              <a:ext uri="{FF2B5EF4-FFF2-40B4-BE49-F238E27FC236}">
                <a16:creationId xmlns:a16="http://schemas.microsoft.com/office/drawing/2014/main" id="{25E39E66-59E4-437D-995A-8EB8040BDDAD}"/>
              </a:ext>
            </a:extLst>
          </p:cNvPr>
          <p:cNvSpPr>
            <a:spLocks xmlns:a="http://schemas.openxmlformats.org/drawingml/2006/main" noGrp="1"/>
          </p:cNvSpPr>
          <p:nvPr/>
        </p:nvSpPr>
        <p:spPr>
          <a:xfrm xmlns:a="http://schemas.openxmlformats.org/drawingml/2006/main">
            <a:off x="10810875" y="643890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a:solidFill>
                  <a:srgbClr val="5A6B7C"/>
                </a:solidFill>
              </a:defRPr>
            </a:pPr>
            <a:r>
              <a:rPr sz="975">
                <a:solidFill>
                  <a:srgbClr val="5A6B7C"/>
                </a:solidFill>
              </a:rPr>
              <a:t>09 / 10</a:t>
            </a:r>
          </a:p>
        </p:txBody>
      </p:sp>
      <p:sp>
        <p:nvSpPr>
          <p:cNvPr id="7" name="">
            <a:extLst xmlns:a="http://schemas.openxmlformats.org/drawingml/2006/main">
              <a:ext uri="{FF2B5EF4-FFF2-40B4-BE49-F238E27FC236}">
                <a16:creationId xmlns:a16="http://schemas.microsoft.com/office/drawing/2014/main" id="{B677A021-E574-4C69-AF9B-FB6D2EA8E4A4}"/>
              </a:ext>
            </a:extLst>
          </p:cNvPr>
          <p:cNvSpPr>
            <a:spLocks xmlns:a="http://schemas.openxmlformats.org/drawingml/2006/main" noGrp="1"/>
          </p:cNvSpPr>
          <p:nvPr/>
        </p:nvSpPr>
        <p:spPr>
          <a:xfrm xmlns:a="http://schemas.openxmlformats.org/drawingml/2006/main">
            <a:off x="838200" y="2495550"/>
            <a:ext cx="9525000" cy="0"/>
          </a:xfrm>
          <a:prstGeom xmlns:a="http://schemas.openxmlformats.org/drawingml/2006/main" prst="line">
            <a:avLst/>
          </a:prstGeom>
          <a:noFill xmlns:a="http://schemas.openxmlformats.org/drawingml/2006/main"/>
          <a:ln xmlns:a="http://schemas.openxmlformats.org/drawingml/2006/main" w="9525">
            <a:solidFill>
              <a:srgbClr val="D9E1E7"/>
            </a:solidFill>
            <a:prstDash val="solid"/>
          </a:ln>
        </p:spPr>
      </p:sp>
      <p:sp>
        <p:nvSpPr>
          <p:cNvPr id="8" name="">
            <a:extLst xmlns:a="http://schemas.openxmlformats.org/drawingml/2006/main">
              <a:ext uri="{FF2B5EF4-FFF2-40B4-BE49-F238E27FC236}">
                <a16:creationId xmlns:a16="http://schemas.microsoft.com/office/drawing/2014/main" id="{3B621E58-47F3-47D7-89D5-A9D6986428F1}"/>
              </a:ext>
            </a:extLst>
          </p:cNvPr>
          <p:cNvSpPr>
            <a:spLocks xmlns:a="http://schemas.openxmlformats.org/drawingml/2006/main" noGrp="1"/>
          </p:cNvSpPr>
          <p:nvPr/>
        </p:nvSpPr>
        <p:spPr>
          <a:xfrm xmlns:a="http://schemas.openxmlformats.org/drawingml/2006/main">
            <a:off x="838200" y="1981200"/>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142F4C"/>
                </a:solidFill>
              </a:defRPr>
            </a:pPr>
            <a:r>
              <a:rPr sz="1125" b="1">
                <a:solidFill>
                  <a:srgbClr val="142F4C"/>
                </a:solidFill>
              </a:rPr>
              <a:t>The CEO and audit-committee chair must approve a RACI that assigns control operation to management and risk owners,…</a:t>
            </a:r>
          </a:p>
        </p:txBody>
      </p:sp>
      <p:sp>
        <p:nvSpPr>
          <p:cNvPr id="9" name="">
            <a:extLst xmlns:a="http://schemas.openxmlformats.org/drawingml/2006/main">
              <a:ext uri="{FF2B5EF4-FFF2-40B4-BE49-F238E27FC236}">
                <a16:creationId xmlns:a16="http://schemas.microsoft.com/office/drawing/2014/main" id="{11221F50-EF2E-443D-84C7-2B5BBAC51171}"/>
              </a:ext>
            </a:extLst>
          </p:cNvPr>
          <p:cNvSpPr>
            <a:spLocks xmlns:a="http://schemas.openxmlformats.org/drawingml/2006/main" noGrp="1"/>
          </p:cNvSpPr>
          <p:nvPr/>
        </p:nvSpPr>
        <p:spPr>
          <a:xfrm xmlns:a="http://schemas.openxmlformats.org/drawingml/2006/main">
            <a:off x="4286250" y="198120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1A2634"/>
                </a:solidFill>
              </a:defRPr>
            </a:pPr>
            <a:r>
              <a:rPr sz="1200">
                <a:solidFill>
                  <a:srgbClr val="1A2634"/>
                </a:solidFill>
              </a:rPr>
              <a:t>CEO / Managing Director</a:t>
            </a:r>
          </a:p>
        </p:txBody>
      </p:sp>
      <p:sp>
        <p:nvSpPr>
          <p:cNvPr id="10" name="">
            <a:extLst xmlns:a="http://schemas.openxmlformats.org/drawingml/2006/main">
              <a:ext uri="{FF2B5EF4-FFF2-40B4-BE49-F238E27FC236}">
                <a16:creationId xmlns:a16="http://schemas.microsoft.com/office/drawing/2014/main" id="{FE4866E0-9EA2-4CCE-88DD-3E5F3381AEB9}"/>
              </a:ext>
            </a:extLst>
          </p:cNvPr>
          <p:cNvSpPr>
            <a:spLocks xmlns:a="http://schemas.openxmlformats.org/drawingml/2006/main" noGrp="1"/>
          </p:cNvSpPr>
          <p:nvPr/>
        </p:nvSpPr>
        <p:spPr>
          <a:xfrm xmlns:a="http://schemas.openxmlformats.org/drawingml/2006/main">
            <a:off x="6334125" y="1981200"/>
            <a:ext cx="95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C9A227"/>
                </a:solidFill>
              </a:defRPr>
            </a:pPr>
            <a:r>
              <a:rPr sz="1200" b="1">
                <a:solidFill>
                  <a:srgbClr val="C9A227"/>
                </a:solidFill>
              </a:rPr>
              <a:t>30 days</a:t>
            </a:r>
          </a:p>
        </p:txBody>
      </p:sp>
      <p:sp>
        <p:nvSpPr>
          <p:cNvPr id="11" name="">
            <a:extLst xmlns:a="http://schemas.openxmlformats.org/drawingml/2006/main">
              <a:ext uri="{FF2B5EF4-FFF2-40B4-BE49-F238E27FC236}">
                <a16:creationId xmlns:a16="http://schemas.microsoft.com/office/drawing/2014/main" id="{7BD3CD45-D910-4075-BD4C-39D66578FE55}"/>
              </a:ext>
            </a:extLst>
          </p:cNvPr>
          <p:cNvSpPr>
            <a:spLocks xmlns:a="http://schemas.openxmlformats.org/drawingml/2006/main" noGrp="1"/>
          </p:cNvSpPr>
          <p:nvPr/>
        </p:nvSpPr>
        <p:spPr>
          <a:xfrm xmlns:a="http://schemas.openxmlformats.org/drawingml/2006/main">
            <a:off x="7524750" y="19812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5A6B7C"/>
                </a:solidFill>
              </a:defRPr>
            </a:pPr>
            <a:r>
              <a:rPr sz="1125">
                <a:solidFill>
                  <a:srgbClr val="5A6B7C"/>
                </a:solidFill>
              </a:rPr>
              <a:t>No key fraud control is both operated and independently certified by the same accountable function.</a:t>
            </a:r>
          </a:p>
        </p:txBody>
      </p:sp>
      <p:sp>
        <p:nvSpPr>
          <p:cNvPr id="12" name="">
            <a:extLst xmlns:a="http://schemas.openxmlformats.org/drawingml/2006/main">
              <a:ext uri="{FF2B5EF4-FFF2-40B4-BE49-F238E27FC236}">
                <a16:creationId xmlns:a16="http://schemas.microsoft.com/office/drawing/2014/main" id="{B587DB79-C7C4-4130-AE77-0E89023B4699}"/>
              </a:ext>
            </a:extLst>
          </p:cNvPr>
          <p:cNvSpPr>
            <a:spLocks xmlns:a="http://schemas.openxmlformats.org/drawingml/2006/main" noGrp="1"/>
          </p:cNvSpPr>
          <p:nvPr/>
        </p:nvSpPr>
        <p:spPr>
          <a:xfrm xmlns:a="http://schemas.openxmlformats.org/drawingml/2006/main">
            <a:off x="838200" y="3181350"/>
            <a:ext cx="9525000" cy="0"/>
          </a:xfrm>
          <a:prstGeom xmlns:a="http://schemas.openxmlformats.org/drawingml/2006/main" prst="line">
            <a:avLst/>
          </a:prstGeom>
          <a:noFill xmlns:a="http://schemas.openxmlformats.org/drawingml/2006/main"/>
          <a:ln xmlns:a="http://schemas.openxmlformats.org/drawingml/2006/main" w="9525">
            <a:solidFill>
              <a:srgbClr val="D9E1E7"/>
            </a:solidFill>
            <a:prstDash val="solid"/>
          </a:ln>
        </p:spPr>
      </p:sp>
      <p:sp>
        <p:nvSpPr>
          <p:cNvPr id="13" name="">
            <a:extLst xmlns:a="http://schemas.openxmlformats.org/drawingml/2006/main">
              <a:ext uri="{FF2B5EF4-FFF2-40B4-BE49-F238E27FC236}">
                <a16:creationId xmlns:a16="http://schemas.microsoft.com/office/drawing/2014/main" id="{2FD35E16-97E4-476E-B76E-777F1EA96ACC}"/>
              </a:ext>
            </a:extLst>
          </p:cNvPr>
          <p:cNvSpPr>
            <a:spLocks xmlns:a="http://schemas.openxmlformats.org/drawingml/2006/main" noGrp="1"/>
          </p:cNvSpPr>
          <p:nvPr/>
        </p:nvSpPr>
        <p:spPr>
          <a:xfrm xmlns:a="http://schemas.openxmlformats.org/drawingml/2006/main">
            <a:off x="838200" y="2667000"/>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142F4C"/>
                </a:solidFill>
              </a:defRPr>
            </a:pPr>
            <a:r>
              <a:rPr sz="1125" b="1">
                <a:solidFill>
                  <a:srgbClr val="142F4C"/>
                </a:solidFill>
              </a:rPr>
              <a:t>The Head of Risk must publish escalation criteria defining what must be escalated, to whom and within what…</a:t>
            </a:r>
          </a:p>
        </p:txBody>
      </p:sp>
      <p:sp>
        <p:nvSpPr>
          <p:cNvPr id="14" name="">
            <a:extLst xmlns:a="http://schemas.openxmlformats.org/drawingml/2006/main">
              <a:ext uri="{FF2B5EF4-FFF2-40B4-BE49-F238E27FC236}">
                <a16:creationId xmlns:a16="http://schemas.microsoft.com/office/drawing/2014/main" id="{F60CA730-6860-443B-8801-F9A8CFD8F43E}"/>
              </a:ext>
            </a:extLst>
          </p:cNvPr>
          <p:cNvSpPr>
            <a:spLocks xmlns:a="http://schemas.openxmlformats.org/drawingml/2006/main" noGrp="1"/>
          </p:cNvSpPr>
          <p:nvPr/>
        </p:nvSpPr>
        <p:spPr>
          <a:xfrm xmlns:a="http://schemas.openxmlformats.org/drawingml/2006/main">
            <a:off x="4286250" y="266700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1A2634"/>
                </a:solidFill>
              </a:defRPr>
            </a:pPr>
            <a:r>
              <a:rPr sz="1200">
                <a:solidFill>
                  <a:srgbClr val="1A2634"/>
                </a:solidFill>
              </a:rPr>
              <a:t>Head of Risk</a:t>
            </a:r>
          </a:p>
        </p:txBody>
      </p:sp>
      <p:sp>
        <p:nvSpPr>
          <p:cNvPr id="15" name="">
            <a:extLst xmlns:a="http://schemas.openxmlformats.org/drawingml/2006/main">
              <a:ext uri="{FF2B5EF4-FFF2-40B4-BE49-F238E27FC236}">
                <a16:creationId xmlns:a16="http://schemas.microsoft.com/office/drawing/2014/main" id="{A21D1653-9FA2-43D0-946C-7193BBB298E2}"/>
              </a:ext>
            </a:extLst>
          </p:cNvPr>
          <p:cNvSpPr>
            <a:spLocks xmlns:a="http://schemas.openxmlformats.org/drawingml/2006/main" noGrp="1"/>
          </p:cNvSpPr>
          <p:nvPr/>
        </p:nvSpPr>
        <p:spPr>
          <a:xfrm xmlns:a="http://schemas.openxmlformats.org/drawingml/2006/main">
            <a:off x="6334125" y="2667000"/>
            <a:ext cx="95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C9A227"/>
                </a:solidFill>
              </a:defRPr>
            </a:pPr>
            <a:r>
              <a:rPr sz="1200" b="1">
                <a:solidFill>
                  <a:srgbClr val="C9A227"/>
                </a:solidFill>
              </a:rPr>
              <a:t>30 days</a:t>
            </a:r>
          </a:p>
        </p:txBody>
      </p:sp>
      <p:sp>
        <p:nvSpPr>
          <p:cNvPr id="16" name="">
            <a:extLst xmlns:a="http://schemas.openxmlformats.org/drawingml/2006/main">
              <a:ext uri="{FF2B5EF4-FFF2-40B4-BE49-F238E27FC236}">
                <a16:creationId xmlns:a16="http://schemas.microsoft.com/office/drawing/2014/main" id="{F682F86B-9DE0-4874-A667-772492F0C316}"/>
              </a:ext>
            </a:extLst>
          </p:cNvPr>
          <p:cNvSpPr>
            <a:spLocks xmlns:a="http://schemas.openxmlformats.org/drawingml/2006/main" noGrp="1"/>
          </p:cNvSpPr>
          <p:nvPr/>
        </p:nvSpPr>
        <p:spPr>
          <a:xfrm xmlns:a="http://schemas.openxmlformats.org/drawingml/2006/main">
            <a:off x="7524750" y="26670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5A6B7C"/>
                </a:solidFill>
              </a:defRPr>
            </a:pPr>
            <a:r>
              <a:rPr sz="1125">
                <a:solidFill>
                  <a:srgbClr val="5A6B7C"/>
                </a:solidFill>
              </a:rPr>
              <a:t>100% of qualifying matters escalated within the stated timeframe, with an available conflict-free route.</a:t>
            </a:r>
          </a:p>
        </p:txBody>
      </p:sp>
      <p:sp>
        <p:nvSpPr>
          <p:cNvPr id="17" name="">
            <a:extLst xmlns:a="http://schemas.openxmlformats.org/drawingml/2006/main">
              <a:ext uri="{FF2B5EF4-FFF2-40B4-BE49-F238E27FC236}">
                <a16:creationId xmlns:a16="http://schemas.microsoft.com/office/drawing/2014/main" id="{9FA5F53E-8DB8-4B32-9923-F0CA3267914F}"/>
              </a:ext>
            </a:extLst>
          </p:cNvPr>
          <p:cNvSpPr>
            <a:spLocks xmlns:a="http://schemas.openxmlformats.org/drawingml/2006/main" noGrp="1"/>
          </p:cNvSpPr>
          <p:nvPr/>
        </p:nvSpPr>
        <p:spPr>
          <a:xfrm xmlns:a="http://schemas.openxmlformats.org/drawingml/2006/main">
            <a:off x="838200" y="3867150"/>
            <a:ext cx="9525000" cy="0"/>
          </a:xfrm>
          <a:prstGeom xmlns:a="http://schemas.openxmlformats.org/drawingml/2006/main" prst="line">
            <a:avLst/>
          </a:prstGeom>
          <a:noFill xmlns:a="http://schemas.openxmlformats.org/drawingml/2006/main"/>
          <a:ln xmlns:a="http://schemas.openxmlformats.org/drawingml/2006/main" w="9525">
            <a:solidFill>
              <a:srgbClr val="D9E1E7"/>
            </a:solidFill>
            <a:prstDash val="solid"/>
          </a:ln>
        </p:spPr>
      </p:sp>
      <p:sp>
        <p:nvSpPr>
          <p:cNvPr id="18" name="">
            <a:extLst xmlns:a="http://schemas.openxmlformats.org/drawingml/2006/main">
              <a:ext uri="{FF2B5EF4-FFF2-40B4-BE49-F238E27FC236}">
                <a16:creationId xmlns:a16="http://schemas.microsoft.com/office/drawing/2014/main" id="{CAEDF892-4D44-45CE-AF95-0C21C8F9E534}"/>
              </a:ext>
            </a:extLst>
          </p:cNvPr>
          <p:cNvSpPr>
            <a:spLocks xmlns:a="http://schemas.openxmlformats.org/drawingml/2006/main" noGrp="1"/>
          </p:cNvSpPr>
          <p:nvPr/>
        </p:nvSpPr>
        <p:spPr>
          <a:xfrm xmlns:a="http://schemas.openxmlformats.org/drawingml/2006/main">
            <a:off x="838200" y="3352800"/>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142F4C"/>
                </a:solidFill>
              </a:defRPr>
            </a:pPr>
            <a:r>
              <a:rPr sz="1125" b="1">
                <a:solidFill>
                  <a:srgbClr val="142F4C"/>
                </a:solidFill>
              </a:rPr>
              <a:t>The ethics owner must publish reporting routes in plain language across the channels the workforce actually uses —…</a:t>
            </a:r>
          </a:p>
        </p:txBody>
      </p:sp>
      <p:sp>
        <p:nvSpPr>
          <p:cNvPr id="19" name="">
            <a:extLst xmlns:a="http://schemas.openxmlformats.org/drawingml/2006/main">
              <a:ext uri="{FF2B5EF4-FFF2-40B4-BE49-F238E27FC236}">
                <a16:creationId xmlns:a16="http://schemas.microsoft.com/office/drawing/2014/main" id="{CF220A8A-59BB-490C-B8BF-432E49B636F7}"/>
              </a:ext>
            </a:extLst>
          </p:cNvPr>
          <p:cNvSpPr>
            <a:spLocks xmlns:a="http://schemas.openxmlformats.org/drawingml/2006/main" noGrp="1"/>
          </p:cNvSpPr>
          <p:nvPr/>
        </p:nvSpPr>
        <p:spPr>
          <a:xfrm xmlns:a="http://schemas.openxmlformats.org/drawingml/2006/main">
            <a:off x="4286250" y="335280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1A2634"/>
                </a:solidFill>
              </a:defRPr>
            </a:pPr>
            <a:r>
              <a:rPr sz="1200">
                <a:solidFill>
                  <a:srgbClr val="1A2634"/>
                </a:solidFill>
              </a:rPr>
              <a:t>Chief People Officer / COO</a:t>
            </a:r>
          </a:p>
        </p:txBody>
      </p:sp>
      <p:sp>
        <p:nvSpPr>
          <p:cNvPr id="20" name="">
            <a:extLst xmlns:a="http://schemas.openxmlformats.org/drawingml/2006/main">
              <a:ext uri="{FF2B5EF4-FFF2-40B4-BE49-F238E27FC236}">
                <a16:creationId xmlns:a16="http://schemas.microsoft.com/office/drawing/2014/main" id="{5D36247E-2DA7-4C34-8669-D4F23F2E21F1}"/>
              </a:ext>
            </a:extLst>
          </p:cNvPr>
          <p:cNvSpPr>
            <a:spLocks xmlns:a="http://schemas.openxmlformats.org/drawingml/2006/main" noGrp="1"/>
          </p:cNvSpPr>
          <p:nvPr/>
        </p:nvSpPr>
        <p:spPr>
          <a:xfrm xmlns:a="http://schemas.openxmlformats.org/drawingml/2006/main">
            <a:off x="6334125" y="3352800"/>
            <a:ext cx="95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C9A227"/>
                </a:solidFill>
              </a:defRPr>
            </a:pPr>
            <a:r>
              <a:rPr sz="1200" b="1">
                <a:solidFill>
                  <a:srgbClr val="C9A227"/>
                </a:solidFill>
              </a:rPr>
              <a:t>30 days</a:t>
            </a:r>
          </a:p>
        </p:txBody>
      </p:sp>
      <p:sp>
        <p:nvSpPr>
          <p:cNvPr id="21" name="">
            <a:extLst xmlns:a="http://schemas.openxmlformats.org/drawingml/2006/main">
              <a:ext uri="{FF2B5EF4-FFF2-40B4-BE49-F238E27FC236}">
                <a16:creationId xmlns:a16="http://schemas.microsoft.com/office/drawing/2014/main" id="{93774A2A-E785-4B80-82BC-0F2956868D43}"/>
              </a:ext>
            </a:extLst>
          </p:cNvPr>
          <p:cNvSpPr>
            <a:spLocks xmlns:a="http://schemas.openxmlformats.org/drawingml/2006/main" noGrp="1"/>
          </p:cNvSpPr>
          <p:nvPr/>
        </p:nvSpPr>
        <p:spPr>
          <a:xfrm xmlns:a="http://schemas.openxmlformats.org/drawingml/2006/main">
            <a:off x="7524750" y="33528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5A6B7C"/>
                </a:solidFill>
              </a:defRPr>
            </a:pPr>
            <a:r>
              <a:rPr sz="1125">
                <a:solidFill>
                  <a:srgbClr val="5A6B7C"/>
                </a:solidFill>
              </a:rPr>
              <a:t>At least 90% of surveyed staff can correctly identify a fraud reporting route, across all sites and worker types.</a:t>
            </a:r>
          </a:p>
        </p:txBody>
      </p:sp>
      <p:sp>
        <p:nvSpPr>
          <p:cNvPr id="22" name="">
            <a:extLst xmlns:a="http://schemas.openxmlformats.org/drawingml/2006/main">
              <a:ext uri="{FF2B5EF4-FFF2-40B4-BE49-F238E27FC236}">
                <a16:creationId xmlns:a16="http://schemas.microsoft.com/office/drawing/2014/main" id="{0DE7CDEC-1937-4DC1-983B-B7FE078A40A0}"/>
              </a:ext>
            </a:extLst>
          </p:cNvPr>
          <p:cNvSpPr>
            <a:spLocks xmlns:a="http://schemas.openxmlformats.org/drawingml/2006/main" noGrp="1"/>
          </p:cNvSpPr>
          <p:nvPr/>
        </p:nvSpPr>
        <p:spPr>
          <a:xfrm xmlns:a="http://schemas.openxmlformats.org/drawingml/2006/main">
            <a:off x="838200" y="4552950"/>
            <a:ext cx="9525000" cy="0"/>
          </a:xfrm>
          <a:prstGeom xmlns:a="http://schemas.openxmlformats.org/drawingml/2006/main" prst="line">
            <a:avLst/>
          </a:prstGeom>
          <a:noFill xmlns:a="http://schemas.openxmlformats.org/drawingml/2006/main"/>
          <a:ln xmlns:a="http://schemas.openxmlformats.org/drawingml/2006/main" w="9525">
            <a:solidFill>
              <a:srgbClr val="D9E1E7"/>
            </a:solidFill>
            <a:prstDash val="solid"/>
          </a:ln>
        </p:spPr>
      </p:sp>
      <p:sp>
        <p:nvSpPr>
          <p:cNvPr id="23" name="">
            <a:extLst xmlns:a="http://schemas.openxmlformats.org/drawingml/2006/main">
              <a:ext uri="{FF2B5EF4-FFF2-40B4-BE49-F238E27FC236}">
                <a16:creationId xmlns:a16="http://schemas.microsoft.com/office/drawing/2014/main" id="{8CCFA851-4B4F-4ADC-9953-16EA6D428078}"/>
              </a:ext>
            </a:extLst>
          </p:cNvPr>
          <p:cNvSpPr>
            <a:spLocks xmlns:a="http://schemas.openxmlformats.org/drawingml/2006/main" noGrp="1"/>
          </p:cNvSpPr>
          <p:nvPr/>
        </p:nvSpPr>
        <p:spPr>
          <a:xfrm xmlns:a="http://schemas.openxmlformats.org/drawingml/2006/main">
            <a:off x="838200" y="4038600"/>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142F4C"/>
                </a:solidFill>
              </a:defRPr>
            </a:pPr>
            <a:r>
              <a:rPr sz="1125" b="1">
                <a:solidFill>
                  <a:srgbClr val="142F4C"/>
                </a:solidFill>
              </a:rPr>
              <a:t>IT Security maintains a complete privileged-account register, links each human and service account to an owner and approved…</a:t>
            </a:r>
          </a:p>
        </p:txBody>
      </p:sp>
      <p:sp>
        <p:nvSpPr>
          <p:cNvPr id="24" name="">
            <a:extLst xmlns:a="http://schemas.openxmlformats.org/drawingml/2006/main">
              <a:ext uri="{FF2B5EF4-FFF2-40B4-BE49-F238E27FC236}">
                <a16:creationId xmlns:a16="http://schemas.microsoft.com/office/drawing/2014/main" id="{89A23C2C-7296-4AA5-9C7B-897EAF869D61}"/>
              </a:ext>
            </a:extLst>
          </p:cNvPr>
          <p:cNvSpPr>
            <a:spLocks xmlns:a="http://schemas.openxmlformats.org/drawingml/2006/main" noGrp="1"/>
          </p:cNvSpPr>
          <p:nvPr/>
        </p:nvSpPr>
        <p:spPr>
          <a:xfrm xmlns:a="http://schemas.openxmlformats.org/drawingml/2006/main">
            <a:off x="4286250" y="403860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1A2634"/>
                </a:solidFill>
              </a:defRPr>
            </a:pPr>
            <a:r>
              <a:rPr sz="1200">
                <a:solidFill>
                  <a:srgbClr val="1A2634"/>
                </a:solidFill>
              </a:rPr>
              <a:t>Chief Technology Officer</a:t>
            </a:r>
          </a:p>
        </p:txBody>
      </p:sp>
      <p:sp>
        <p:nvSpPr>
          <p:cNvPr id="25" name="">
            <a:extLst xmlns:a="http://schemas.openxmlformats.org/drawingml/2006/main">
              <a:ext uri="{FF2B5EF4-FFF2-40B4-BE49-F238E27FC236}">
                <a16:creationId xmlns:a16="http://schemas.microsoft.com/office/drawing/2014/main" id="{0D298707-2178-4A47-9938-9D59B106A50A}"/>
              </a:ext>
            </a:extLst>
          </p:cNvPr>
          <p:cNvSpPr>
            <a:spLocks xmlns:a="http://schemas.openxmlformats.org/drawingml/2006/main" noGrp="1"/>
          </p:cNvSpPr>
          <p:nvPr/>
        </p:nvSpPr>
        <p:spPr>
          <a:xfrm xmlns:a="http://schemas.openxmlformats.org/drawingml/2006/main">
            <a:off x="6334125" y="4038600"/>
            <a:ext cx="95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C9A227"/>
                </a:solidFill>
              </a:defRPr>
            </a:pPr>
            <a:r>
              <a:rPr sz="1200" b="1">
                <a:solidFill>
                  <a:srgbClr val="C9A227"/>
                </a:solidFill>
              </a:rPr>
              <a:t>60 days</a:t>
            </a:r>
          </a:p>
        </p:txBody>
      </p:sp>
      <p:sp>
        <p:nvSpPr>
          <p:cNvPr id="26" name="">
            <a:extLst xmlns:a="http://schemas.openxmlformats.org/drawingml/2006/main">
              <a:ext uri="{FF2B5EF4-FFF2-40B4-BE49-F238E27FC236}">
                <a16:creationId xmlns:a16="http://schemas.microsoft.com/office/drawing/2014/main" id="{3CF48F6D-360C-4B88-8B5E-3639E3173AD1}"/>
              </a:ext>
            </a:extLst>
          </p:cNvPr>
          <p:cNvSpPr>
            <a:spLocks xmlns:a="http://schemas.openxmlformats.org/drawingml/2006/main" noGrp="1"/>
          </p:cNvSpPr>
          <p:nvPr/>
        </p:nvSpPr>
        <p:spPr>
          <a:xfrm xmlns:a="http://schemas.openxmlformats.org/drawingml/2006/main">
            <a:off x="7524750" y="40386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5A6B7C"/>
                </a:solidFill>
              </a:defRPr>
            </a:pPr>
            <a:r>
              <a:rPr sz="1125">
                <a:solidFill>
                  <a:srgbClr val="5A6B7C"/>
                </a:solidFill>
              </a:rPr>
              <a:t>100% privileged accounts recertified quarterly; leaver access removed within 24 hours; zero unjustified shared admin accounts.</a:t>
            </a:r>
          </a:p>
        </p:txBody>
      </p:sp>
      <p:sp>
        <p:nvSpPr>
          <p:cNvPr id="27" name="">
            <a:extLst xmlns:a="http://schemas.openxmlformats.org/drawingml/2006/main">
              <a:ext uri="{FF2B5EF4-FFF2-40B4-BE49-F238E27FC236}">
                <a16:creationId xmlns:a16="http://schemas.microsoft.com/office/drawing/2014/main" id="{3313EF43-161D-4683-BC71-DB25B4E487C5}"/>
              </a:ext>
            </a:extLst>
          </p:cNvPr>
          <p:cNvSpPr>
            <a:spLocks xmlns:a="http://schemas.openxmlformats.org/drawingml/2006/main" noGrp="1"/>
          </p:cNvSpPr>
          <p:nvPr/>
        </p:nvSpPr>
        <p:spPr>
          <a:xfrm xmlns:a="http://schemas.openxmlformats.org/drawingml/2006/main">
            <a:off x="838200" y="5238750"/>
            <a:ext cx="9525000" cy="0"/>
          </a:xfrm>
          <a:prstGeom xmlns:a="http://schemas.openxmlformats.org/drawingml/2006/main" prst="line">
            <a:avLst/>
          </a:prstGeom>
          <a:noFill xmlns:a="http://schemas.openxmlformats.org/drawingml/2006/main"/>
          <a:ln xmlns:a="http://schemas.openxmlformats.org/drawingml/2006/main" w="9525">
            <a:solidFill>
              <a:srgbClr val="D9E1E7"/>
            </a:solidFill>
            <a:prstDash val="solid"/>
          </a:ln>
        </p:spPr>
      </p:sp>
      <p:sp>
        <p:nvSpPr>
          <p:cNvPr id="28" name="">
            <a:extLst xmlns:a="http://schemas.openxmlformats.org/drawingml/2006/main">
              <a:ext uri="{FF2B5EF4-FFF2-40B4-BE49-F238E27FC236}">
                <a16:creationId xmlns:a16="http://schemas.microsoft.com/office/drawing/2014/main" id="{39C61D55-1192-49A5-B422-4B61EB8C66C7}"/>
              </a:ext>
            </a:extLst>
          </p:cNvPr>
          <p:cNvSpPr>
            <a:spLocks xmlns:a="http://schemas.openxmlformats.org/drawingml/2006/main" noGrp="1"/>
          </p:cNvSpPr>
          <p:nvPr/>
        </p:nvSpPr>
        <p:spPr>
          <a:xfrm xmlns:a="http://schemas.openxmlformats.org/drawingml/2006/main">
            <a:off x="838200" y="4724400"/>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142F4C"/>
                </a:solidFill>
              </a:defRPr>
            </a:pPr>
            <a:r>
              <a:rPr sz="1125" b="1">
                <a:solidFill>
                  <a:srgbClr val="142F4C"/>
                </a:solidFill>
              </a:rPr>
              <a:t>The process owner must define the risk points requiring verification — customer or beneficiary enrolment, employee onboarding, supplier…</a:t>
            </a:r>
          </a:p>
        </p:txBody>
      </p:sp>
      <p:sp>
        <p:nvSpPr>
          <p:cNvPr id="29" name="">
            <a:extLst xmlns:a="http://schemas.openxmlformats.org/drawingml/2006/main">
              <a:ext uri="{FF2B5EF4-FFF2-40B4-BE49-F238E27FC236}">
                <a16:creationId xmlns:a16="http://schemas.microsoft.com/office/drawing/2014/main" id="{B694E88B-8DCB-4EA0-9E55-B41B22BE84EE}"/>
              </a:ext>
            </a:extLst>
          </p:cNvPr>
          <p:cNvSpPr>
            <a:spLocks xmlns:a="http://schemas.openxmlformats.org/drawingml/2006/main" noGrp="1"/>
          </p:cNvSpPr>
          <p:nvPr/>
        </p:nvSpPr>
        <p:spPr>
          <a:xfrm xmlns:a="http://schemas.openxmlformats.org/drawingml/2006/main">
            <a:off x="4286250" y="472440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1A2634"/>
                </a:solidFill>
              </a:defRPr>
            </a:pPr>
            <a:r>
              <a:rPr sz="1200">
                <a:solidFill>
                  <a:srgbClr val="1A2634"/>
                </a:solidFill>
              </a:rPr>
              <a:t>COO / CFO</a:t>
            </a:r>
          </a:p>
        </p:txBody>
      </p:sp>
      <p:sp>
        <p:nvSpPr>
          <p:cNvPr id="30" name="">
            <a:extLst xmlns:a="http://schemas.openxmlformats.org/drawingml/2006/main">
              <a:ext uri="{FF2B5EF4-FFF2-40B4-BE49-F238E27FC236}">
                <a16:creationId xmlns:a16="http://schemas.microsoft.com/office/drawing/2014/main" id="{84788481-54B7-4F68-939D-2F74A60C61C6}"/>
              </a:ext>
            </a:extLst>
          </p:cNvPr>
          <p:cNvSpPr>
            <a:spLocks xmlns:a="http://schemas.openxmlformats.org/drawingml/2006/main" noGrp="1"/>
          </p:cNvSpPr>
          <p:nvPr/>
        </p:nvSpPr>
        <p:spPr>
          <a:xfrm xmlns:a="http://schemas.openxmlformats.org/drawingml/2006/main">
            <a:off x="6334125" y="4724400"/>
            <a:ext cx="95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C9A227"/>
                </a:solidFill>
              </a:defRPr>
            </a:pPr>
            <a:r>
              <a:rPr sz="1200" b="1">
                <a:solidFill>
                  <a:srgbClr val="C9A227"/>
                </a:solidFill>
              </a:rPr>
              <a:t>60 days</a:t>
            </a:r>
          </a:p>
        </p:txBody>
      </p:sp>
      <p:sp>
        <p:nvSpPr>
          <p:cNvPr id="31" name="">
            <a:extLst xmlns:a="http://schemas.openxmlformats.org/drawingml/2006/main">
              <a:ext uri="{FF2B5EF4-FFF2-40B4-BE49-F238E27FC236}">
                <a16:creationId xmlns:a16="http://schemas.microsoft.com/office/drawing/2014/main" id="{0CC5AFB3-494B-454C-8EDF-0A75F6C58897}"/>
              </a:ext>
            </a:extLst>
          </p:cNvPr>
          <p:cNvSpPr>
            <a:spLocks xmlns:a="http://schemas.openxmlformats.org/drawingml/2006/main" noGrp="1"/>
          </p:cNvSpPr>
          <p:nvPr/>
        </p:nvSpPr>
        <p:spPr>
          <a:xfrm xmlns:a="http://schemas.openxmlformats.org/drawingml/2006/main">
            <a:off x="7524750" y="47244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5A6B7C"/>
                </a:solidFill>
              </a:defRPr>
            </a:pPr>
            <a:r>
              <a:rPr sz="1125">
                <a:solidFill>
                  <a:srgbClr val="5A6B7C"/>
                </a:solidFill>
              </a:rPr>
              <a:t>100% of in-scope enrolments and activations carry completed verification before activation, with all exceptions approved.</a:t>
            </a:r>
          </a:p>
        </p:txBody>
      </p:sp>
      <p:sp>
        <p:nvSpPr>
          <p:cNvPr id="32" name="">
            <a:extLst xmlns:a="http://schemas.openxmlformats.org/drawingml/2006/main">
              <a:ext uri="{FF2B5EF4-FFF2-40B4-BE49-F238E27FC236}">
                <a16:creationId xmlns:a16="http://schemas.microsoft.com/office/drawing/2014/main" id="{FF53C60B-CC9A-4BFB-A0AD-AC1F5EDCDCAD}"/>
              </a:ext>
            </a:extLst>
          </p:cNvPr>
          <p:cNvSpPr>
            <a:spLocks xmlns:a="http://schemas.openxmlformats.org/drawingml/2006/main" noGrp="1"/>
          </p:cNvSpPr>
          <p:nvPr/>
        </p:nvSpPr>
        <p:spPr>
          <a:xfrm xmlns:a="http://schemas.openxmlformats.org/drawingml/2006/main">
            <a:off x="4286250" y="16954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A6B7C"/>
                </a:solidFill>
              </a:defRPr>
            </a:pPr>
            <a:r>
              <a:rPr sz="1050" b="1">
                <a:solidFill>
                  <a:srgbClr val="5A6B7C"/>
                </a:solidFill>
              </a:rPr>
              <a:t>Owner</a:t>
            </a:r>
          </a:p>
        </p:txBody>
      </p:sp>
      <p:sp>
        <p:nvSpPr>
          <p:cNvPr id="33" name="">
            <a:extLst xmlns:a="http://schemas.openxmlformats.org/drawingml/2006/main">
              <a:ext uri="{FF2B5EF4-FFF2-40B4-BE49-F238E27FC236}">
                <a16:creationId xmlns:a16="http://schemas.microsoft.com/office/drawing/2014/main" id="{9BBD5993-CC83-40FB-B178-671010AE4EEA}"/>
              </a:ext>
            </a:extLst>
          </p:cNvPr>
          <p:cNvSpPr>
            <a:spLocks xmlns:a="http://schemas.openxmlformats.org/drawingml/2006/main" noGrp="1"/>
          </p:cNvSpPr>
          <p:nvPr/>
        </p:nvSpPr>
        <p:spPr>
          <a:xfrm xmlns:a="http://schemas.openxmlformats.org/drawingml/2006/main">
            <a:off x="6334125" y="1695450"/>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A6B7C"/>
                </a:solidFill>
              </a:defRPr>
            </a:pPr>
            <a:r>
              <a:rPr sz="1050" b="1">
                <a:solidFill>
                  <a:srgbClr val="5A6B7C"/>
                </a:solidFill>
              </a:rPr>
              <a:t>Timing</a:t>
            </a:r>
          </a:p>
        </p:txBody>
      </p:sp>
      <p:sp>
        <p:nvSpPr>
          <p:cNvPr id="34" name="">
            <a:extLst xmlns:a="http://schemas.openxmlformats.org/drawingml/2006/main">
              <a:ext uri="{FF2B5EF4-FFF2-40B4-BE49-F238E27FC236}">
                <a16:creationId xmlns:a16="http://schemas.microsoft.com/office/drawing/2014/main" id="{7649C361-D09A-429B-B20C-06BD7F9B6EFE}"/>
              </a:ext>
            </a:extLst>
          </p:cNvPr>
          <p:cNvSpPr>
            <a:spLocks xmlns:a="http://schemas.openxmlformats.org/drawingml/2006/main" noGrp="1"/>
          </p:cNvSpPr>
          <p:nvPr/>
        </p:nvSpPr>
        <p:spPr>
          <a:xfrm xmlns:a="http://schemas.openxmlformats.org/drawingml/2006/main">
            <a:off x="7524750" y="16954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A6B7C"/>
                </a:solidFill>
              </a:defRPr>
            </a:pPr>
            <a:r>
              <a:rPr sz="1050" b="1">
                <a:solidFill>
                  <a:srgbClr val="5A6B7C"/>
                </a:solidFill>
              </a:rPr>
              <a:t>Effectiveness measure</a:t>
            </a:r>
          </a:p>
        </p:txBody>
      </p:sp>
    </p:spTree>
    <p:extLst>
      <p:ext uri="{BB962C8B-B14F-4D97-AF65-F5344CB8AC3E}">
        <p14:creationId xmlns:p14="http://schemas.microsoft.com/office/powerpoint/2010/main" val="785619931"/>
      </p:ext>
    </p:extLst>
  </p:cSld>
</p:sld>
</file>

<file path=ppt/slides/slide10.xml><?xml version="1.0" encoding="utf-8"?>
<p:sld xmlns:p="http://schemas.openxmlformats.org/presentationml/2006/main">
  <p:cSld>
    <p:bg>
      <p:bgPr>
        <a:solidFill xmlns:a="http://schemas.openxmlformats.org/drawingml/2006/main">
          <a:srgbClr val="FBF9F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F8A6E73-C0E9-4DBD-A94E-C068972E8753}"/>
              </a:ext>
            </a:extLst>
          </p:cNvPr>
          <p:cNvSpPr>
            <a:spLocks xmlns:a="http://schemas.openxmlformats.org/drawingml/2006/main" noGrp="1"/>
          </p:cNvSpPr>
          <p:nvPr/>
        </p:nvSpPr>
        <p:spPr>
          <a:xfrm xmlns:a="http://schemas.openxmlformats.org/drawingml/2006/main">
            <a:off x="685800" y="4000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C9A227"/>
                </a:solidFill>
              </a:defRPr>
            </a:pPr>
            <a:r>
              <a:rPr sz="1050" b="1">
                <a:solidFill>
                  <a:srgbClr val="C9A227"/>
                </a:solidFill>
              </a:rPr>
              <a:t>COMPREHENSIVE REVIEW · 10</a:t>
            </a:r>
          </a:p>
        </p:txBody>
      </p:sp>
      <p:sp>
        <p:nvSpPr>
          <p:cNvPr id="2" name="">
            <a:extLst xmlns:a="http://schemas.openxmlformats.org/drawingml/2006/main">
              <a:ext uri="{FF2B5EF4-FFF2-40B4-BE49-F238E27FC236}">
                <a16:creationId xmlns:a16="http://schemas.microsoft.com/office/drawing/2014/main" id="{0BD6D83D-49B2-4C6B-ABA7-E4E9A99EF66D}"/>
              </a:ext>
            </a:extLst>
          </p:cNvPr>
          <p:cNvSpPr>
            <a:spLocks xmlns:a="http://schemas.openxmlformats.org/drawingml/2006/main" noGrp="1"/>
          </p:cNvSpPr>
          <p:nvPr/>
        </p:nvSpPr>
        <p:spPr>
          <a:xfrm xmlns:a="http://schemas.openxmlformats.org/drawingml/2006/main">
            <a:off x="685800" y="723900"/>
            <a:ext cx="1028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925" b="1">
                <a:solidFill>
                  <a:srgbClr val="142F4C"/>
                </a:solidFill>
              </a:defRPr>
            </a:pPr>
            <a:r>
              <a:rPr sz="2925" b="1">
                <a:solidFill>
                  <a:srgbClr val="142F4C"/>
                </a:solidFill>
              </a:rPr>
              <a:t>Next checkpoint: review evidence closure and overdue action ageing.</a:t>
            </a:r>
          </a:p>
        </p:txBody>
      </p:sp>
      <p:sp>
        <p:nvSpPr>
          <p:cNvPr id="3" name="">
            <a:extLst xmlns:a="http://schemas.openxmlformats.org/drawingml/2006/main">
              <a:ext uri="{FF2B5EF4-FFF2-40B4-BE49-F238E27FC236}">
                <a16:creationId xmlns:a16="http://schemas.microsoft.com/office/drawing/2014/main" id="{F5E10289-71EC-4998-8C56-0A4EC9AA1D01}"/>
              </a:ext>
            </a:extLst>
          </p:cNvPr>
          <p:cNvSpPr>
            <a:spLocks xmlns:a="http://schemas.openxmlformats.org/drawingml/2006/main" noGrp="1"/>
          </p:cNvSpPr>
          <p:nvPr/>
        </p:nvSpPr>
        <p:spPr>
          <a:xfrm xmlns:a="http://schemas.openxmlformats.org/drawingml/2006/main">
            <a:off x="685800" y="1562100"/>
            <a:ext cx="1000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5A6B7C"/>
                </a:solidFill>
              </a:defRPr>
            </a:pPr>
            <a:r>
              <a:rPr sz="1350">
                <a:solidFill>
                  <a:srgbClr val="5A6B7C"/>
                </a:solidFill>
              </a:rPr>
              <a:t>The deliverable is complete when the decision record and proof of operation are both maintained.</a:t>
            </a:r>
          </a:p>
        </p:txBody>
      </p:sp>
      <p:sp>
        <p:nvSpPr>
          <p:cNvPr id="4" name="">
            <a:extLst xmlns:a="http://schemas.openxmlformats.org/drawingml/2006/main">
              <a:ext uri="{FF2B5EF4-FFF2-40B4-BE49-F238E27FC236}">
                <a16:creationId xmlns:a16="http://schemas.microsoft.com/office/drawing/2014/main" id="{F13361CE-CBD6-4231-902B-ACF5224BBD06}"/>
              </a:ext>
            </a:extLst>
          </p:cNvPr>
          <p:cNvSpPr>
            <a:spLocks xmlns:a="http://schemas.openxmlformats.org/drawingml/2006/main" noGrp="1"/>
          </p:cNvSpPr>
          <p:nvPr/>
        </p:nvSpPr>
        <p:spPr>
          <a:xfrm xmlns:a="http://schemas.openxmlformats.org/drawingml/2006/main">
            <a:off x="685800" y="6324600"/>
            <a:ext cx="10820400" cy="0"/>
          </a:xfrm>
          <a:prstGeom xmlns:a="http://schemas.openxmlformats.org/drawingml/2006/main" prst="line">
            <a:avLst/>
          </a:prstGeom>
          <a:noFill xmlns:a="http://schemas.openxmlformats.org/drawingml/2006/main"/>
          <a:ln xmlns:a="http://schemas.openxmlformats.org/drawingml/2006/main" w="9525">
            <a:solidFill>
              <a:srgbClr val="D9E1E7"/>
            </a:solidFill>
            <a:prstDash val="solid"/>
          </a:ln>
        </p:spPr>
      </p:sp>
      <p:sp>
        <p:nvSpPr>
          <p:cNvPr id="5" name="">
            <a:extLst xmlns:a="http://schemas.openxmlformats.org/drawingml/2006/main">
              <a:ext uri="{FF2B5EF4-FFF2-40B4-BE49-F238E27FC236}">
                <a16:creationId xmlns:a16="http://schemas.microsoft.com/office/drawing/2014/main" id="{7064E9D2-D79C-4FF0-8A4D-34C1B9B72869}"/>
              </a:ext>
            </a:extLst>
          </p:cNvPr>
          <p:cNvSpPr>
            <a:spLocks xmlns:a="http://schemas.openxmlformats.org/drawingml/2006/main" noGrp="1"/>
          </p:cNvSpPr>
          <p:nvPr/>
        </p:nvSpPr>
        <p:spPr>
          <a:xfrm xmlns:a="http://schemas.openxmlformats.org/drawingml/2006/main">
            <a:off x="685800" y="64389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5A6B7C"/>
                </a:solidFill>
              </a:defRPr>
            </a:pPr>
            <a:r>
              <a:rPr sz="975">
                <a:solidFill>
                  <a:srgbClr val="5A6B7C"/>
                </a:solidFill>
              </a:rPr>
              <a:t>MK Fraud Readiness · Comprehensive</a:t>
            </a:r>
          </a:p>
        </p:txBody>
      </p:sp>
      <p:sp>
        <p:nvSpPr>
          <p:cNvPr id="6" name="">
            <a:extLst xmlns:a="http://schemas.openxmlformats.org/drawingml/2006/main">
              <a:ext uri="{FF2B5EF4-FFF2-40B4-BE49-F238E27FC236}">
                <a16:creationId xmlns:a16="http://schemas.microsoft.com/office/drawing/2014/main" id="{8DAEDC54-5B20-4B2E-B3E3-CD3D6EA6B68D}"/>
              </a:ext>
            </a:extLst>
          </p:cNvPr>
          <p:cNvSpPr>
            <a:spLocks xmlns:a="http://schemas.openxmlformats.org/drawingml/2006/main" noGrp="1"/>
          </p:cNvSpPr>
          <p:nvPr/>
        </p:nvSpPr>
        <p:spPr>
          <a:xfrm xmlns:a="http://schemas.openxmlformats.org/drawingml/2006/main">
            <a:off x="10810875" y="643890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a:solidFill>
                  <a:srgbClr val="5A6B7C"/>
                </a:solidFill>
              </a:defRPr>
            </a:pPr>
            <a:r>
              <a:rPr sz="975">
                <a:solidFill>
                  <a:srgbClr val="5A6B7C"/>
                </a:solidFill>
              </a:rPr>
              <a:t>10 / 10</a:t>
            </a:r>
          </a:p>
        </p:txBody>
      </p:sp>
      <p:sp>
        <p:nvSpPr>
          <p:cNvPr id="7" name="">
            <a:extLst xmlns:a="http://schemas.openxmlformats.org/drawingml/2006/main">
              <a:ext uri="{FF2B5EF4-FFF2-40B4-BE49-F238E27FC236}">
                <a16:creationId xmlns:a16="http://schemas.microsoft.com/office/drawing/2014/main" id="{DC5BEF8F-0E7C-444F-B97C-AB0D8CB085D3}"/>
              </a:ext>
            </a:extLst>
          </p:cNvPr>
          <p:cNvSpPr>
            <a:spLocks xmlns:a="http://schemas.openxmlformats.org/drawingml/2006/main" noGrp="1"/>
          </p:cNvSpPr>
          <p:nvPr/>
        </p:nvSpPr>
        <p:spPr>
          <a:xfrm xmlns:a="http://schemas.openxmlformats.org/drawingml/2006/main">
            <a:off x="838200" y="2171700"/>
            <a:ext cx="9048750" cy="2095500"/>
          </a:xfrm>
          <a:prstGeom xmlns:a="http://schemas.openxmlformats.org/drawingml/2006/main" prst="roundRect">
            <a:avLst>
              <a:gd name="adj" fmla="val 5455"/>
            </a:avLst>
          </a:prstGeom>
          <a:solidFill xmlns:a="http://schemas.openxmlformats.org/drawingml/2006/main">
            <a:srgbClr val="142F4C"/>
          </a:solidFill>
          <a:ln xmlns:a="http://schemas.openxmlformats.org/drawingml/2006/main" w="0">
            <a:solidFill>
              <a:srgbClr val="142F4C"/>
            </a:solidFill>
            <a:prstDash val="solid"/>
          </a:ln>
        </p:spPr>
      </p:sp>
      <p:sp>
        <p:nvSpPr>
          <p:cNvPr id="8" name="">
            <a:extLst xmlns:a="http://schemas.openxmlformats.org/drawingml/2006/main">
              <a:ext uri="{FF2B5EF4-FFF2-40B4-BE49-F238E27FC236}">
                <a16:creationId xmlns:a16="http://schemas.microsoft.com/office/drawing/2014/main" id="{79638C9D-23AF-473D-A574-2616D3513E83}"/>
              </a:ext>
            </a:extLst>
          </p:cNvPr>
          <p:cNvSpPr>
            <a:spLocks xmlns:a="http://schemas.openxmlformats.org/drawingml/2006/main" noGrp="1"/>
          </p:cNvSpPr>
          <p:nvPr/>
        </p:nvSpPr>
        <p:spPr>
          <a:xfrm xmlns:a="http://schemas.openxmlformats.org/drawingml/2006/main">
            <a:off x="1162050" y="24765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a:solidFill>
                  <a:srgbClr val="C9A227"/>
                </a:solidFill>
              </a:defRPr>
            </a:pPr>
            <a:r>
              <a:rPr sz="1725" b="1">
                <a:solidFill>
                  <a:srgbClr val="C9A227"/>
                </a:solidFill>
              </a:rPr>
              <a:t>Bring four things to the next review</a:t>
            </a:r>
          </a:p>
        </p:txBody>
      </p:sp>
      <p:sp>
        <p:nvSpPr>
          <p:cNvPr id="9" name="">
            <a:extLst xmlns:a="http://schemas.openxmlformats.org/drawingml/2006/main">
              <a:ext uri="{FF2B5EF4-FFF2-40B4-BE49-F238E27FC236}">
                <a16:creationId xmlns:a16="http://schemas.microsoft.com/office/drawing/2014/main" id="{0C016F06-F883-4920-AEB4-04926E249E72}"/>
              </a:ext>
            </a:extLst>
          </p:cNvPr>
          <p:cNvSpPr>
            <a:spLocks xmlns:a="http://schemas.openxmlformats.org/drawingml/2006/main" noGrp="1"/>
          </p:cNvSpPr>
          <p:nvPr/>
        </p:nvSpPr>
        <p:spPr>
          <a:xfrm xmlns:a="http://schemas.openxmlformats.org/drawingml/2006/main">
            <a:off x="1181100" y="3048000"/>
            <a:ext cx="95250" cy="95250"/>
          </a:xfrm>
          <a:prstGeom xmlns:a="http://schemas.openxmlformats.org/drawingml/2006/main" prst="ellipse">
            <a:avLst/>
          </a:prstGeom>
          <a:solidFill xmlns:a="http://schemas.openxmlformats.org/drawingml/2006/main">
            <a:srgbClr val="C9A227"/>
          </a:solidFill>
          <a:ln xmlns:a="http://schemas.openxmlformats.org/drawingml/2006/main" w="0">
            <a:solidFill>
              <a:srgbClr val="C9A227"/>
            </a:solidFill>
            <a:prstDash val="solid"/>
          </a:ln>
        </p:spPr>
      </p:sp>
      <p:sp>
        <p:nvSpPr>
          <p:cNvPr id="10" name="">
            <a:extLst xmlns:a="http://schemas.openxmlformats.org/drawingml/2006/main">
              <a:ext uri="{FF2B5EF4-FFF2-40B4-BE49-F238E27FC236}">
                <a16:creationId xmlns:a16="http://schemas.microsoft.com/office/drawing/2014/main" id="{C87DE73A-2DD7-4119-AEF1-294A3BFC5360}"/>
              </a:ext>
            </a:extLst>
          </p:cNvPr>
          <p:cNvSpPr>
            <a:spLocks xmlns:a="http://schemas.openxmlformats.org/drawingml/2006/main" noGrp="1"/>
          </p:cNvSpPr>
          <p:nvPr/>
        </p:nvSpPr>
        <p:spPr>
          <a:xfrm xmlns:a="http://schemas.openxmlformats.org/drawingml/2006/main">
            <a:off x="1409700" y="2971800"/>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FFFFFF"/>
                </a:solidFill>
              </a:defRPr>
            </a:pPr>
            <a:r>
              <a:rPr sz="1350">
                <a:solidFill>
                  <a:srgbClr val="FFFFFF"/>
                </a:solidFill>
              </a:rPr>
              <a:t>Completed evidence items with a clear scope statement</a:t>
            </a:r>
          </a:p>
        </p:txBody>
      </p:sp>
      <p:sp>
        <p:nvSpPr>
          <p:cNvPr id="11" name="">
            <a:extLst xmlns:a="http://schemas.openxmlformats.org/drawingml/2006/main">
              <a:ext uri="{FF2B5EF4-FFF2-40B4-BE49-F238E27FC236}">
                <a16:creationId xmlns:a16="http://schemas.microsoft.com/office/drawing/2014/main" id="{7310EF19-37CD-471C-A96C-9FCAF268F50A}"/>
              </a:ext>
            </a:extLst>
          </p:cNvPr>
          <p:cNvSpPr>
            <a:spLocks xmlns:a="http://schemas.openxmlformats.org/drawingml/2006/main" noGrp="1"/>
          </p:cNvSpPr>
          <p:nvPr/>
        </p:nvSpPr>
        <p:spPr>
          <a:xfrm xmlns:a="http://schemas.openxmlformats.org/drawingml/2006/main">
            <a:off x="1181100" y="3409950"/>
            <a:ext cx="95250" cy="95250"/>
          </a:xfrm>
          <a:prstGeom xmlns:a="http://schemas.openxmlformats.org/drawingml/2006/main" prst="ellipse">
            <a:avLst/>
          </a:prstGeom>
          <a:solidFill xmlns:a="http://schemas.openxmlformats.org/drawingml/2006/main">
            <a:srgbClr val="C9A227"/>
          </a:solidFill>
          <a:ln xmlns:a="http://schemas.openxmlformats.org/drawingml/2006/main" w="0">
            <a:solidFill>
              <a:srgbClr val="C9A227"/>
            </a:solidFill>
            <a:prstDash val="solid"/>
          </a:ln>
        </p:spPr>
      </p:sp>
      <p:sp>
        <p:nvSpPr>
          <p:cNvPr id="12" name="">
            <a:extLst xmlns:a="http://schemas.openxmlformats.org/drawingml/2006/main">
              <a:ext uri="{FF2B5EF4-FFF2-40B4-BE49-F238E27FC236}">
                <a16:creationId xmlns:a16="http://schemas.microsoft.com/office/drawing/2014/main" id="{D52B5BAF-154B-4AC6-B5C3-7BE345A2E1E8}"/>
              </a:ext>
            </a:extLst>
          </p:cNvPr>
          <p:cNvSpPr>
            <a:spLocks xmlns:a="http://schemas.openxmlformats.org/drawingml/2006/main" noGrp="1"/>
          </p:cNvSpPr>
          <p:nvPr/>
        </p:nvSpPr>
        <p:spPr>
          <a:xfrm xmlns:a="http://schemas.openxmlformats.org/drawingml/2006/main">
            <a:off x="1409700" y="3333750"/>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FFFFFF"/>
                </a:solidFill>
              </a:defRPr>
            </a:pPr>
            <a:r>
              <a:rPr sz="1350">
                <a:solidFill>
                  <a:srgbClr val="FFFFFF"/>
                </a:solidFill>
              </a:rPr>
              <a:t>Open action ageing by accountable owner</a:t>
            </a:r>
          </a:p>
        </p:txBody>
      </p:sp>
      <p:sp>
        <p:nvSpPr>
          <p:cNvPr id="13" name="">
            <a:extLst xmlns:a="http://schemas.openxmlformats.org/drawingml/2006/main">
              <a:ext uri="{FF2B5EF4-FFF2-40B4-BE49-F238E27FC236}">
                <a16:creationId xmlns:a16="http://schemas.microsoft.com/office/drawing/2014/main" id="{25230969-9EC5-40D0-9513-47E4309E8B8F}"/>
              </a:ext>
            </a:extLst>
          </p:cNvPr>
          <p:cNvSpPr>
            <a:spLocks xmlns:a="http://schemas.openxmlformats.org/drawingml/2006/main" noGrp="1"/>
          </p:cNvSpPr>
          <p:nvPr/>
        </p:nvSpPr>
        <p:spPr>
          <a:xfrm xmlns:a="http://schemas.openxmlformats.org/drawingml/2006/main">
            <a:off x="1181100" y="3771900"/>
            <a:ext cx="95250" cy="95250"/>
          </a:xfrm>
          <a:prstGeom xmlns:a="http://schemas.openxmlformats.org/drawingml/2006/main" prst="ellipse">
            <a:avLst/>
          </a:prstGeom>
          <a:solidFill xmlns:a="http://schemas.openxmlformats.org/drawingml/2006/main">
            <a:srgbClr val="C9A227"/>
          </a:solidFill>
          <a:ln xmlns:a="http://schemas.openxmlformats.org/drawingml/2006/main" w="0">
            <a:solidFill>
              <a:srgbClr val="C9A227"/>
            </a:solidFill>
            <a:prstDash val="solid"/>
          </a:ln>
        </p:spPr>
      </p:sp>
      <p:sp>
        <p:nvSpPr>
          <p:cNvPr id="14" name="">
            <a:extLst xmlns:a="http://schemas.openxmlformats.org/drawingml/2006/main">
              <a:ext uri="{FF2B5EF4-FFF2-40B4-BE49-F238E27FC236}">
                <a16:creationId xmlns:a16="http://schemas.microsoft.com/office/drawing/2014/main" id="{270ECBAB-ECAA-4F2A-914B-96E700939DF0}"/>
              </a:ext>
            </a:extLst>
          </p:cNvPr>
          <p:cNvSpPr>
            <a:spLocks xmlns:a="http://schemas.openxmlformats.org/drawingml/2006/main" noGrp="1"/>
          </p:cNvSpPr>
          <p:nvPr/>
        </p:nvSpPr>
        <p:spPr>
          <a:xfrm xmlns:a="http://schemas.openxmlformats.org/drawingml/2006/main">
            <a:off x="1409700" y="3695700"/>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FFFFFF"/>
                </a:solidFill>
              </a:defRPr>
            </a:pPr>
            <a:r>
              <a:rPr sz="1350">
                <a:solidFill>
                  <a:srgbClr val="FFFFFF"/>
                </a:solidFill>
              </a:rPr>
              <a:t>Effectiveness measures for the highest-priority controls</a:t>
            </a:r>
          </a:p>
        </p:txBody>
      </p:sp>
      <p:sp>
        <p:nvSpPr>
          <p:cNvPr id="15" name="">
            <a:extLst xmlns:a="http://schemas.openxmlformats.org/drawingml/2006/main">
              <a:ext uri="{FF2B5EF4-FFF2-40B4-BE49-F238E27FC236}">
                <a16:creationId xmlns:a16="http://schemas.microsoft.com/office/drawing/2014/main" id="{515202FB-2B5D-41CC-ADE8-B8C43BEFB7C8}"/>
              </a:ext>
            </a:extLst>
          </p:cNvPr>
          <p:cNvSpPr>
            <a:spLocks xmlns:a="http://schemas.openxmlformats.org/drawingml/2006/main" noGrp="1"/>
          </p:cNvSpPr>
          <p:nvPr/>
        </p:nvSpPr>
        <p:spPr>
          <a:xfrm xmlns:a="http://schemas.openxmlformats.org/drawingml/2006/main">
            <a:off x="1181100" y="4133850"/>
            <a:ext cx="95250" cy="95250"/>
          </a:xfrm>
          <a:prstGeom xmlns:a="http://schemas.openxmlformats.org/drawingml/2006/main" prst="ellipse">
            <a:avLst/>
          </a:prstGeom>
          <a:solidFill xmlns:a="http://schemas.openxmlformats.org/drawingml/2006/main">
            <a:srgbClr val="C9A227"/>
          </a:solidFill>
          <a:ln xmlns:a="http://schemas.openxmlformats.org/drawingml/2006/main" w="0">
            <a:solidFill>
              <a:srgbClr val="C9A227"/>
            </a:solidFill>
            <a:prstDash val="solid"/>
          </a:ln>
        </p:spPr>
      </p:sp>
      <p:sp>
        <p:nvSpPr>
          <p:cNvPr id="16" name="">
            <a:extLst xmlns:a="http://schemas.openxmlformats.org/drawingml/2006/main">
              <a:ext uri="{FF2B5EF4-FFF2-40B4-BE49-F238E27FC236}">
                <a16:creationId xmlns:a16="http://schemas.microsoft.com/office/drawing/2014/main" id="{A18F11AB-6606-4700-ADAA-9E3B9FE68501}"/>
              </a:ext>
            </a:extLst>
          </p:cNvPr>
          <p:cNvSpPr>
            <a:spLocks xmlns:a="http://schemas.openxmlformats.org/drawingml/2006/main" noGrp="1"/>
          </p:cNvSpPr>
          <p:nvPr/>
        </p:nvSpPr>
        <p:spPr>
          <a:xfrm xmlns:a="http://schemas.openxmlformats.org/drawingml/2006/main">
            <a:off x="1409700" y="4057650"/>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FFFFFF"/>
                </a:solidFill>
              </a:defRPr>
            </a:pPr>
            <a:r>
              <a:rPr sz="1350">
                <a:solidFill>
                  <a:srgbClr val="FFFFFF"/>
                </a:solidFill>
              </a:rPr>
              <a:t>Explicit residual-risk and escalation decisions</a:t>
            </a:r>
          </a:p>
        </p:txBody>
      </p:sp>
      <p:sp>
        <p:nvSpPr>
          <p:cNvPr id="17" name="">
            <a:extLst xmlns:a="http://schemas.openxmlformats.org/drawingml/2006/main">
              <a:ext uri="{FF2B5EF4-FFF2-40B4-BE49-F238E27FC236}">
                <a16:creationId xmlns:a16="http://schemas.microsoft.com/office/drawing/2014/main" id="{5E24D12A-99FA-43A8-A5F5-439265521840}"/>
              </a:ext>
            </a:extLst>
          </p:cNvPr>
          <p:cNvSpPr>
            <a:spLocks xmlns:a="http://schemas.openxmlformats.org/drawingml/2006/main" noGrp="1"/>
          </p:cNvSpPr>
          <p:nvPr/>
        </p:nvSpPr>
        <p:spPr>
          <a:xfrm xmlns:a="http://schemas.openxmlformats.org/drawingml/2006/main">
            <a:off x="838200" y="4810125"/>
            <a:ext cx="904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42F4C"/>
                </a:solidFill>
              </a:defRPr>
            </a:pPr>
            <a:r>
              <a:rPr sz="1800" b="1">
                <a:solidFill>
                  <a:srgbClr val="142F4C"/>
                </a:solidFill>
              </a:rPr>
              <a:t>The board should see the decision, the owner, the date and the proof - not a longer register.</a:t>
            </a:r>
          </a:p>
        </p:txBody>
      </p:sp>
    </p:spTree>
    <p:extLst>
      <p:ext uri="{BB962C8B-B14F-4D97-AF65-F5344CB8AC3E}">
        <p14:creationId xmlns:p14="http://schemas.microsoft.com/office/powerpoint/2010/main" val="21127812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2026-08-12T14:51:47.8620000Z</dcterms:created>
  <dcterms:modified xsi:type="dcterms:W3CDTF">2026-08-12T14:51:47.8620000Z</dcterms:modified>
</coreProperties>
</file>